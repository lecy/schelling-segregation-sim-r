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 id="2147483672" r:id="rId3"/>
    <p:sldMasterId id="2147483684" r:id="rId4"/>
  </p:sldMasterIdLst>
  <p:notesMasterIdLst>
    <p:notesMasterId r:id="rId65"/>
  </p:notesMasterIdLst>
  <p:sldIdLst>
    <p:sldId id="256" r:id="rId5"/>
    <p:sldId id="768" r:id="rId6"/>
    <p:sldId id="773" r:id="rId7"/>
    <p:sldId id="756" r:id="rId8"/>
    <p:sldId id="782" r:id="rId9"/>
    <p:sldId id="755" r:id="rId10"/>
    <p:sldId id="735" r:id="rId11"/>
    <p:sldId id="778" r:id="rId12"/>
    <p:sldId id="781" r:id="rId13"/>
    <p:sldId id="784" r:id="rId14"/>
    <p:sldId id="783" r:id="rId15"/>
    <p:sldId id="743" r:id="rId16"/>
    <p:sldId id="750" r:id="rId17"/>
    <p:sldId id="779" r:id="rId18"/>
    <p:sldId id="747" r:id="rId19"/>
    <p:sldId id="758" r:id="rId20"/>
    <p:sldId id="721" r:id="rId21"/>
    <p:sldId id="742" r:id="rId22"/>
    <p:sldId id="749" r:id="rId23"/>
    <p:sldId id="787" r:id="rId24"/>
    <p:sldId id="761" r:id="rId25"/>
    <p:sldId id="766" r:id="rId26"/>
    <p:sldId id="767" r:id="rId27"/>
    <p:sldId id="765" r:id="rId28"/>
    <p:sldId id="764" r:id="rId29"/>
    <p:sldId id="760" r:id="rId30"/>
    <p:sldId id="786" r:id="rId31"/>
    <p:sldId id="780" r:id="rId32"/>
    <p:sldId id="785" r:id="rId33"/>
    <p:sldId id="757" r:id="rId34"/>
    <p:sldId id="769" r:id="rId35"/>
    <p:sldId id="770" r:id="rId36"/>
    <p:sldId id="771" r:id="rId37"/>
    <p:sldId id="772" r:id="rId38"/>
    <p:sldId id="744" r:id="rId39"/>
    <p:sldId id="746" r:id="rId40"/>
    <p:sldId id="748" r:id="rId41"/>
    <p:sldId id="774" r:id="rId42"/>
    <p:sldId id="762" r:id="rId43"/>
    <p:sldId id="775" r:id="rId44"/>
    <p:sldId id="776" r:id="rId45"/>
    <p:sldId id="759" r:id="rId46"/>
    <p:sldId id="738" r:id="rId47"/>
    <p:sldId id="741" r:id="rId48"/>
    <p:sldId id="751" r:id="rId49"/>
    <p:sldId id="631" r:id="rId50"/>
    <p:sldId id="653" r:id="rId51"/>
    <p:sldId id="654" r:id="rId52"/>
    <p:sldId id="629" r:id="rId53"/>
    <p:sldId id="630" r:id="rId54"/>
    <p:sldId id="696" r:id="rId55"/>
    <p:sldId id="695" r:id="rId56"/>
    <p:sldId id="281" r:id="rId57"/>
    <p:sldId id="713" r:id="rId58"/>
    <p:sldId id="258" r:id="rId59"/>
    <p:sldId id="261" r:id="rId60"/>
    <p:sldId id="259" r:id="rId61"/>
    <p:sldId id="715" r:id="rId62"/>
    <p:sldId id="262" r:id="rId63"/>
    <p:sldId id="263"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5B6"/>
    <a:srgbClr val="3F8EDA"/>
    <a:srgbClr val="F56928"/>
    <a:srgbClr val="C55A11"/>
    <a:srgbClr val="95BC28"/>
    <a:srgbClr val="F1A4A4"/>
    <a:srgbClr val="F9A1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CA87F-30DF-4F60-9449-B466C5436507}"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BDFA4-36FD-4EDD-B188-03A33A81DF78}" type="slidenum">
              <a:rPr lang="en-US" smtClean="0"/>
              <a:t>‹#›</a:t>
            </a:fld>
            <a:endParaRPr lang="en-US"/>
          </a:p>
        </p:txBody>
      </p:sp>
    </p:spTree>
    <p:extLst>
      <p:ext uri="{BB962C8B-B14F-4D97-AF65-F5344CB8AC3E}">
        <p14:creationId xmlns:p14="http://schemas.microsoft.com/office/powerpoint/2010/main" val="3223561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B06EB-9DFE-8050-37E4-B3826D4B98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9F8113-ADD3-7008-8E4C-C18A4D6FCF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47A1AB-A733-8CE7-760F-10C03E155A65}"/>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FB33EF5D-3121-DA90-C99A-E0A249FBC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57F4E-906D-E22A-317B-CCC3CC197FD1}"/>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741774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09D0-9869-EA98-29FC-7C92C3C792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B98AE5-76AD-4E60-2617-AF895F15B5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E809A-A6BB-6199-E53F-46739003C421}"/>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FF614B25-A41D-3F7D-C816-73BBA505C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F9BA34-FCBB-AACE-D497-1520D4F1CDB1}"/>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112894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448FF-5756-4350-646D-B95D6B3F3B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60D7F9-4CD4-CAF7-9E10-1ACE2E3D90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745CA0-951F-ECDA-7B92-6AD7FEA955A9}"/>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93DB1851-4334-232B-94F1-533B2E0A6D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3BA4A2-8C89-90CA-8F59-6899CC0034CC}"/>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3725020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55CC-6BC2-4554-464B-DA931E07FB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AFC19E-A98F-D7B0-6ACD-291E06F677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5B411-4F50-1B08-E17A-E85A699D33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59A163-7258-288F-BDF3-7613AC861939}"/>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6" name="Footer Placeholder 5">
            <a:extLst>
              <a:ext uri="{FF2B5EF4-FFF2-40B4-BE49-F238E27FC236}">
                <a16:creationId xmlns:a16="http://schemas.microsoft.com/office/drawing/2014/main" id="{36AF4111-8E88-3625-463F-5CF25AD5AD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F41DC-85FB-99DD-386A-FB589F4D23BC}"/>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1492114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19D91-E286-A138-7E36-54A334DFE4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23E3F-6612-583A-951E-76AEDCCF3E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F1C30F-BB90-7BD5-C3CD-5C8AB8341C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4E7E77-AD15-5E76-AD78-EF7C11504C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A1482F-9FD5-D5B9-5B81-B2451B832F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9D1EBB-5F76-70D4-5A5A-52C584081633}"/>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8" name="Footer Placeholder 7">
            <a:extLst>
              <a:ext uri="{FF2B5EF4-FFF2-40B4-BE49-F238E27FC236}">
                <a16:creationId xmlns:a16="http://schemas.microsoft.com/office/drawing/2014/main" id="{5DEC741B-D370-518D-7D24-9690DC4E82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6504D9-742A-AA9E-7CFB-0EC1FE2D88F1}"/>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419118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D71BF-5283-B634-B776-C050A252BE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8B1CA2-D1D2-2F07-01E4-78CEB5EDD2BE}"/>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4" name="Footer Placeholder 3">
            <a:extLst>
              <a:ext uri="{FF2B5EF4-FFF2-40B4-BE49-F238E27FC236}">
                <a16:creationId xmlns:a16="http://schemas.microsoft.com/office/drawing/2014/main" id="{BB45F402-41D5-0F99-F9A0-82912E684F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4ED776-F49D-467B-856E-7817993CAB8F}"/>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3324138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72665-EB6C-C374-ACDE-8A77282E5C25}"/>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3" name="Footer Placeholder 2">
            <a:extLst>
              <a:ext uri="{FF2B5EF4-FFF2-40B4-BE49-F238E27FC236}">
                <a16:creationId xmlns:a16="http://schemas.microsoft.com/office/drawing/2014/main" id="{C6A2645A-54E7-2E51-EAF3-4F14CCA56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1D882D-9012-0051-5A77-E5B50EFD6631}"/>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3214826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56C0-5463-C231-F068-29C4617F91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F3B6DD-FCC9-0122-EF59-76086C4027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DA7FCC-1FAB-A73C-83DC-93AD58EED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739C13-B69A-6BBF-5738-E9E98CC861CF}"/>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6" name="Footer Placeholder 5">
            <a:extLst>
              <a:ext uri="{FF2B5EF4-FFF2-40B4-BE49-F238E27FC236}">
                <a16:creationId xmlns:a16="http://schemas.microsoft.com/office/drawing/2014/main" id="{40E1A02C-B828-E04C-6074-54F932A08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2B82D4-0C8A-6CC8-7006-C602C19766AE}"/>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2451285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21568-0C65-EFD9-FFAA-6B2B817FF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258E37-B33A-5BC3-1A10-9FCCF1904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DCFF12-BB8A-3EF9-CDC5-497FB8D994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743743-EE27-BB50-4993-F3202E3B7044}"/>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6" name="Footer Placeholder 5">
            <a:extLst>
              <a:ext uri="{FF2B5EF4-FFF2-40B4-BE49-F238E27FC236}">
                <a16:creationId xmlns:a16="http://schemas.microsoft.com/office/drawing/2014/main" id="{000DC3D6-5718-51E0-48D4-B7D423B97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380095-7DF0-7878-E521-29F1F8908AA3}"/>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1945116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3477-7392-0355-4A6B-69D9BF521D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E700BC-8AFF-FF88-CAE0-4F145E5A31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2F438-340C-AA11-C258-7F9CBDAE64DF}"/>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229055E5-DC71-2A55-8A81-5C012D1B2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75E45-2A93-EB2B-2BAA-1B5D3F6F1337}"/>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1598709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D90F66-3354-47B7-05D6-9157ACBB91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4DE209-24AB-B9C1-1B88-45486CA992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951305-501A-FD98-3803-5A6F04F0CF8F}"/>
              </a:ext>
            </a:extLst>
          </p:cNvPr>
          <p:cNvSpPr>
            <a:spLocks noGrp="1"/>
          </p:cNvSpPr>
          <p:nvPr>
            <p:ph type="dt" sz="half" idx="10"/>
          </p:nvPr>
        </p:nvSpPr>
        <p:spPr/>
        <p:txBody>
          <a:body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A8C63A77-ED7A-6A43-7F20-97816D910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452FB-747E-46F5-02C1-4CE0C9017FD5}"/>
              </a:ext>
            </a:extLst>
          </p:cNvPr>
          <p:cNvSpPr>
            <a:spLocks noGrp="1"/>
          </p:cNvSpPr>
          <p:nvPr>
            <p:ph type="sldNum" sz="quarter" idx="12"/>
          </p:nvPr>
        </p:nvSpPr>
        <p:spPr/>
        <p:txBody>
          <a:bodyPr/>
          <a:lstStyle/>
          <a:p>
            <a:fld id="{12AF6F2A-E9EF-4FD9-A18F-088C3A061086}" type="slidenum">
              <a:rPr lang="en-US" smtClean="0"/>
              <a:t>‹#›</a:t>
            </a:fld>
            <a:endParaRPr lang="en-US"/>
          </a:p>
        </p:txBody>
      </p:sp>
    </p:spTree>
    <p:extLst>
      <p:ext uri="{BB962C8B-B14F-4D97-AF65-F5344CB8AC3E}">
        <p14:creationId xmlns:p14="http://schemas.microsoft.com/office/powerpoint/2010/main" val="2696418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2CE10AE-8CB6-47C4-BDEC-4CCFED75967F}"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28167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all" baseline="0">
                <a:latin typeface="Oswald"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Source Code Pro" panose="020B0509030403020204" pitchFamily="49" charset="0"/>
                <a:ea typeface="Source Code Pro" panose="020B0509030403020204" pitchFamily="49" charset="0"/>
              </a:defRPr>
            </a:lvl1pPr>
            <a:lvl2pPr>
              <a:defRPr>
                <a:latin typeface="Source Code Pro" panose="020B0509030403020204" pitchFamily="49" charset="0"/>
                <a:ea typeface="Source Code Pro" panose="020B0509030403020204" pitchFamily="49" charset="0"/>
              </a:defRPr>
            </a:lvl2pPr>
            <a:lvl3pPr>
              <a:defRPr>
                <a:latin typeface="Source Code Pro" panose="020B0509030403020204" pitchFamily="49" charset="0"/>
                <a:ea typeface="Source Code Pro" panose="020B0509030403020204" pitchFamily="49" charset="0"/>
              </a:defRPr>
            </a:lvl3pPr>
            <a:lvl4pPr>
              <a:defRPr>
                <a:latin typeface="Source Code Pro" panose="020B0509030403020204" pitchFamily="49" charset="0"/>
                <a:ea typeface="Source Code Pro" panose="020B0509030403020204" pitchFamily="49" charset="0"/>
              </a:defRPr>
            </a:lvl4pPr>
            <a:lvl5pPr>
              <a:defRPr>
                <a:latin typeface="Source Code Pro" panose="020B0509030403020204" pitchFamily="49" charset="0"/>
                <a:ea typeface="Source Code Pro" panose="020B0509030403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B08B5E-2BB5-40AB-A030-BDDD1A63A277}"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484959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3B300C-0E30-4EBB-ACE8-F96A0EF92CBE}"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3155982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3E909B-E1FB-4F1C-9E52-13371E3C8B27}"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1689976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59C163-D527-4D1F-9ED5-0EA47FBF28E6}" type="datetime1">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2936227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0182BB-D540-4A7D-9565-BD291A36C265}" type="datetime1">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1152200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FC56A6-EF8F-4CB7-8F7D-C742917CB685}" type="datetime1">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3303227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B556D1-2744-4E45-B6BC-004913D3ACC2}"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501697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4155B-9FED-41A1-BB47-C07DDBB774FE}"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2706573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794462-2AC6-49DC-A4A0-4A3B302ED9B6}"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26517833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9A0446-4CE4-4C33-BD98-DC5EC49543E4}"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63908-5577-44A4-91B0-79992FE49834}" type="slidenum">
              <a:rPr lang="en-US" smtClean="0"/>
              <a:t>‹#›</a:t>
            </a:fld>
            <a:endParaRPr lang="en-US"/>
          </a:p>
        </p:txBody>
      </p:sp>
    </p:spTree>
    <p:extLst>
      <p:ext uri="{BB962C8B-B14F-4D97-AF65-F5344CB8AC3E}">
        <p14:creationId xmlns:p14="http://schemas.microsoft.com/office/powerpoint/2010/main" val="33474167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E65EC5-4319-4714-8F25-EBD3D6806965}"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8607576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176882-2959-40AF-B34D-52FFFF8DDD88}"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0654663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B82C6DA-22BE-47F7-BB33-DFAAF6CC7075}"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6061992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A2ABA0-C9CA-4945-B401-F85B4DDF4D9C}"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4739440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DC9A07-61AF-4E6B-B9DA-FBF28A322BB3}" type="datetime1">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206210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291004-C814-46BC-9189-316550590816}" type="datetime1">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42392986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D3DE9-2097-4E59-89E0-5C2D3BCF4FBB}" type="datetime1">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5313338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0B109A3-9C51-40BA-B43C-3F03D5EA04DA}"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2102770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FDEC69-CF22-4747-A814-790C5F26BB5A}" type="datetime1">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569935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53FCB-E8A2-4CC9-A26A-5075D2B0A7F4}"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5631323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05B70F-F894-4371-A9CF-45063B37A819}" type="datetime1">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6968885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3A27-5C81-4AB5-8399-5D486527A7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6F6EC4-1724-4F3A-A005-A37D09179D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2544C3-6EA1-491D-A3E1-C71B805F3C0B}"/>
              </a:ext>
            </a:extLst>
          </p:cNvPr>
          <p:cNvSpPr>
            <a:spLocks noGrp="1"/>
          </p:cNvSpPr>
          <p:nvPr>
            <p:ph type="dt" sz="half" idx="10"/>
          </p:nvPr>
        </p:nvSpPr>
        <p:spPr/>
        <p:txBody>
          <a:bodyPr/>
          <a:lstStyle/>
          <a:p>
            <a:fld id="{2C184D62-E87B-4E78-8D51-A71AAF7EFE70}" type="datetime1">
              <a:rPr lang="en-US" smtClean="0"/>
              <a:t>11/13/2025</a:t>
            </a:fld>
            <a:endParaRPr lang="en-US"/>
          </a:p>
        </p:txBody>
      </p:sp>
      <p:sp>
        <p:nvSpPr>
          <p:cNvPr id="5" name="Footer Placeholder 4">
            <a:extLst>
              <a:ext uri="{FF2B5EF4-FFF2-40B4-BE49-F238E27FC236}">
                <a16:creationId xmlns:a16="http://schemas.microsoft.com/office/drawing/2014/main" id="{A58F7350-6062-4FEE-93F7-39DBFDB25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1B2C2-F002-4F83-83D9-5DC9415D609A}"/>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7827531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50DE-4667-482C-A2D3-A38F59FCE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52D1C-6889-452E-A492-EBD17E108E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89D5C-3CC8-4194-99E8-46D8E84587A4}"/>
              </a:ext>
            </a:extLst>
          </p:cNvPr>
          <p:cNvSpPr>
            <a:spLocks noGrp="1"/>
          </p:cNvSpPr>
          <p:nvPr>
            <p:ph type="dt" sz="half" idx="10"/>
          </p:nvPr>
        </p:nvSpPr>
        <p:spPr/>
        <p:txBody>
          <a:bodyPr/>
          <a:lstStyle/>
          <a:p>
            <a:fld id="{C656BC0E-6968-47DA-9DB9-D508F49A0C0D}" type="datetime1">
              <a:rPr lang="en-US" smtClean="0"/>
              <a:t>11/13/2025</a:t>
            </a:fld>
            <a:endParaRPr lang="en-US"/>
          </a:p>
        </p:txBody>
      </p:sp>
      <p:sp>
        <p:nvSpPr>
          <p:cNvPr id="5" name="Footer Placeholder 4">
            <a:extLst>
              <a:ext uri="{FF2B5EF4-FFF2-40B4-BE49-F238E27FC236}">
                <a16:creationId xmlns:a16="http://schemas.microsoft.com/office/drawing/2014/main" id="{8ECA486D-A456-4A19-8567-6ED738113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8F71D-8FCE-4C36-90E4-F6588BE53760}"/>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42327548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B1D4-BD2E-4B4C-8416-A6F619366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6C0E8B-DB9C-4E7A-AA09-A1CC62E71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CB7F07-40F2-454C-8F19-1FD05CDB26B5}"/>
              </a:ext>
            </a:extLst>
          </p:cNvPr>
          <p:cNvSpPr>
            <a:spLocks noGrp="1"/>
          </p:cNvSpPr>
          <p:nvPr>
            <p:ph type="dt" sz="half" idx="10"/>
          </p:nvPr>
        </p:nvSpPr>
        <p:spPr/>
        <p:txBody>
          <a:bodyPr/>
          <a:lstStyle/>
          <a:p>
            <a:fld id="{2588A9C0-7A89-4285-8B2D-1E4FA1910F1E}" type="datetime1">
              <a:rPr lang="en-US" smtClean="0"/>
              <a:t>11/13/2025</a:t>
            </a:fld>
            <a:endParaRPr lang="en-US"/>
          </a:p>
        </p:txBody>
      </p:sp>
      <p:sp>
        <p:nvSpPr>
          <p:cNvPr id="5" name="Footer Placeholder 4">
            <a:extLst>
              <a:ext uri="{FF2B5EF4-FFF2-40B4-BE49-F238E27FC236}">
                <a16:creationId xmlns:a16="http://schemas.microsoft.com/office/drawing/2014/main" id="{03794549-F0E7-46FC-ACD4-47330C13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44BBB-A757-43CE-9651-DF91F7E0342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5255922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CECF-D588-468B-A7A3-90A98346B6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D951B1-1553-4958-9D61-E1F0A1D9DF6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AF1E5E-7AAE-444D-86E4-1C566EFC0B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BC9A7E-E423-4A61-828D-BDF012BA275C}"/>
              </a:ext>
            </a:extLst>
          </p:cNvPr>
          <p:cNvSpPr>
            <a:spLocks noGrp="1"/>
          </p:cNvSpPr>
          <p:nvPr>
            <p:ph type="dt" sz="half" idx="10"/>
          </p:nvPr>
        </p:nvSpPr>
        <p:spPr/>
        <p:txBody>
          <a:bodyPr/>
          <a:lstStyle/>
          <a:p>
            <a:fld id="{DA5CC23E-F11C-48D9-AE55-0EF6324A9F73}" type="datetime1">
              <a:rPr lang="en-US" smtClean="0"/>
              <a:t>11/13/2025</a:t>
            </a:fld>
            <a:endParaRPr lang="en-US"/>
          </a:p>
        </p:txBody>
      </p:sp>
      <p:sp>
        <p:nvSpPr>
          <p:cNvPr id="6" name="Footer Placeholder 5">
            <a:extLst>
              <a:ext uri="{FF2B5EF4-FFF2-40B4-BE49-F238E27FC236}">
                <a16:creationId xmlns:a16="http://schemas.microsoft.com/office/drawing/2014/main" id="{A366D3F1-3B66-4228-9A47-E7D04A065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61B5D7-E998-411F-BEDA-F76665A5D79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1111003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BB8DF-503D-48C4-9D47-463A470AD4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C338F9-2BFA-4C1A-A29F-44F778CC8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80319EB-DD39-4B32-87D0-49873CED0F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6925FA-E7BE-4DA6-B13F-609287FC5C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98FF09-0267-44A3-B767-F5AD1CB5CC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3EC5D4-0A9B-4479-9DD6-B1FB0CFDEBB4}"/>
              </a:ext>
            </a:extLst>
          </p:cNvPr>
          <p:cNvSpPr>
            <a:spLocks noGrp="1"/>
          </p:cNvSpPr>
          <p:nvPr>
            <p:ph type="dt" sz="half" idx="10"/>
          </p:nvPr>
        </p:nvSpPr>
        <p:spPr/>
        <p:txBody>
          <a:bodyPr/>
          <a:lstStyle/>
          <a:p>
            <a:fld id="{E6454B23-E954-413E-A340-E1B67CB96215}" type="datetime1">
              <a:rPr lang="en-US" smtClean="0"/>
              <a:t>11/13/2025</a:t>
            </a:fld>
            <a:endParaRPr lang="en-US"/>
          </a:p>
        </p:txBody>
      </p:sp>
      <p:sp>
        <p:nvSpPr>
          <p:cNvPr id="8" name="Footer Placeholder 7">
            <a:extLst>
              <a:ext uri="{FF2B5EF4-FFF2-40B4-BE49-F238E27FC236}">
                <a16:creationId xmlns:a16="http://schemas.microsoft.com/office/drawing/2014/main" id="{AD07A819-CF02-4B5A-9314-E58BF873C0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B6AC02-78C3-411E-B17B-73949C2E77DE}"/>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7784284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B3D0-BEF4-46A2-8EE3-F3297DBD7D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0CE44D-5F24-4B91-A27D-C841001E269A}"/>
              </a:ext>
            </a:extLst>
          </p:cNvPr>
          <p:cNvSpPr>
            <a:spLocks noGrp="1"/>
          </p:cNvSpPr>
          <p:nvPr>
            <p:ph type="dt" sz="half" idx="10"/>
          </p:nvPr>
        </p:nvSpPr>
        <p:spPr/>
        <p:txBody>
          <a:bodyPr/>
          <a:lstStyle/>
          <a:p>
            <a:fld id="{98D01C05-EBE7-4848-9605-17FA64F26282}" type="datetime1">
              <a:rPr lang="en-US" smtClean="0"/>
              <a:t>11/13/2025</a:t>
            </a:fld>
            <a:endParaRPr lang="en-US"/>
          </a:p>
        </p:txBody>
      </p:sp>
      <p:sp>
        <p:nvSpPr>
          <p:cNvPr id="4" name="Footer Placeholder 3">
            <a:extLst>
              <a:ext uri="{FF2B5EF4-FFF2-40B4-BE49-F238E27FC236}">
                <a16:creationId xmlns:a16="http://schemas.microsoft.com/office/drawing/2014/main" id="{0594DDE8-BE40-4E0F-8179-93E9114EA3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20E8C3-3FFA-43CB-9F7D-676DA3E6D067}"/>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14836729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C3E83F-67C2-4EC0-A1BF-781564BDF8EB}"/>
              </a:ext>
            </a:extLst>
          </p:cNvPr>
          <p:cNvSpPr>
            <a:spLocks noGrp="1"/>
          </p:cNvSpPr>
          <p:nvPr>
            <p:ph type="dt" sz="half" idx="10"/>
          </p:nvPr>
        </p:nvSpPr>
        <p:spPr/>
        <p:txBody>
          <a:bodyPr/>
          <a:lstStyle/>
          <a:p>
            <a:fld id="{2DF4748F-0361-4B75-9FB6-0FD67B2CAA53}" type="datetime1">
              <a:rPr lang="en-US" smtClean="0"/>
              <a:t>11/13/2025</a:t>
            </a:fld>
            <a:endParaRPr lang="en-US"/>
          </a:p>
        </p:txBody>
      </p:sp>
      <p:sp>
        <p:nvSpPr>
          <p:cNvPr id="3" name="Footer Placeholder 2">
            <a:extLst>
              <a:ext uri="{FF2B5EF4-FFF2-40B4-BE49-F238E27FC236}">
                <a16:creationId xmlns:a16="http://schemas.microsoft.com/office/drawing/2014/main" id="{0A174CAF-DD5A-42DE-9ADC-E470A2FE2A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2CE4DC-1BE1-416A-8CA9-3EDBC0B64E8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1571669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0F94-114F-4B20-8531-86B9FCF7B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2FAA2F-7591-4346-BB8B-0DD708EDBF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BB4CFF-8B87-469F-B046-657143C66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F8285A-56BE-4733-B81F-F0CAB5CAF031}"/>
              </a:ext>
            </a:extLst>
          </p:cNvPr>
          <p:cNvSpPr>
            <a:spLocks noGrp="1"/>
          </p:cNvSpPr>
          <p:nvPr>
            <p:ph type="dt" sz="half" idx="10"/>
          </p:nvPr>
        </p:nvSpPr>
        <p:spPr/>
        <p:txBody>
          <a:bodyPr/>
          <a:lstStyle/>
          <a:p>
            <a:fld id="{B719F1C2-23BD-4B0F-AE95-81945CE4C218}" type="datetime1">
              <a:rPr lang="en-US" smtClean="0"/>
              <a:t>11/13/2025</a:t>
            </a:fld>
            <a:endParaRPr lang="en-US"/>
          </a:p>
        </p:txBody>
      </p:sp>
      <p:sp>
        <p:nvSpPr>
          <p:cNvPr id="6" name="Footer Placeholder 5">
            <a:extLst>
              <a:ext uri="{FF2B5EF4-FFF2-40B4-BE49-F238E27FC236}">
                <a16:creationId xmlns:a16="http://schemas.microsoft.com/office/drawing/2014/main" id="{0C471FEE-C965-4808-AD73-D20914F46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0AE28-0F2E-4DC5-8081-42E11060D6A9}"/>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6414013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92C6-9900-4026-AE3F-5DE9EE3D1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B5F55B-CF73-4795-BB09-765913996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C86D78-3C96-4322-B161-088747E29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8C49A7-7D2D-4551-80A9-6FC8CEED8AB0}"/>
              </a:ext>
            </a:extLst>
          </p:cNvPr>
          <p:cNvSpPr>
            <a:spLocks noGrp="1"/>
          </p:cNvSpPr>
          <p:nvPr>
            <p:ph type="dt" sz="half" idx="10"/>
          </p:nvPr>
        </p:nvSpPr>
        <p:spPr/>
        <p:txBody>
          <a:bodyPr/>
          <a:lstStyle/>
          <a:p>
            <a:fld id="{F43C9308-E77D-4F00-A0E0-E2C48A09AD1C}" type="datetime1">
              <a:rPr lang="en-US" smtClean="0"/>
              <a:t>11/13/2025</a:t>
            </a:fld>
            <a:endParaRPr lang="en-US"/>
          </a:p>
        </p:txBody>
      </p:sp>
      <p:sp>
        <p:nvSpPr>
          <p:cNvPr id="6" name="Footer Placeholder 5">
            <a:extLst>
              <a:ext uri="{FF2B5EF4-FFF2-40B4-BE49-F238E27FC236}">
                <a16:creationId xmlns:a16="http://schemas.microsoft.com/office/drawing/2014/main" id="{11B8F690-9942-4FF6-8BB9-6F80782F5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1670E-28ED-4533-A0BE-7272B33C238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4533044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66AD4-7EC1-44FD-BA32-805E71BA83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786EE-6894-40B3-8DAA-6528BE9831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73173-5EF4-4028-ABAA-461721A925F7}"/>
              </a:ext>
            </a:extLst>
          </p:cNvPr>
          <p:cNvSpPr>
            <a:spLocks noGrp="1"/>
          </p:cNvSpPr>
          <p:nvPr>
            <p:ph type="dt" sz="half" idx="10"/>
          </p:nvPr>
        </p:nvSpPr>
        <p:spPr/>
        <p:txBody>
          <a:bodyPr/>
          <a:lstStyle/>
          <a:p>
            <a:fld id="{0BF6E970-6936-4886-BB3E-53EA998AF177}" type="datetime1">
              <a:rPr lang="en-US" smtClean="0"/>
              <a:t>11/13/2025</a:t>
            </a:fld>
            <a:endParaRPr lang="en-US"/>
          </a:p>
        </p:txBody>
      </p:sp>
      <p:sp>
        <p:nvSpPr>
          <p:cNvPr id="5" name="Footer Placeholder 4">
            <a:extLst>
              <a:ext uri="{FF2B5EF4-FFF2-40B4-BE49-F238E27FC236}">
                <a16:creationId xmlns:a16="http://schemas.microsoft.com/office/drawing/2014/main" id="{E9952984-EED2-4AE3-A5A8-A4BEF7BFF7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F1ED-7233-44F5-9AF2-AC5385782F71}"/>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6096748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7FA787-0A36-446A-AD2A-D5BD22D7EF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D43D2B-089C-4FDB-95F1-A7E0E014BC5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8847E-DAFB-49B3-8D62-FBECCC18C7D1}"/>
              </a:ext>
            </a:extLst>
          </p:cNvPr>
          <p:cNvSpPr>
            <a:spLocks noGrp="1"/>
          </p:cNvSpPr>
          <p:nvPr>
            <p:ph type="dt" sz="half" idx="10"/>
          </p:nvPr>
        </p:nvSpPr>
        <p:spPr/>
        <p:txBody>
          <a:bodyPr/>
          <a:lstStyle/>
          <a:p>
            <a:fld id="{12FEA7D1-46F2-462B-AA03-0A881131FDBD}" type="datetime1">
              <a:rPr lang="en-US" smtClean="0"/>
              <a:t>11/13/2025</a:t>
            </a:fld>
            <a:endParaRPr lang="en-US"/>
          </a:p>
        </p:txBody>
      </p:sp>
      <p:sp>
        <p:nvSpPr>
          <p:cNvPr id="5" name="Footer Placeholder 4">
            <a:extLst>
              <a:ext uri="{FF2B5EF4-FFF2-40B4-BE49-F238E27FC236}">
                <a16:creationId xmlns:a16="http://schemas.microsoft.com/office/drawing/2014/main" id="{9037F1BB-9FC8-4547-B68E-79FDA7585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95C7B-DDD1-42C6-833D-5920DDB8B515}"/>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798180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339B52-02F0-5FE3-7B61-C8409D7D0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D10187-9FEE-DE8C-8E32-C7EB7740F2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6B19BA-41A7-0784-22AA-D2E2AA9A37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89A78B-C7E0-4BD7-8C68-723797AD7EB5}" type="datetimeFigureOut">
              <a:rPr lang="en-US" smtClean="0"/>
              <a:t>11/13/2025</a:t>
            </a:fld>
            <a:endParaRPr lang="en-US"/>
          </a:p>
        </p:txBody>
      </p:sp>
      <p:sp>
        <p:nvSpPr>
          <p:cNvPr id="5" name="Footer Placeholder 4">
            <a:extLst>
              <a:ext uri="{FF2B5EF4-FFF2-40B4-BE49-F238E27FC236}">
                <a16:creationId xmlns:a16="http://schemas.microsoft.com/office/drawing/2014/main" id="{C819B840-8379-6B26-2EFD-6C19F7FC9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A163C6-E9E6-9BE2-57A2-630B5B069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AF6F2A-E9EF-4FD9-A18F-088C3A061086}" type="slidenum">
              <a:rPr lang="en-US" smtClean="0"/>
              <a:t>‹#›</a:t>
            </a:fld>
            <a:endParaRPr lang="en-US"/>
          </a:p>
        </p:txBody>
      </p:sp>
    </p:spTree>
    <p:extLst>
      <p:ext uri="{BB962C8B-B14F-4D97-AF65-F5344CB8AC3E}">
        <p14:creationId xmlns:p14="http://schemas.microsoft.com/office/powerpoint/2010/main" val="2825072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cap="all" baseline="0">
          <a:solidFill>
            <a:schemeClr val="tx1"/>
          </a:solidFill>
          <a:latin typeface="Oswald"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Code Pro" panose="020B0509030403020204" pitchFamily="49" charset="0"/>
          <a:ea typeface="Source Code Pro" panose="020B0509030403020204" pitchFamily="49"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Code Pro" panose="020B0509030403020204" pitchFamily="49" charset="0"/>
          <a:ea typeface="Source Code Pro" panose="020B0509030403020204" pitchFamily="49"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Code Pro" panose="020B0509030403020204" pitchFamily="49" charset="0"/>
          <a:ea typeface="Source Code Pro" panose="020B0509030403020204" pitchFamily="49"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Code Pro" panose="020B0509030403020204" pitchFamily="49" charset="0"/>
          <a:ea typeface="Source Code Pro" panose="020B0509030403020204" pitchFamily="49"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Code Pro" panose="020B0509030403020204" pitchFamily="49" charset="0"/>
          <a:ea typeface="Source Code Pro" panose="020B0509030403020204" pitchFamily="49"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CCBA0-2A46-4DE6-86C3-815ED2711CEA}" type="datetime1">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963908-5577-44A4-91B0-79992FE49834}" type="slidenum">
              <a:rPr lang="en-US" smtClean="0"/>
              <a:t>‹#›</a:t>
            </a:fld>
            <a:endParaRPr lang="en-US"/>
          </a:p>
        </p:txBody>
      </p:sp>
    </p:spTree>
    <p:extLst>
      <p:ext uri="{BB962C8B-B14F-4D97-AF65-F5344CB8AC3E}">
        <p14:creationId xmlns:p14="http://schemas.microsoft.com/office/powerpoint/2010/main" val="26752396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Oswald"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Code Pro" panose="020B0509030403020204" pitchFamily="49" charset="0"/>
          <a:ea typeface="Source Code Pro" panose="020B0509030403020204" pitchFamily="49"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Code Pro" panose="020B0509030403020204" pitchFamily="49" charset="0"/>
          <a:ea typeface="Source Code Pro" panose="020B0509030403020204" pitchFamily="49"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Code Pro" panose="020B0509030403020204" pitchFamily="49" charset="0"/>
          <a:ea typeface="Source Code Pro" panose="020B0509030403020204" pitchFamily="49"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Code Pro" panose="020B0509030403020204" pitchFamily="49" charset="0"/>
          <a:ea typeface="Source Code Pro" panose="020B0509030403020204" pitchFamily="49"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Code Pro" panose="020B0509030403020204" pitchFamily="49" charset="0"/>
          <a:ea typeface="Source Code Pro" panose="020B0509030403020204" pitchFamily="49"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5D8B8-2FC2-42C7-9B48-C24F15CF1BCC}" type="datetime1">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8A6847-FF54-4997-9E64-663FA8B5A75E}" type="slidenum">
              <a:rPr lang="en-US" smtClean="0"/>
              <a:t>‹#›</a:t>
            </a:fld>
            <a:endParaRPr lang="en-US"/>
          </a:p>
        </p:txBody>
      </p:sp>
    </p:spTree>
    <p:extLst>
      <p:ext uri="{BB962C8B-B14F-4D97-AF65-F5344CB8AC3E}">
        <p14:creationId xmlns:p14="http://schemas.microsoft.com/office/powerpoint/2010/main" val="15895166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8ADB2-3439-480F-828A-343BD40BA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8C5C50-CEF0-4038-8EBF-CB13C80FA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E32D1D-09BF-4804-9D12-8FB791E6E5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98191-276C-495B-A44A-B9D8EBF2CD4E}" type="datetime1">
              <a:rPr lang="en-US" smtClean="0"/>
              <a:t>11/13/2025</a:t>
            </a:fld>
            <a:endParaRPr lang="en-US"/>
          </a:p>
        </p:txBody>
      </p:sp>
      <p:sp>
        <p:nvSpPr>
          <p:cNvPr id="5" name="Footer Placeholder 4">
            <a:extLst>
              <a:ext uri="{FF2B5EF4-FFF2-40B4-BE49-F238E27FC236}">
                <a16:creationId xmlns:a16="http://schemas.microsoft.com/office/drawing/2014/main" id="{D556848E-4C26-41B4-9BA1-57C17AB6B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2FC73F-5748-4602-9732-C1A2EF5D76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D4DA2-4FBE-4694-B57B-F9990517B432}" type="slidenum">
              <a:rPr lang="en-US" smtClean="0"/>
              <a:t>‹#›</a:t>
            </a:fld>
            <a:endParaRPr lang="en-US"/>
          </a:p>
        </p:txBody>
      </p:sp>
    </p:spTree>
    <p:extLst>
      <p:ext uri="{BB962C8B-B14F-4D97-AF65-F5344CB8AC3E}">
        <p14:creationId xmlns:p14="http://schemas.microsoft.com/office/powerpoint/2010/main" val="42568960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ABD00D-0F82-5349-8DF6-5D5D93A0060B}"/>
              </a:ext>
            </a:extLst>
          </p:cNvPr>
          <p:cNvSpPr/>
          <p:nvPr/>
        </p:nvSpPr>
        <p:spPr>
          <a:xfrm>
            <a:off x="0" y="0"/>
            <a:ext cx="12192000" cy="44196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B66944-15F6-1B66-B007-D8B20E5C0622}"/>
              </a:ext>
            </a:extLst>
          </p:cNvPr>
          <p:cNvSpPr>
            <a:spLocks noGrp="1"/>
          </p:cNvSpPr>
          <p:nvPr>
            <p:ph type="ctrTitle"/>
          </p:nvPr>
        </p:nvSpPr>
        <p:spPr>
          <a:xfrm>
            <a:off x="904240" y="1229042"/>
            <a:ext cx="10231120" cy="2387600"/>
          </a:xfrm>
        </p:spPr>
        <p:txBody>
          <a:bodyPr>
            <a:noAutofit/>
          </a:bodyPr>
          <a:lstStyle/>
          <a:p>
            <a:r>
              <a:rPr lang="en-US" sz="3600" b="1" dirty="0">
                <a:solidFill>
                  <a:schemeClr val="accent1">
                    <a:lumMod val="50000"/>
                  </a:schemeClr>
                </a:solidFill>
                <a:latin typeface="Verdana" panose="020B0604030504040204" pitchFamily="34" charset="0"/>
                <a:ea typeface="Verdana" panose="020B0604030504040204" pitchFamily="34" charset="0"/>
              </a:rPr>
              <a:t>What can the science </a:t>
            </a:r>
            <a:br>
              <a:rPr lang="en-US" sz="3600" b="1" dirty="0">
                <a:solidFill>
                  <a:schemeClr val="accent1">
                    <a:lumMod val="50000"/>
                  </a:schemeClr>
                </a:solidFill>
                <a:latin typeface="Verdana" panose="020B0604030504040204" pitchFamily="34" charset="0"/>
                <a:ea typeface="Verdana" panose="020B0604030504040204" pitchFamily="34" charset="0"/>
              </a:rPr>
            </a:br>
            <a:r>
              <a:rPr lang="en-US" sz="3600" b="1" dirty="0">
                <a:solidFill>
                  <a:schemeClr val="accent1">
                    <a:lumMod val="50000"/>
                  </a:schemeClr>
                </a:solidFill>
                <a:latin typeface="Verdana" panose="020B0604030504040204" pitchFamily="34" charset="0"/>
                <a:ea typeface="Verdana" panose="020B0604030504040204" pitchFamily="34" charset="0"/>
              </a:rPr>
              <a:t>of cities teach us about </a:t>
            </a:r>
            <a:br>
              <a:rPr lang="en-US" sz="3600" b="1" dirty="0">
                <a:solidFill>
                  <a:schemeClr val="accent1">
                    <a:lumMod val="50000"/>
                  </a:schemeClr>
                </a:solidFill>
                <a:latin typeface="Verdana" panose="020B0604030504040204" pitchFamily="34" charset="0"/>
                <a:ea typeface="Verdana" panose="020B0604030504040204" pitchFamily="34" charset="0"/>
              </a:rPr>
            </a:br>
            <a:r>
              <a:rPr lang="en-US" sz="3600" b="1" dirty="0">
                <a:solidFill>
                  <a:schemeClr val="accent1">
                    <a:lumMod val="50000"/>
                  </a:schemeClr>
                </a:solidFill>
                <a:latin typeface="Verdana" panose="020B0604030504040204" pitchFamily="34" charset="0"/>
                <a:ea typeface="Verdana" panose="020B0604030504040204" pitchFamily="34" charset="0"/>
              </a:rPr>
              <a:t>the nonprofit sector:</a:t>
            </a:r>
            <a:br>
              <a:rPr lang="en-US" sz="3600" b="1" dirty="0">
                <a:solidFill>
                  <a:schemeClr val="accent1">
                    <a:lumMod val="50000"/>
                  </a:schemeClr>
                </a:solidFill>
                <a:latin typeface="Verdana" panose="020B0604030504040204" pitchFamily="34" charset="0"/>
                <a:ea typeface="Verdana" panose="020B0604030504040204" pitchFamily="34" charset="0"/>
              </a:rPr>
            </a:br>
            <a:r>
              <a:rPr lang="en-US" sz="1200" b="1" dirty="0">
                <a:solidFill>
                  <a:schemeClr val="accent1">
                    <a:lumMod val="50000"/>
                  </a:schemeClr>
                </a:solidFill>
                <a:latin typeface="Verdana" panose="020B0604030504040204" pitchFamily="34" charset="0"/>
                <a:ea typeface="Verdana" panose="020B0604030504040204" pitchFamily="34" charset="0"/>
              </a:rPr>
              <a:t> </a:t>
            </a:r>
            <a:br>
              <a:rPr lang="en-US" sz="3600" dirty="0">
                <a:solidFill>
                  <a:schemeClr val="accent1">
                    <a:lumMod val="50000"/>
                  </a:schemeClr>
                </a:solidFill>
                <a:latin typeface="Verdana" panose="020B0604030504040204" pitchFamily="34" charset="0"/>
                <a:ea typeface="Verdana" panose="020B0604030504040204" pitchFamily="34" charset="0"/>
              </a:rPr>
            </a:br>
            <a:r>
              <a:rPr lang="en-US" sz="3600" dirty="0">
                <a:solidFill>
                  <a:schemeClr val="accent4">
                    <a:lumMod val="75000"/>
                  </a:schemeClr>
                </a:solidFill>
                <a:ea typeface="Verdana" panose="020B0604030504040204" pitchFamily="34" charset="0"/>
              </a:rPr>
              <a:t>An Exploration of philanthropic </a:t>
            </a:r>
            <a:br>
              <a:rPr lang="en-US" sz="3600" dirty="0">
                <a:solidFill>
                  <a:schemeClr val="accent4">
                    <a:lumMod val="75000"/>
                  </a:schemeClr>
                </a:solidFill>
                <a:ea typeface="Verdana" panose="020B0604030504040204" pitchFamily="34" charset="0"/>
              </a:rPr>
            </a:br>
            <a:r>
              <a:rPr lang="en-US" sz="3600" dirty="0">
                <a:solidFill>
                  <a:schemeClr val="accent4">
                    <a:lumMod val="75000"/>
                  </a:schemeClr>
                </a:solidFill>
                <a:ea typeface="Verdana" panose="020B0604030504040204" pitchFamily="34" charset="0"/>
              </a:rPr>
              <a:t>resource environments </a:t>
            </a:r>
            <a:br>
              <a:rPr lang="en-US" sz="3600" dirty="0">
                <a:solidFill>
                  <a:schemeClr val="accent4">
                    <a:lumMod val="75000"/>
                  </a:schemeClr>
                </a:solidFill>
                <a:ea typeface="Verdana" panose="020B0604030504040204" pitchFamily="34" charset="0"/>
              </a:rPr>
            </a:br>
            <a:r>
              <a:rPr lang="en-US" sz="3600" dirty="0">
                <a:solidFill>
                  <a:schemeClr val="accent4">
                    <a:lumMod val="75000"/>
                  </a:schemeClr>
                </a:solidFill>
                <a:ea typeface="Verdana" panose="020B0604030504040204" pitchFamily="34" charset="0"/>
              </a:rPr>
              <a:t>and nonprofit density</a:t>
            </a:r>
          </a:p>
        </p:txBody>
      </p:sp>
      <p:sp>
        <p:nvSpPr>
          <p:cNvPr id="3" name="Subtitle 2">
            <a:extLst>
              <a:ext uri="{FF2B5EF4-FFF2-40B4-BE49-F238E27FC236}">
                <a16:creationId xmlns:a16="http://schemas.microsoft.com/office/drawing/2014/main" id="{EDA99351-B8C7-2947-8E85-B5D623CB2EF1}"/>
              </a:ext>
            </a:extLst>
          </p:cNvPr>
          <p:cNvSpPr>
            <a:spLocks noGrp="1"/>
          </p:cNvSpPr>
          <p:nvPr>
            <p:ph type="subTitle" idx="1"/>
          </p:nvPr>
        </p:nvSpPr>
        <p:spPr>
          <a:xfrm>
            <a:off x="1524000" y="4435158"/>
            <a:ext cx="9144000" cy="1655762"/>
          </a:xfrm>
        </p:spPr>
        <p:txBody>
          <a:bodyPr>
            <a:normAutofit/>
          </a:bodyPr>
          <a:lstStyle/>
          <a:p>
            <a:endParaRPr lang="en-US" dirty="0"/>
          </a:p>
          <a:p>
            <a:r>
              <a:rPr lang="en-US" dirty="0"/>
              <a:t>Jesse Lecy </a:t>
            </a:r>
          </a:p>
          <a:p>
            <a:r>
              <a:rPr lang="en-US" dirty="0">
                <a:latin typeface="Oswald" panose="00000500000000000000" pitchFamily="2" charset="0"/>
              </a:rPr>
              <a:t>Arizona State University</a:t>
            </a:r>
          </a:p>
        </p:txBody>
      </p:sp>
    </p:spTree>
    <p:extLst>
      <p:ext uri="{BB962C8B-B14F-4D97-AF65-F5344CB8AC3E}">
        <p14:creationId xmlns:p14="http://schemas.microsoft.com/office/powerpoint/2010/main" val="212401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B58E17-9CAD-71CF-233A-B5E241D62C98}"/>
              </a:ext>
            </a:extLst>
          </p:cNvPr>
          <p:cNvSpPr>
            <a:spLocks noGrp="1"/>
          </p:cNvSpPr>
          <p:nvPr>
            <p:ph type="sldNum" sz="quarter" idx="12"/>
          </p:nvPr>
        </p:nvSpPr>
        <p:spPr/>
        <p:txBody>
          <a:bodyPr/>
          <a:lstStyle/>
          <a:p>
            <a:fld id="{F3963908-5577-44A4-91B0-79992FE49834}" type="slidenum">
              <a:rPr lang="en-US" smtClean="0"/>
              <a:t>2</a:t>
            </a:fld>
            <a:endParaRPr lang="en-US"/>
          </a:p>
        </p:txBody>
      </p:sp>
      <p:sp>
        <p:nvSpPr>
          <p:cNvPr id="4" name="TextBox 3">
            <a:extLst>
              <a:ext uri="{FF2B5EF4-FFF2-40B4-BE49-F238E27FC236}">
                <a16:creationId xmlns:a16="http://schemas.microsoft.com/office/drawing/2014/main" id="{35F3BC43-A554-C899-BD3A-2423E6E61B23}"/>
              </a:ext>
            </a:extLst>
          </p:cNvPr>
          <p:cNvSpPr txBox="1"/>
          <p:nvPr/>
        </p:nvSpPr>
        <p:spPr>
          <a:xfrm>
            <a:off x="441384" y="378334"/>
            <a:ext cx="11309231" cy="6247864"/>
          </a:xfrm>
          <a:prstGeom prst="rect">
            <a:avLst/>
          </a:prstGeom>
          <a:noFill/>
        </p:spPr>
        <p:txBody>
          <a:bodyPr wrap="square">
            <a:spAutoFit/>
          </a:bodyPr>
          <a:lstStyle/>
          <a:p>
            <a:pPr>
              <a:buNone/>
            </a:pPr>
            <a:r>
              <a:rPr lang="en-US" sz="3600" b="1" cap="all" dirty="0">
                <a:solidFill>
                  <a:srgbClr val="2E75B6"/>
                </a:solidFill>
                <a:latin typeface="Oswald" panose="00000500000000000000" pitchFamily="2" charset="0"/>
              </a:rPr>
              <a:t>The New Science of Cities: Scaling and Complexity</a:t>
            </a:r>
          </a:p>
          <a:p>
            <a:pPr>
              <a:buNone/>
            </a:pPr>
            <a:endParaRPr lang="en-US" b="1" dirty="0"/>
          </a:p>
          <a:p>
            <a:pPr>
              <a:spcAft>
                <a:spcPts val="1200"/>
              </a:spcAft>
              <a:buNone/>
            </a:pPr>
            <a:r>
              <a:rPr lang="en-US" sz="1600" b="1" dirty="0"/>
              <a:t>Bettencourt, L. M. A. (2013).</a:t>
            </a:r>
            <a:r>
              <a:rPr lang="en-US" sz="1600" dirty="0"/>
              <a:t> The origins of scaling in cities. </a:t>
            </a:r>
            <a:r>
              <a:rPr lang="en-US" sz="1600" i="1" dirty="0"/>
              <a:t>Science, 340</a:t>
            </a:r>
            <a:r>
              <a:rPr lang="en-US" sz="1600" dirty="0"/>
              <a:t>(6139), 1438–1441. https://doi.org/10.1126/science.1235823</a:t>
            </a:r>
          </a:p>
          <a:p>
            <a:pPr>
              <a:spcAft>
                <a:spcPts val="1200"/>
              </a:spcAft>
              <a:buNone/>
            </a:pPr>
            <a:r>
              <a:rPr lang="en-US" sz="1600" b="1" dirty="0"/>
              <a:t>Bettencourt, L. M. A., Lobo, J., Helbing, D., Kühnert, C., &amp; West, G. B. (2007).</a:t>
            </a:r>
            <a:r>
              <a:rPr lang="en-US" sz="1600" dirty="0"/>
              <a:t> Growth, innovation, scaling, and the pace of life in cities. </a:t>
            </a:r>
            <a:r>
              <a:rPr lang="en-US" sz="1600" i="1" dirty="0"/>
              <a:t>Proceedings of the National Academy of Sciences, 104</a:t>
            </a:r>
            <a:r>
              <a:rPr lang="en-US" sz="1600" dirty="0"/>
              <a:t>(17), 7301–7306. https://doi.org/10.1073/pnas.0610172104</a:t>
            </a:r>
          </a:p>
          <a:p>
            <a:pPr>
              <a:spcAft>
                <a:spcPts val="1200"/>
              </a:spcAft>
              <a:buNone/>
            </a:pPr>
            <a:r>
              <a:rPr lang="en-US" sz="1600" b="1" dirty="0"/>
              <a:t>Bettencourt, L. M. A., Lobo, J., Strumsky, D., &amp; West, G. B. (2010).</a:t>
            </a:r>
            <a:r>
              <a:rPr lang="en-US" sz="1600" dirty="0"/>
              <a:t> Urban scaling and its deviations: Revealing the structure of wealth, innovation, and crime across cities. </a:t>
            </a:r>
            <a:r>
              <a:rPr lang="en-US" sz="1600" i="1" dirty="0" err="1"/>
              <a:t>PLoS</a:t>
            </a:r>
            <a:r>
              <a:rPr lang="en-US" sz="1600" i="1" dirty="0"/>
              <a:t> ONE, 5</a:t>
            </a:r>
            <a:r>
              <a:rPr lang="en-US" sz="1600" dirty="0"/>
              <a:t>(11), e13541. https://doi.org/10.1371/journal.pone.0013541</a:t>
            </a:r>
          </a:p>
          <a:p>
            <a:pPr>
              <a:spcAft>
                <a:spcPts val="1200"/>
              </a:spcAft>
              <a:buNone/>
            </a:pPr>
            <a:r>
              <a:rPr lang="en-US" sz="1600" b="1" dirty="0"/>
              <a:t>Batty, M. (2008).</a:t>
            </a:r>
            <a:r>
              <a:rPr lang="en-US" sz="1600" dirty="0"/>
              <a:t> The size, scale, and shape of cities. </a:t>
            </a:r>
            <a:r>
              <a:rPr lang="en-US" sz="1600" i="1" dirty="0"/>
              <a:t>Science, 319</a:t>
            </a:r>
            <a:r>
              <a:rPr lang="en-US" sz="1600" dirty="0"/>
              <a:t>(5864), 769–771. https://doi.org/10.1126/science.1151419</a:t>
            </a:r>
          </a:p>
          <a:p>
            <a:pPr>
              <a:spcAft>
                <a:spcPts val="1200"/>
              </a:spcAft>
              <a:buNone/>
            </a:pPr>
            <a:r>
              <a:rPr lang="en-US" sz="1600" b="1" dirty="0"/>
              <a:t>Batty, M. (2013).</a:t>
            </a:r>
            <a:r>
              <a:rPr lang="en-US" sz="1600" dirty="0"/>
              <a:t> </a:t>
            </a:r>
            <a:r>
              <a:rPr lang="en-US" sz="1600" i="1" dirty="0"/>
              <a:t>The new science of cities.</a:t>
            </a:r>
            <a:r>
              <a:rPr lang="en-US" sz="1600" dirty="0"/>
              <a:t> MIT Press.</a:t>
            </a:r>
          </a:p>
          <a:p>
            <a:pPr>
              <a:spcAft>
                <a:spcPts val="1200"/>
              </a:spcAft>
              <a:buNone/>
            </a:pPr>
            <a:r>
              <a:rPr lang="en-US" sz="1600" b="1" dirty="0"/>
              <a:t>West, G. (2017).</a:t>
            </a:r>
            <a:r>
              <a:rPr lang="en-US" sz="1600" dirty="0"/>
              <a:t> </a:t>
            </a:r>
            <a:r>
              <a:rPr lang="en-US" sz="1600" i="1" dirty="0"/>
              <a:t>Scale: The universal laws of life, growth, and death in organisms, cities, and companies.</a:t>
            </a:r>
            <a:r>
              <a:rPr lang="en-US" sz="1600" dirty="0"/>
              <a:t> Penguin Press.</a:t>
            </a:r>
          </a:p>
          <a:p>
            <a:pPr>
              <a:spcAft>
                <a:spcPts val="1200"/>
              </a:spcAft>
              <a:buNone/>
            </a:pPr>
            <a:r>
              <a:rPr lang="en-US" sz="1600" b="1" dirty="0"/>
              <a:t>Youn, H., Bettencourt, L. M. A., Lobo, J., Strumsky, D., Samaniego, H., &amp; West, G. B. (2016).</a:t>
            </a:r>
            <a:r>
              <a:rPr lang="en-US" sz="1600" dirty="0"/>
              <a:t> Scaling and universality in urban economic diversification. </a:t>
            </a:r>
            <a:r>
              <a:rPr lang="en-US" sz="1600" i="1" dirty="0"/>
              <a:t>Journal of the Royal Society Interface, 13</a:t>
            </a:r>
            <a:r>
              <a:rPr lang="en-US" sz="1600" dirty="0"/>
              <a:t>(114), 20150937. https://doi.org/10.1098/rsif.2015.0937</a:t>
            </a:r>
          </a:p>
          <a:p>
            <a:pPr>
              <a:spcAft>
                <a:spcPts val="1200"/>
              </a:spcAft>
              <a:buNone/>
            </a:pPr>
            <a:r>
              <a:rPr lang="en-US" sz="1600" b="1" dirty="0"/>
              <a:t>Lobo, J., Bettencourt, L. M. A., &amp; Strumsky, D. (2020).</a:t>
            </a:r>
            <a:r>
              <a:rPr lang="en-US" sz="1600" dirty="0"/>
              <a:t> Energy, information, and the environment: The nexus of urban and global sustainability. </a:t>
            </a:r>
            <a:r>
              <a:rPr lang="en-US" sz="1600" i="1" dirty="0"/>
              <a:t>Current Opinion in Environmental Sustainability, 44</a:t>
            </a:r>
            <a:r>
              <a:rPr lang="en-US" sz="1600" dirty="0"/>
              <a:t>, 1–8. https://doi.org/10.1016/j.cosust.2019.09.005</a:t>
            </a:r>
          </a:p>
          <a:p>
            <a:pPr>
              <a:spcAft>
                <a:spcPts val="1200"/>
              </a:spcAft>
            </a:pPr>
            <a:r>
              <a:rPr lang="en-US" sz="1600" b="1" dirty="0"/>
              <a:t>Pan, W., Ghoshal, G., Krumme, C., Cebrian, M., &amp; Pentland, A. (2013).</a:t>
            </a:r>
            <a:r>
              <a:rPr lang="en-US" sz="1600" dirty="0"/>
              <a:t> Urban characteristics attributable to density-driven tie formation. </a:t>
            </a:r>
            <a:r>
              <a:rPr lang="en-US" sz="1600" i="1" dirty="0"/>
              <a:t>Nature Communications, 4</a:t>
            </a:r>
            <a:r>
              <a:rPr lang="en-US" sz="1600" dirty="0"/>
              <a:t>, 1961. https://doi.org/10.1038/ncomms2961</a:t>
            </a:r>
          </a:p>
          <a:p>
            <a:pPr>
              <a:spcAft>
                <a:spcPts val="1200"/>
              </a:spcAft>
            </a:pPr>
            <a:r>
              <a:rPr lang="en-US" sz="1600" b="1" dirty="0" err="1"/>
              <a:t>Schläpfer</a:t>
            </a:r>
            <a:r>
              <a:rPr lang="en-US" sz="1600" b="1" dirty="0"/>
              <a:t>, M., Bettencourt, L. M. A., </a:t>
            </a:r>
            <a:r>
              <a:rPr lang="en-US" sz="1600" b="1" dirty="0" err="1"/>
              <a:t>Grauwin</a:t>
            </a:r>
            <a:r>
              <a:rPr lang="en-US" sz="1600" b="1" dirty="0"/>
              <a:t>, S., et al. (2014).</a:t>
            </a:r>
            <a:r>
              <a:rPr lang="en-US" sz="1600" dirty="0"/>
              <a:t> The scaling of human interactions with city size. </a:t>
            </a:r>
            <a:r>
              <a:rPr lang="en-US" sz="1600" i="1" dirty="0"/>
              <a:t>Journal of the Royal Society Interface, 11</a:t>
            </a:r>
            <a:r>
              <a:rPr lang="en-US" sz="1600" dirty="0"/>
              <a:t>(98), 20130789.</a:t>
            </a:r>
          </a:p>
        </p:txBody>
      </p:sp>
    </p:spTree>
    <p:extLst>
      <p:ext uri="{BB962C8B-B14F-4D97-AF65-F5344CB8AC3E}">
        <p14:creationId xmlns:p14="http://schemas.microsoft.com/office/powerpoint/2010/main" val="1080470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5D15A0-C9A8-30D8-E0AF-FD7E8CFDDC29}"/>
              </a:ext>
            </a:extLst>
          </p:cNvPr>
          <p:cNvSpPr>
            <a:spLocks noGrp="1"/>
          </p:cNvSpPr>
          <p:nvPr>
            <p:ph type="sldNum" sz="quarter" idx="12"/>
          </p:nvPr>
        </p:nvSpPr>
        <p:spPr/>
        <p:txBody>
          <a:bodyPr/>
          <a:lstStyle/>
          <a:p>
            <a:fld id="{F3963908-5577-44A4-91B0-79992FE49834}" type="slidenum">
              <a:rPr lang="en-US" smtClean="0"/>
              <a:t>3</a:t>
            </a:fld>
            <a:endParaRPr lang="en-US"/>
          </a:p>
        </p:txBody>
      </p:sp>
      <p:sp>
        <p:nvSpPr>
          <p:cNvPr id="4" name="TextBox 3">
            <a:extLst>
              <a:ext uri="{FF2B5EF4-FFF2-40B4-BE49-F238E27FC236}">
                <a16:creationId xmlns:a16="http://schemas.microsoft.com/office/drawing/2014/main" id="{E9FBA8C8-BDB8-88D0-8286-185A21ECC4D0}"/>
              </a:ext>
            </a:extLst>
          </p:cNvPr>
          <p:cNvSpPr txBox="1"/>
          <p:nvPr/>
        </p:nvSpPr>
        <p:spPr>
          <a:xfrm>
            <a:off x="2167745" y="550593"/>
            <a:ext cx="8080436" cy="2523768"/>
          </a:xfrm>
          <a:prstGeom prst="rect">
            <a:avLst/>
          </a:prstGeom>
          <a:noFill/>
        </p:spPr>
        <p:txBody>
          <a:bodyPr wrap="square">
            <a:spAutoFit/>
          </a:bodyPr>
          <a:lstStyle/>
          <a:p>
            <a:pPr>
              <a:buNone/>
            </a:pPr>
            <a:r>
              <a:rPr lang="en-US" sz="3200" b="1" cap="all" dirty="0">
                <a:solidFill>
                  <a:srgbClr val="F56928"/>
                </a:solidFill>
                <a:latin typeface="Oswald" panose="00000500000000000000" pitchFamily="2" charset="0"/>
              </a:rPr>
              <a:t>The Statistical Laws of Cities</a:t>
            </a:r>
          </a:p>
          <a:p>
            <a:pPr>
              <a:buNone/>
            </a:pPr>
            <a:endParaRPr lang="en-US" b="1" dirty="0"/>
          </a:p>
          <a:p>
            <a:pPr>
              <a:buNone/>
            </a:pPr>
            <a:endParaRPr lang="en-US" b="1" dirty="0"/>
          </a:p>
          <a:p>
            <a:pPr>
              <a:buFont typeface="+mj-lt"/>
              <a:buAutoNum type="arabicPeriod"/>
            </a:pPr>
            <a:r>
              <a:rPr lang="en-US" sz="2400" b="1" dirty="0"/>
              <a:t> Cities follow universal scaling laws</a:t>
            </a:r>
            <a:r>
              <a:rPr lang="en-US" sz="2400" dirty="0"/>
              <a:t> — innovation and problems grow </a:t>
            </a:r>
            <a:r>
              <a:rPr lang="en-US" sz="2400" dirty="0" err="1"/>
              <a:t>superlinearly</a:t>
            </a:r>
            <a:r>
              <a:rPr lang="en-US" sz="2400" dirty="0"/>
              <a:t>, infrastructure grows </a:t>
            </a:r>
            <a:r>
              <a:rPr lang="en-US" sz="2400" dirty="0" err="1"/>
              <a:t>sublinearly</a:t>
            </a:r>
            <a:r>
              <a:rPr lang="en-US" sz="2400" dirty="0"/>
              <a:t>.</a:t>
            </a:r>
          </a:p>
          <a:p>
            <a:pPr>
              <a:buFont typeface="+mj-lt"/>
              <a:buAutoNum type="arabicPeriod"/>
            </a:pPr>
            <a:endParaRPr lang="en-US" sz="2400" dirty="0"/>
          </a:p>
          <a:p>
            <a:endParaRPr lang="en-US" dirty="0"/>
          </a:p>
        </p:txBody>
      </p:sp>
    </p:spTree>
    <p:extLst>
      <p:ext uri="{BB962C8B-B14F-4D97-AF65-F5344CB8AC3E}">
        <p14:creationId xmlns:p14="http://schemas.microsoft.com/office/powerpoint/2010/main" val="162521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4F545EB-269A-0FE5-DE9A-D4F9F223E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31" b="13342"/>
          <a:stretch>
            <a:fillRect/>
          </a:stretch>
        </p:blipFill>
        <p:spPr bwMode="auto">
          <a:xfrm>
            <a:off x="178420" y="814789"/>
            <a:ext cx="6858000" cy="49282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EB1CA13-CFB3-F4EA-9A0B-69F2053F5E91}"/>
              </a:ext>
            </a:extLst>
          </p:cNvPr>
          <p:cNvSpPr>
            <a:spLocks noGrp="1"/>
          </p:cNvSpPr>
          <p:nvPr>
            <p:ph type="sldNum" sz="quarter" idx="12"/>
          </p:nvPr>
        </p:nvSpPr>
        <p:spPr>
          <a:xfrm>
            <a:off x="8610600" y="6356350"/>
            <a:ext cx="2743200" cy="365125"/>
          </a:xfrm>
        </p:spPr>
        <p:txBody>
          <a:bodyPr>
            <a:normAutofit/>
          </a:bodyPr>
          <a:lstStyle/>
          <a:p>
            <a:pPr>
              <a:spcAft>
                <a:spcPts val="600"/>
              </a:spcAft>
            </a:pPr>
            <a:fld id="{F3963908-5577-44A4-91B0-79992FE49834}" type="slidenum">
              <a:rPr lang="en-US"/>
              <a:pPr>
                <a:spcAft>
                  <a:spcPts val="600"/>
                </a:spcAft>
              </a:pPr>
              <a:t>4</a:t>
            </a:fld>
            <a:endParaRPr lang="en-US"/>
          </a:p>
        </p:txBody>
      </p:sp>
      <p:sp>
        <p:nvSpPr>
          <p:cNvPr id="4" name="TextBox 3">
            <a:extLst>
              <a:ext uri="{FF2B5EF4-FFF2-40B4-BE49-F238E27FC236}">
                <a16:creationId xmlns:a16="http://schemas.microsoft.com/office/drawing/2014/main" id="{7AB045AB-416E-4C2E-B19D-C0C5C90D7F38}"/>
              </a:ext>
            </a:extLst>
          </p:cNvPr>
          <p:cNvSpPr txBox="1"/>
          <p:nvPr/>
        </p:nvSpPr>
        <p:spPr>
          <a:xfrm>
            <a:off x="7805003" y="1104882"/>
            <a:ext cx="3785050" cy="4011355"/>
          </a:xfrm>
          <a:prstGeom prst="rect">
            <a:avLst/>
          </a:prstGeom>
          <a:noFill/>
        </p:spPr>
        <p:txBody>
          <a:bodyPr wrap="square">
            <a:spAutoFit/>
          </a:bodyPr>
          <a:lstStyle/>
          <a:p>
            <a:pPr algn="ctr"/>
            <a:r>
              <a:rPr lang="en-US" sz="3600" cap="all" dirty="0">
                <a:solidFill>
                  <a:srgbClr val="2E75B6"/>
                </a:solidFill>
                <a:latin typeface="Oswald" panose="00000500000000000000" pitchFamily="2" charset="0"/>
              </a:rPr>
              <a:t>Infrastructure</a:t>
            </a:r>
          </a:p>
          <a:p>
            <a:pPr algn="ctr"/>
            <a:endParaRPr lang="en-US" sz="2800" dirty="0">
              <a:latin typeface="Speak Pro" panose="020B0504020101020102" pitchFamily="34" charset="0"/>
            </a:endParaRPr>
          </a:p>
          <a:p>
            <a:pPr algn="ctr"/>
            <a:r>
              <a:rPr lang="en-US" sz="2800" dirty="0">
                <a:latin typeface="Speak Pro" panose="020B0504020101020102" pitchFamily="34" charset="0"/>
              </a:rPr>
              <a:t>The total length of infrastructure networks (roads, pipes, cables) grows roughly </a:t>
            </a:r>
            <a:r>
              <a:rPr lang="en-US" sz="2800" b="1" dirty="0">
                <a:latin typeface="Oswald" panose="00000500000000000000" pitchFamily="2" charset="0"/>
              </a:rPr>
              <a:t>POP</a:t>
            </a:r>
            <a:r>
              <a:rPr lang="en-US" sz="3200" b="1" dirty="0">
                <a:latin typeface="Oswald" panose="00000500000000000000" pitchFamily="2" charset="0"/>
              </a:rPr>
              <a:t> </a:t>
            </a:r>
            <a:r>
              <a:rPr lang="en-US" sz="3200" b="1" baseline="30000" dirty="0">
                <a:latin typeface="Oswald" panose="00000500000000000000" pitchFamily="2" charset="0"/>
              </a:rPr>
              <a:t>0.75</a:t>
            </a:r>
          </a:p>
          <a:p>
            <a:pPr algn="ctr"/>
            <a:endParaRPr lang="en-US" sz="2800" b="1" baseline="30000" dirty="0">
              <a:latin typeface="Oswald" panose="00000500000000000000" pitchFamily="2" charset="0"/>
            </a:endParaRPr>
          </a:p>
          <a:p>
            <a:pPr algn="ctr"/>
            <a:r>
              <a:rPr lang="en-US" sz="2800" dirty="0">
                <a:latin typeface="Speak Pro" panose="020B0504020101020102" pitchFamily="34" charset="0"/>
              </a:rPr>
              <a:t> (</a:t>
            </a:r>
            <a:r>
              <a:rPr lang="en-US" sz="2800" b="1" dirty="0">
                <a:latin typeface="Oswald" panose="00000500000000000000" pitchFamily="2" charset="0"/>
              </a:rPr>
              <a:t>population raised to the 3/4 power</a:t>
            </a:r>
            <a:r>
              <a:rPr lang="en-US" sz="2800" dirty="0">
                <a:latin typeface="Speak Pro" panose="020B0504020101020102" pitchFamily="34" charset="0"/>
              </a:rPr>
              <a:t>)</a:t>
            </a:r>
          </a:p>
        </p:txBody>
      </p:sp>
    </p:spTree>
    <p:extLst>
      <p:ext uri="{BB962C8B-B14F-4D97-AF65-F5344CB8AC3E}">
        <p14:creationId xmlns:p14="http://schemas.microsoft.com/office/powerpoint/2010/main" val="680218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10F3D3-120A-A580-E55E-E294C63DBB89}"/>
              </a:ext>
            </a:extLst>
          </p:cNvPr>
          <p:cNvSpPr>
            <a:spLocks noGrp="1"/>
          </p:cNvSpPr>
          <p:nvPr>
            <p:ph type="sldNum" sz="quarter" idx="12"/>
          </p:nvPr>
        </p:nvSpPr>
        <p:spPr/>
        <p:txBody>
          <a:bodyPr/>
          <a:lstStyle/>
          <a:p>
            <a:fld id="{F3963908-5577-44A4-91B0-79992FE49834}" type="slidenum">
              <a:rPr lang="en-US" smtClean="0"/>
              <a:t>5</a:t>
            </a:fld>
            <a:endParaRPr lang="en-US"/>
          </a:p>
        </p:txBody>
      </p:sp>
      <p:pic>
        <p:nvPicPr>
          <p:cNvPr id="14338" name="Picture 2" descr="Frontiers | Scaling Laws of Flow Rate, Vessel Blood Volume, Lengths, and  Transit Times With Number of Capillaries">
            <a:extLst>
              <a:ext uri="{FF2B5EF4-FFF2-40B4-BE49-F238E27FC236}">
                <a16:creationId xmlns:a16="http://schemas.microsoft.com/office/drawing/2014/main" id="{67B4595D-C8D2-2F4E-12F5-17819F960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525" y="369501"/>
            <a:ext cx="8413363" cy="5922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058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BAB6BA-6330-3D91-91F1-F7D0D66ADF8E}"/>
              </a:ext>
            </a:extLst>
          </p:cNvPr>
          <p:cNvSpPr>
            <a:spLocks noGrp="1"/>
          </p:cNvSpPr>
          <p:nvPr>
            <p:ph type="sldNum" sz="quarter" idx="12"/>
          </p:nvPr>
        </p:nvSpPr>
        <p:spPr/>
        <p:txBody>
          <a:bodyPr/>
          <a:lstStyle/>
          <a:p>
            <a:fld id="{F3963908-5577-44A4-91B0-79992FE49834}" type="slidenum">
              <a:rPr lang="en-US" smtClean="0"/>
              <a:t>6</a:t>
            </a:fld>
            <a:endParaRPr lang="en-US"/>
          </a:p>
        </p:txBody>
      </p:sp>
      <p:pic>
        <p:nvPicPr>
          <p:cNvPr id="4" name="Picture 3">
            <a:extLst>
              <a:ext uri="{FF2B5EF4-FFF2-40B4-BE49-F238E27FC236}">
                <a16:creationId xmlns:a16="http://schemas.microsoft.com/office/drawing/2014/main" id="{833D9937-8005-4BC4-98F4-E8CAC611CC3A}"/>
              </a:ext>
            </a:extLst>
          </p:cNvPr>
          <p:cNvPicPr>
            <a:picLocks noChangeAspect="1"/>
          </p:cNvPicPr>
          <p:nvPr/>
        </p:nvPicPr>
        <p:blipFill>
          <a:blip r:embed="rId2"/>
          <a:stretch>
            <a:fillRect/>
          </a:stretch>
        </p:blipFill>
        <p:spPr>
          <a:xfrm>
            <a:off x="0" y="217449"/>
            <a:ext cx="11801475" cy="3657600"/>
          </a:xfrm>
          <a:prstGeom prst="rect">
            <a:avLst/>
          </a:prstGeom>
        </p:spPr>
      </p:pic>
      <p:sp>
        <p:nvSpPr>
          <p:cNvPr id="5" name="TextBox 4">
            <a:extLst>
              <a:ext uri="{FF2B5EF4-FFF2-40B4-BE49-F238E27FC236}">
                <a16:creationId xmlns:a16="http://schemas.microsoft.com/office/drawing/2014/main" id="{8D547CBF-D78C-53D5-64FD-BECD5CE80F53}"/>
              </a:ext>
            </a:extLst>
          </p:cNvPr>
          <p:cNvSpPr txBox="1"/>
          <p:nvPr/>
        </p:nvSpPr>
        <p:spPr>
          <a:xfrm>
            <a:off x="8834887" y="4252752"/>
            <a:ext cx="3431906" cy="206210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Speak Pro" panose="020B0504020101020102" pitchFamily="34" charset="0"/>
              </a:rPr>
              <a:t>R&amp;D firms</a:t>
            </a:r>
          </a:p>
          <a:p>
            <a:pPr marL="285750" indent="-285750">
              <a:buFont typeface="Arial" panose="020B0604020202020204" pitchFamily="34" charset="0"/>
              <a:buChar char="•"/>
            </a:pPr>
            <a:r>
              <a:rPr lang="en-US" sz="1600" dirty="0">
                <a:latin typeface="Speak Pro" panose="020B0504020101020102" pitchFamily="34" charset="0"/>
              </a:rPr>
              <a:t>Software, biotechnology</a:t>
            </a:r>
          </a:p>
          <a:p>
            <a:pPr marL="285750" indent="-285750">
              <a:buFont typeface="Arial" panose="020B0604020202020204" pitchFamily="34" charset="0"/>
              <a:buChar char="•"/>
            </a:pPr>
            <a:r>
              <a:rPr lang="en-US" sz="1600" dirty="0">
                <a:latin typeface="Speak Pro" panose="020B0504020101020102" pitchFamily="34" charset="0"/>
              </a:rPr>
              <a:t>Semiconductors</a:t>
            </a:r>
          </a:p>
          <a:p>
            <a:pPr marL="285750" indent="-285750">
              <a:buFont typeface="Arial" panose="020B0604020202020204" pitchFamily="34" charset="0"/>
              <a:buChar char="•"/>
            </a:pPr>
            <a:r>
              <a:rPr lang="en-US" sz="1600" dirty="0">
                <a:latin typeface="Speak Pro" panose="020B0504020101020102" pitchFamily="34" charset="0"/>
              </a:rPr>
              <a:t>Scientific services</a:t>
            </a:r>
          </a:p>
          <a:p>
            <a:pPr marL="285750" indent="-285750">
              <a:buFont typeface="Arial" panose="020B0604020202020204" pitchFamily="34" charset="0"/>
              <a:buChar char="•"/>
            </a:pPr>
            <a:r>
              <a:rPr lang="en-US" sz="1600" dirty="0">
                <a:latin typeface="Speak Pro" panose="020B0504020101020102" pitchFamily="34" charset="0"/>
              </a:rPr>
              <a:t>Engineering consulting</a:t>
            </a:r>
          </a:p>
          <a:p>
            <a:pPr marL="285750" indent="-285750">
              <a:buFont typeface="Arial" panose="020B0604020202020204" pitchFamily="34" charset="0"/>
              <a:buChar char="•"/>
            </a:pPr>
            <a:r>
              <a:rPr lang="en-US" sz="1600" dirty="0">
                <a:latin typeface="Speak Pro" panose="020B0504020101020102" pitchFamily="34" charset="0"/>
              </a:rPr>
              <a:t>Architecture &amp; design firms</a:t>
            </a:r>
          </a:p>
          <a:p>
            <a:pPr marL="285750" indent="-285750">
              <a:buFont typeface="Arial" panose="020B0604020202020204" pitchFamily="34" charset="0"/>
              <a:buChar char="•"/>
            </a:pPr>
            <a:r>
              <a:rPr lang="en-US" sz="1600" dirty="0">
                <a:latin typeface="Speak Pro" panose="020B0504020101020102" pitchFamily="34" charset="0"/>
              </a:rPr>
              <a:t>Creative (film, music, arts)</a:t>
            </a:r>
          </a:p>
          <a:p>
            <a:pPr marL="285750" indent="-285750">
              <a:buFont typeface="Arial" panose="020B0604020202020204" pitchFamily="34" charset="0"/>
              <a:buChar char="•"/>
            </a:pPr>
            <a:r>
              <a:rPr lang="en-US" sz="1600" dirty="0">
                <a:latin typeface="Speak Pro" panose="020B0504020101020102" pitchFamily="34" charset="0"/>
              </a:rPr>
              <a:t>Legal, finance, advertising</a:t>
            </a:r>
          </a:p>
        </p:txBody>
      </p:sp>
      <p:sp>
        <p:nvSpPr>
          <p:cNvPr id="7" name="TextBox 6">
            <a:extLst>
              <a:ext uri="{FF2B5EF4-FFF2-40B4-BE49-F238E27FC236}">
                <a16:creationId xmlns:a16="http://schemas.microsoft.com/office/drawing/2014/main" id="{A0BE5FF7-27A6-4BDE-A4C0-24B19F62B77F}"/>
              </a:ext>
            </a:extLst>
          </p:cNvPr>
          <p:cNvSpPr txBox="1"/>
          <p:nvPr/>
        </p:nvSpPr>
        <p:spPr>
          <a:xfrm>
            <a:off x="821667" y="4252752"/>
            <a:ext cx="6094562" cy="184665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Speak Pro" panose="020B0504020101020102" pitchFamily="34" charset="0"/>
              </a:rPr>
              <a:t>Warehouses</a:t>
            </a:r>
          </a:p>
          <a:p>
            <a:pPr marL="285750" indent="-285750">
              <a:buFont typeface="Arial" panose="020B0604020202020204" pitchFamily="34" charset="0"/>
              <a:buChar char="•"/>
            </a:pPr>
            <a:r>
              <a:rPr lang="en-US" sz="1600" dirty="0">
                <a:latin typeface="Speak Pro" panose="020B0504020101020102" pitchFamily="34" charset="0"/>
              </a:rPr>
              <a:t>Logistics hubs</a:t>
            </a:r>
          </a:p>
          <a:p>
            <a:pPr marL="285750" indent="-285750">
              <a:buFont typeface="Arial" panose="020B0604020202020204" pitchFamily="34" charset="0"/>
              <a:buChar char="•"/>
            </a:pPr>
            <a:r>
              <a:rPr lang="en-US" sz="1600" dirty="0">
                <a:latin typeface="Speak Pro" panose="020B0504020101020102" pitchFamily="34" charset="0"/>
              </a:rPr>
              <a:t>Manufacturing plants</a:t>
            </a:r>
          </a:p>
          <a:p>
            <a:pPr marL="285750" indent="-285750">
              <a:buFont typeface="Arial" panose="020B0604020202020204" pitchFamily="34" charset="0"/>
              <a:buChar char="•"/>
            </a:pPr>
            <a:r>
              <a:rPr lang="en-US" sz="1600" dirty="0">
                <a:latin typeface="Speak Pro" panose="020B0504020101020102" pitchFamily="34" charset="0"/>
              </a:rPr>
              <a:t>Construction supply firms</a:t>
            </a:r>
          </a:p>
          <a:p>
            <a:pPr marL="285750" indent="-285750">
              <a:buFont typeface="Arial" panose="020B0604020202020204" pitchFamily="34" charset="0"/>
              <a:buChar char="•"/>
            </a:pPr>
            <a:r>
              <a:rPr lang="en-US" sz="1600" dirty="0">
                <a:latin typeface="Speak Pro" panose="020B0504020101020102" pitchFamily="34" charset="0"/>
              </a:rPr>
              <a:t>Gas stations</a:t>
            </a:r>
          </a:p>
          <a:p>
            <a:pPr marL="285750" indent="-285750">
              <a:buFont typeface="Arial" panose="020B0604020202020204" pitchFamily="34" charset="0"/>
              <a:buChar char="•"/>
            </a:pPr>
            <a:r>
              <a:rPr lang="en-US" sz="1600" dirty="0">
                <a:latin typeface="Speak Pro" panose="020B0504020101020102" pitchFamily="34" charset="0"/>
              </a:rPr>
              <a:t>Utilities (water, waste, power)</a:t>
            </a:r>
          </a:p>
          <a:p>
            <a:pPr marL="285750" indent="-285750">
              <a:buFont typeface="Arial" panose="020B0604020202020204" pitchFamily="34" charset="0"/>
              <a:buChar char="•"/>
            </a:pPr>
            <a:r>
              <a:rPr lang="en-US" sz="1600" dirty="0">
                <a:latin typeface="Speak Pro" panose="020B0504020101020102" pitchFamily="34" charset="0"/>
              </a:rPr>
              <a:t>Mining, extraction</a:t>
            </a:r>
          </a:p>
        </p:txBody>
      </p:sp>
      <p:sp>
        <p:nvSpPr>
          <p:cNvPr id="9" name="TextBox 8">
            <a:extLst>
              <a:ext uri="{FF2B5EF4-FFF2-40B4-BE49-F238E27FC236}">
                <a16:creationId xmlns:a16="http://schemas.microsoft.com/office/drawing/2014/main" id="{528671A7-1DD2-7C73-780B-B98B252344BA}"/>
              </a:ext>
            </a:extLst>
          </p:cNvPr>
          <p:cNvSpPr txBox="1"/>
          <p:nvPr/>
        </p:nvSpPr>
        <p:spPr>
          <a:xfrm>
            <a:off x="5047188" y="4252752"/>
            <a:ext cx="6133380" cy="156966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Speak Pro" panose="020B0504020101020102" pitchFamily="34" charset="0"/>
              </a:rPr>
              <a:t>Restaurants</a:t>
            </a:r>
          </a:p>
          <a:p>
            <a:pPr marL="285750" indent="-285750">
              <a:buFont typeface="Arial" panose="020B0604020202020204" pitchFamily="34" charset="0"/>
              <a:buChar char="•"/>
            </a:pPr>
            <a:r>
              <a:rPr lang="en-US" sz="1600" dirty="0">
                <a:latin typeface="Speak Pro" panose="020B0504020101020102" pitchFamily="34" charset="0"/>
              </a:rPr>
              <a:t>Cafes, bars </a:t>
            </a:r>
          </a:p>
          <a:p>
            <a:pPr marL="285750" indent="-285750">
              <a:buFont typeface="Arial" panose="020B0604020202020204" pitchFamily="34" charset="0"/>
              <a:buChar char="•"/>
            </a:pPr>
            <a:r>
              <a:rPr lang="en-US" sz="1600" dirty="0">
                <a:latin typeface="Speak Pro" panose="020B0504020101020102" pitchFamily="34" charset="0"/>
              </a:rPr>
              <a:t>Grocery stores</a:t>
            </a:r>
          </a:p>
          <a:p>
            <a:pPr marL="285750" indent="-285750">
              <a:buFont typeface="Arial" panose="020B0604020202020204" pitchFamily="34" charset="0"/>
              <a:buChar char="•"/>
            </a:pPr>
            <a:r>
              <a:rPr lang="en-US" sz="1600" dirty="0">
                <a:latin typeface="Speak Pro" panose="020B0504020101020102" pitchFamily="34" charset="0"/>
              </a:rPr>
              <a:t>Pharmacies</a:t>
            </a:r>
          </a:p>
          <a:p>
            <a:pPr marL="285750" indent="-285750">
              <a:buFont typeface="Arial" panose="020B0604020202020204" pitchFamily="34" charset="0"/>
              <a:buChar char="•"/>
            </a:pPr>
            <a:r>
              <a:rPr lang="en-US" sz="1600" dirty="0">
                <a:latin typeface="Speak Pro" panose="020B0504020101020102" pitchFamily="34" charset="0"/>
              </a:rPr>
              <a:t>Big-box retail</a:t>
            </a:r>
          </a:p>
          <a:p>
            <a:pPr marL="285750" indent="-285750">
              <a:buFont typeface="Arial" panose="020B0604020202020204" pitchFamily="34" charset="0"/>
              <a:buChar char="•"/>
            </a:pPr>
            <a:r>
              <a:rPr lang="en-US" sz="1600" dirty="0">
                <a:latin typeface="Speak Pro" panose="020B0504020101020102" pitchFamily="34" charset="0"/>
              </a:rPr>
              <a:t>Salons, laundromats</a:t>
            </a:r>
          </a:p>
        </p:txBody>
      </p:sp>
      <p:sp>
        <p:nvSpPr>
          <p:cNvPr id="10" name="TextBox 9">
            <a:extLst>
              <a:ext uri="{FF2B5EF4-FFF2-40B4-BE49-F238E27FC236}">
                <a16:creationId xmlns:a16="http://schemas.microsoft.com/office/drawing/2014/main" id="{E6B96D3F-E3D9-3209-D508-795FE540D843}"/>
              </a:ext>
            </a:extLst>
          </p:cNvPr>
          <p:cNvSpPr txBox="1"/>
          <p:nvPr/>
        </p:nvSpPr>
        <p:spPr>
          <a:xfrm>
            <a:off x="1147313" y="1076984"/>
            <a:ext cx="1064715" cy="461665"/>
          </a:xfrm>
          <a:prstGeom prst="rect">
            <a:avLst/>
          </a:prstGeom>
          <a:noFill/>
        </p:spPr>
        <p:txBody>
          <a:bodyPr wrap="none" rtlCol="0">
            <a:spAutoFit/>
          </a:bodyPr>
          <a:lstStyle/>
          <a:p>
            <a:r>
              <a:rPr lang="en-US" sz="2400" b="1" dirty="0">
                <a:solidFill>
                  <a:srgbClr val="3F8EDA"/>
                </a:solidFill>
                <a:latin typeface="Oswald" panose="00000500000000000000" pitchFamily="2" charset="0"/>
              </a:rPr>
              <a:t>B=0.85</a:t>
            </a:r>
          </a:p>
        </p:txBody>
      </p:sp>
      <p:sp>
        <p:nvSpPr>
          <p:cNvPr id="11" name="TextBox 10">
            <a:extLst>
              <a:ext uri="{FF2B5EF4-FFF2-40B4-BE49-F238E27FC236}">
                <a16:creationId xmlns:a16="http://schemas.microsoft.com/office/drawing/2014/main" id="{21A796FC-F1F0-2116-5E64-19FADAD54AEB}"/>
              </a:ext>
            </a:extLst>
          </p:cNvPr>
          <p:cNvSpPr txBox="1"/>
          <p:nvPr/>
        </p:nvSpPr>
        <p:spPr>
          <a:xfrm>
            <a:off x="5185244" y="1071505"/>
            <a:ext cx="622286" cy="461665"/>
          </a:xfrm>
          <a:prstGeom prst="rect">
            <a:avLst/>
          </a:prstGeom>
          <a:noFill/>
        </p:spPr>
        <p:txBody>
          <a:bodyPr wrap="none" rtlCol="0">
            <a:spAutoFit/>
          </a:bodyPr>
          <a:lstStyle/>
          <a:p>
            <a:r>
              <a:rPr lang="en-US" sz="2400" b="1" dirty="0">
                <a:solidFill>
                  <a:srgbClr val="3F8EDA"/>
                </a:solidFill>
                <a:latin typeface="Oswald" panose="00000500000000000000" pitchFamily="2" charset="0"/>
              </a:rPr>
              <a:t>B=1</a:t>
            </a:r>
          </a:p>
        </p:txBody>
      </p:sp>
      <p:sp>
        <p:nvSpPr>
          <p:cNvPr id="12" name="TextBox 11">
            <a:extLst>
              <a:ext uri="{FF2B5EF4-FFF2-40B4-BE49-F238E27FC236}">
                <a16:creationId xmlns:a16="http://schemas.microsoft.com/office/drawing/2014/main" id="{F059BD43-DDED-ACF1-D435-E6B6104F24EC}"/>
              </a:ext>
            </a:extLst>
          </p:cNvPr>
          <p:cNvSpPr txBox="1"/>
          <p:nvPr/>
        </p:nvSpPr>
        <p:spPr>
          <a:xfrm>
            <a:off x="8780746" y="1071505"/>
            <a:ext cx="974947" cy="461665"/>
          </a:xfrm>
          <a:prstGeom prst="rect">
            <a:avLst/>
          </a:prstGeom>
          <a:noFill/>
        </p:spPr>
        <p:txBody>
          <a:bodyPr wrap="none" rtlCol="0">
            <a:spAutoFit/>
          </a:bodyPr>
          <a:lstStyle/>
          <a:p>
            <a:r>
              <a:rPr lang="en-US" sz="2400" b="1" dirty="0">
                <a:solidFill>
                  <a:srgbClr val="3F8EDA"/>
                </a:solidFill>
                <a:latin typeface="Oswald" panose="00000500000000000000" pitchFamily="2" charset="0"/>
              </a:rPr>
              <a:t>B=1.15</a:t>
            </a:r>
          </a:p>
        </p:txBody>
      </p:sp>
    </p:spTree>
    <p:extLst>
      <p:ext uri="{BB962C8B-B14F-4D97-AF65-F5344CB8AC3E}">
        <p14:creationId xmlns:p14="http://schemas.microsoft.com/office/powerpoint/2010/main" val="3523420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D37C03-6307-DBEF-B2F6-92BD9A6AB33A}"/>
              </a:ext>
            </a:extLst>
          </p:cNvPr>
          <p:cNvSpPr>
            <a:spLocks noGrp="1"/>
          </p:cNvSpPr>
          <p:nvPr>
            <p:ph type="sldNum" sz="quarter" idx="12"/>
          </p:nvPr>
        </p:nvSpPr>
        <p:spPr/>
        <p:txBody>
          <a:bodyPr/>
          <a:lstStyle/>
          <a:p>
            <a:fld id="{F3963908-5577-44A4-91B0-79992FE49834}" type="slidenum">
              <a:rPr lang="en-US" smtClean="0"/>
              <a:t>7</a:t>
            </a:fld>
            <a:endParaRPr lang="en-US"/>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FBA3793-C660-3FF4-B972-D9B26D422F23}"/>
                  </a:ext>
                </a:extLst>
              </p:cNvPr>
              <p:cNvSpPr txBox="1"/>
              <p:nvPr/>
            </p:nvSpPr>
            <p:spPr>
              <a:xfrm>
                <a:off x="1019863" y="209743"/>
                <a:ext cx="8063752" cy="6247864"/>
              </a:xfrm>
              <a:prstGeom prst="rect">
                <a:avLst/>
              </a:prstGeom>
              <a:noFill/>
            </p:spPr>
            <p:txBody>
              <a:bodyPr wrap="square">
                <a:spAutoFit/>
              </a:bodyPr>
              <a:lstStyle/>
              <a:p>
                <a:pPr>
                  <a:buNone/>
                </a:pPr>
                <a:r>
                  <a:rPr lang="en-US" sz="3600" b="1" cap="all" dirty="0">
                    <a:solidFill>
                      <a:srgbClr val="F56928"/>
                    </a:solidFill>
                    <a:latin typeface="Oswald" panose="00000500000000000000" pitchFamily="2" charset="0"/>
                  </a:rPr>
                  <a:t>SCALING Human Services</a:t>
                </a:r>
              </a:p>
              <a:p>
                <a:pPr>
                  <a:buNone/>
                </a:pPr>
                <a:endParaRPr lang="en-US" sz="2000" dirty="0"/>
              </a:p>
              <a:p>
                <a:pPr>
                  <a:buNone/>
                </a:pPr>
                <a:r>
                  <a:rPr lang="en-US" sz="2000" dirty="0"/>
                  <a:t>Services that satisfy </a:t>
                </a:r>
                <a:r>
                  <a:rPr lang="en-US" sz="2400" b="1" i="1" dirty="0">
                    <a:solidFill>
                      <a:schemeClr val="accent2"/>
                    </a:solidFill>
                  </a:rPr>
                  <a:t>individual human needs</a:t>
                </a:r>
                <a:r>
                  <a:rPr lang="en-US" sz="2400" b="1" dirty="0">
                    <a:solidFill>
                      <a:schemeClr val="accent2"/>
                    </a:solidFill>
                  </a:rPr>
                  <a:t> </a:t>
                </a:r>
                <a:r>
                  <a:rPr lang="en-US" sz="2000" dirty="0"/>
                  <a:t>tend to scale with </a:t>
                </a:r>
                <a:r>
                  <a:rPr lang="en-US" sz="2000" b="1" dirty="0"/>
                  <a:t>β ≈ 1</a:t>
                </a:r>
                <a:r>
                  <a:rPr lang="en-US" sz="2000" dirty="0"/>
                  <a:t>, because demand is roughly proportional to population:</a:t>
                </a:r>
              </a:p>
              <a:p>
                <a:pPr>
                  <a:buNone/>
                </a:pPr>
                <a:endParaRPr lang="en-US" sz="2000" dirty="0"/>
              </a:p>
              <a:p>
                <a:pPr marL="285750" indent="-285750">
                  <a:buFont typeface="Arial" panose="020B0604020202020204" pitchFamily="34" charset="0"/>
                  <a:buChar char="•"/>
                </a:pPr>
                <a:r>
                  <a:rPr lang="en-US" sz="2000" dirty="0"/>
                  <a:t>grocery stores</a:t>
                </a:r>
              </a:p>
              <a:p>
                <a:pPr marL="285750" indent="-285750">
                  <a:buFont typeface="Arial" panose="020B0604020202020204" pitchFamily="34" charset="0"/>
                  <a:buChar char="•"/>
                </a:pPr>
                <a:r>
                  <a:rPr lang="en-US" sz="2000" dirty="0"/>
                  <a:t>pharmacies</a:t>
                </a:r>
              </a:p>
              <a:p>
                <a:pPr marL="285750" indent="-285750">
                  <a:buFont typeface="Arial" panose="020B0604020202020204" pitchFamily="34" charset="0"/>
                  <a:buChar char="•"/>
                </a:pPr>
                <a:r>
                  <a:rPr lang="en-US" sz="2000" dirty="0"/>
                  <a:t>barbers</a:t>
                </a:r>
              </a:p>
              <a:p>
                <a:pPr marL="285750" indent="-285750">
                  <a:buFont typeface="Arial" panose="020B0604020202020204" pitchFamily="34" charset="0"/>
                  <a:buChar char="•"/>
                </a:pPr>
                <a:r>
                  <a:rPr lang="en-US" sz="2000" dirty="0"/>
                  <a:t>restaurants</a:t>
                </a:r>
              </a:p>
              <a:p>
                <a:pPr marL="285750" indent="-285750">
                  <a:buFont typeface="Arial" panose="020B0604020202020204" pitchFamily="34" charset="0"/>
                  <a:buChar char="•"/>
                </a:pPr>
                <a:r>
                  <a:rPr lang="en-US" sz="2000" dirty="0"/>
                  <a:t>basic retail</a:t>
                </a:r>
              </a:p>
              <a:p>
                <a:pPr>
                  <a:buNone/>
                </a:pPr>
                <a:endParaRPr lang="en-US" sz="2000" dirty="0"/>
              </a:p>
              <a:p>
                <a:r>
                  <a:rPr lang="en-US" sz="2000" b="1" dirty="0"/>
                  <a:t>Restaurant Establishments Scaling Exponent:   </a:t>
                </a:r>
                <a14:m>
                  <m:oMath xmlns:m="http://schemas.openxmlformats.org/officeDocument/2006/math">
                    <m:sSub>
                      <m:sSubPr>
                        <m:ctrlPr>
                          <a:rPr lang="ar-AE" sz="2000" b="1"/>
                        </m:ctrlPr>
                      </m:sSubPr>
                      <m:e>
                        <m:r>
                          <a:rPr lang="ar-AE" sz="2000" b="1" i="1"/>
                          <m:t>𝜷</m:t>
                        </m:r>
                      </m:e>
                      <m:sub>
                        <m:r>
                          <m:rPr>
                            <m:nor/>
                          </m:rPr>
                          <a:rPr lang="en-US" sz="2000" b="1" i="1"/>
                          <m:t>restaurants</m:t>
                        </m:r>
                      </m:sub>
                    </m:sSub>
                    <m:r>
                      <a:rPr lang="ar-AE" sz="2000" b="1"/>
                      <m:t>≈</m:t>
                    </m:r>
                    <m:r>
                      <a:rPr lang="en-US" sz="2000" b="1" i="1"/>
                      <m:t>𝟏</m:t>
                    </m:r>
                    <m:r>
                      <a:rPr lang="en-US" sz="2000" b="1"/>
                      <m:t>.</m:t>
                    </m:r>
                    <m:r>
                      <a:rPr lang="en-US" sz="2000" b="1" i="1"/>
                      <m:t>𝟎𝟓</m:t>
                    </m:r>
                  </m:oMath>
                </a14:m>
                <a:endParaRPr lang="en-US" sz="2000" b="1" dirty="0"/>
              </a:p>
              <a:p>
                <a:endParaRPr lang="en-US" sz="2000" dirty="0"/>
              </a:p>
              <a:p>
                <a:r>
                  <a:rPr lang="en-US" sz="2000" dirty="0"/>
                  <a:t>Slightly </a:t>
                </a:r>
                <a:r>
                  <a:rPr lang="en-US" sz="2000" dirty="0" err="1"/>
                  <a:t>superlinear</a:t>
                </a:r>
                <a:r>
                  <a:rPr lang="en-US" sz="2000" dirty="0"/>
                  <a:t> because larger cities have more:</a:t>
                </a:r>
              </a:p>
              <a:p>
                <a:endParaRPr lang="en-US" sz="2000" dirty="0"/>
              </a:p>
              <a:p>
                <a:pPr marL="285750" indent="-285750">
                  <a:buFont typeface="Arial" panose="020B0604020202020204" pitchFamily="34" charset="0"/>
                  <a:buChar char="•"/>
                </a:pPr>
                <a:r>
                  <a:rPr lang="en-US" sz="2000" dirty="0"/>
                  <a:t>tourism</a:t>
                </a:r>
              </a:p>
              <a:p>
                <a:pPr marL="285750" indent="-285750">
                  <a:buFont typeface="Arial" panose="020B0604020202020204" pitchFamily="34" charset="0"/>
                  <a:buChar char="•"/>
                </a:pPr>
                <a:r>
                  <a:rPr lang="en-US" sz="2000" dirty="0"/>
                  <a:t>cultural diversity</a:t>
                </a:r>
              </a:p>
              <a:p>
                <a:pPr marL="285750" indent="-285750">
                  <a:buFont typeface="Arial" panose="020B0604020202020204" pitchFamily="34" charset="0"/>
                  <a:buChar char="•"/>
                </a:pPr>
                <a:r>
                  <a:rPr lang="en-US" sz="2000" dirty="0"/>
                  <a:t>higher restaurant turnover</a:t>
                </a:r>
              </a:p>
              <a:p>
                <a:pPr marL="285750" indent="-285750">
                  <a:buFont typeface="Arial" panose="020B0604020202020204" pitchFamily="34" charset="0"/>
                  <a:buChar char="•"/>
                </a:pPr>
                <a:r>
                  <a:rPr lang="en-US" sz="2000" dirty="0"/>
                  <a:t>disposable income</a:t>
                </a:r>
              </a:p>
            </p:txBody>
          </p:sp>
        </mc:Choice>
        <mc:Fallback>
          <p:sp>
            <p:nvSpPr>
              <p:cNvPr id="4" name="TextBox 3">
                <a:extLst>
                  <a:ext uri="{FF2B5EF4-FFF2-40B4-BE49-F238E27FC236}">
                    <a16:creationId xmlns:a16="http://schemas.microsoft.com/office/drawing/2014/main" id="{2FBA3793-C660-3FF4-B972-D9B26D422F23}"/>
                  </a:ext>
                </a:extLst>
              </p:cNvPr>
              <p:cNvSpPr txBox="1">
                <a:spLocks noRot="1" noChangeAspect="1" noMove="1" noResize="1" noEditPoints="1" noAdjustHandles="1" noChangeArrowheads="1" noChangeShapeType="1" noTextEdit="1"/>
              </p:cNvSpPr>
              <p:nvPr/>
            </p:nvSpPr>
            <p:spPr>
              <a:xfrm>
                <a:off x="1019863" y="209743"/>
                <a:ext cx="8063752" cy="6247864"/>
              </a:xfrm>
              <a:prstGeom prst="rect">
                <a:avLst/>
              </a:prstGeom>
              <a:blipFill>
                <a:blip r:embed="rId2"/>
                <a:stretch>
                  <a:fillRect l="-2268" t="-1463" b="-780"/>
                </a:stretch>
              </a:blipFill>
            </p:spPr>
            <p:txBody>
              <a:bodyPr/>
              <a:lstStyle/>
              <a:p>
                <a:r>
                  <a:rPr lang="en-US">
                    <a:noFill/>
                  </a:rPr>
                  <a:t> </a:t>
                </a:r>
              </a:p>
            </p:txBody>
          </p:sp>
        </mc:Fallback>
      </mc:AlternateContent>
    </p:spTree>
    <p:extLst>
      <p:ext uri="{BB962C8B-B14F-4D97-AF65-F5344CB8AC3E}">
        <p14:creationId xmlns:p14="http://schemas.microsoft.com/office/powerpoint/2010/main" val="1532164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B592C6-10DE-EBFE-5646-F3142BF81A47}"/>
              </a:ext>
            </a:extLst>
          </p:cNvPr>
          <p:cNvSpPr>
            <a:spLocks noGrp="1"/>
          </p:cNvSpPr>
          <p:nvPr>
            <p:ph type="sldNum" sz="quarter" idx="12"/>
          </p:nvPr>
        </p:nvSpPr>
        <p:spPr/>
        <p:txBody>
          <a:bodyPr/>
          <a:lstStyle/>
          <a:p>
            <a:fld id="{F3963908-5577-44A4-91B0-79992FE49834}" type="slidenum">
              <a:rPr lang="en-US" smtClean="0"/>
              <a:t>8</a:t>
            </a:fld>
            <a:endParaRPr lang="en-US"/>
          </a:p>
        </p:txBody>
      </p:sp>
      <p:pic>
        <p:nvPicPr>
          <p:cNvPr id="5" name="Picture 4">
            <a:extLst>
              <a:ext uri="{FF2B5EF4-FFF2-40B4-BE49-F238E27FC236}">
                <a16:creationId xmlns:a16="http://schemas.microsoft.com/office/drawing/2014/main" id="{BDB8ADD2-DA58-F494-92A8-DBEBC390FD7F}"/>
              </a:ext>
            </a:extLst>
          </p:cNvPr>
          <p:cNvPicPr>
            <a:picLocks noChangeAspect="1"/>
          </p:cNvPicPr>
          <p:nvPr/>
        </p:nvPicPr>
        <p:blipFill>
          <a:blip r:embed="rId2"/>
          <a:stretch>
            <a:fillRect/>
          </a:stretch>
        </p:blipFill>
        <p:spPr>
          <a:xfrm>
            <a:off x="390504" y="0"/>
            <a:ext cx="7787898" cy="6858000"/>
          </a:xfrm>
          <a:prstGeom prst="rect">
            <a:avLst/>
          </a:prstGeom>
        </p:spPr>
      </p:pic>
      <p:sp>
        <p:nvSpPr>
          <p:cNvPr id="4" name="TextBox 3">
            <a:extLst>
              <a:ext uri="{FF2B5EF4-FFF2-40B4-BE49-F238E27FC236}">
                <a16:creationId xmlns:a16="http://schemas.microsoft.com/office/drawing/2014/main" id="{D553A967-FAFB-7D6F-496A-B7B4643B0AC4}"/>
              </a:ext>
            </a:extLst>
          </p:cNvPr>
          <p:cNvSpPr txBox="1"/>
          <p:nvPr/>
        </p:nvSpPr>
        <p:spPr>
          <a:xfrm>
            <a:off x="8490549" y="1797047"/>
            <a:ext cx="3405026" cy="2677656"/>
          </a:xfrm>
          <a:prstGeom prst="rect">
            <a:avLst/>
          </a:prstGeom>
          <a:noFill/>
        </p:spPr>
        <p:txBody>
          <a:bodyPr wrap="square">
            <a:spAutoFit/>
          </a:bodyPr>
          <a:lstStyle/>
          <a:p>
            <a:pPr algn="ctr">
              <a:buNone/>
            </a:pPr>
            <a:r>
              <a:rPr lang="en-US" sz="2800" b="1" i="0" dirty="0">
                <a:solidFill>
                  <a:srgbClr val="333132"/>
                </a:solidFill>
                <a:effectLst/>
                <a:latin typeface="Proxima Nova"/>
              </a:rPr>
              <a:t>Evidence for localization and urbanization economies in urban scaling</a:t>
            </a:r>
            <a:r>
              <a:rPr lang="en-US" sz="2800" b="1" dirty="0">
                <a:solidFill>
                  <a:srgbClr val="333132"/>
                </a:solidFill>
                <a:latin typeface="Proxima Nova"/>
              </a:rPr>
              <a:t> (2020)</a:t>
            </a:r>
            <a:endParaRPr lang="en-US" sz="2800" b="1" i="0" dirty="0">
              <a:solidFill>
                <a:srgbClr val="333132"/>
              </a:solidFill>
              <a:effectLst/>
              <a:latin typeface="Proxima Nova"/>
            </a:endParaRPr>
          </a:p>
        </p:txBody>
      </p:sp>
    </p:spTree>
    <p:extLst>
      <p:ext uri="{BB962C8B-B14F-4D97-AF65-F5344CB8AC3E}">
        <p14:creationId xmlns:p14="http://schemas.microsoft.com/office/powerpoint/2010/main" val="3016698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AA7A-64A5-EC01-37F4-6FBD8EF682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9DC7CD-7DCE-FA24-7292-C8169E737350}"/>
              </a:ext>
            </a:extLst>
          </p:cNvPr>
          <p:cNvSpPr>
            <a:spLocks noGrp="1"/>
          </p:cNvSpPr>
          <p:nvPr>
            <p:ph type="sldNum" sz="quarter" idx="12"/>
          </p:nvPr>
        </p:nvSpPr>
        <p:spPr/>
        <p:txBody>
          <a:bodyPr/>
          <a:lstStyle/>
          <a:p>
            <a:fld id="{F3963908-5577-44A4-91B0-79992FE49834}" type="slidenum">
              <a:rPr lang="en-US" smtClean="0"/>
              <a:t>9</a:t>
            </a:fld>
            <a:endParaRPr lang="en-US"/>
          </a:p>
        </p:txBody>
      </p:sp>
      <p:sp>
        <p:nvSpPr>
          <p:cNvPr id="4" name="TextBox 3">
            <a:extLst>
              <a:ext uri="{FF2B5EF4-FFF2-40B4-BE49-F238E27FC236}">
                <a16:creationId xmlns:a16="http://schemas.microsoft.com/office/drawing/2014/main" id="{54604987-578B-74EF-48DA-1E6F4B549A32}"/>
              </a:ext>
            </a:extLst>
          </p:cNvPr>
          <p:cNvSpPr txBox="1"/>
          <p:nvPr/>
        </p:nvSpPr>
        <p:spPr>
          <a:xfrm>
            <a:off x="2167745" y="550593"/>
            <a:ext cx="8080436" cy="3631763"/>
          </a:xfrm>
          <a:prstGeom prst="rect">
            <a:avLst/>
          </a:prstGeom>
          <a:noFill/>
        </p:spPr>
        <p:txBody>
          <a:bodyPr wrap="square">
            <a:spAutoFit/>
          </a:bodyPr>
          <a:lstStyle/>
          <a:p>
            <a:pPr>
              <a:buNone/>
            </a:pPr>
            <a:r>
              <a:rPr lang="en-US" sz="3200" b="1" cap="all" dirty="0">
                <a:solidFill>
                  <a:srgbClr val="F56928"/>
                </a:solidFill>
                <a:latin typeface="Oswald" panose="00000500000000000000" pitchFamily="2" charset="0"/>
              </a:rPr>
              <a:t>The Statistical Laws of Cities</a:t>
            </a:r>
          </a:p>
          <a:p>
            <a:pPr>
              <a:buNone/>
            </a:pPr>
            <a:endParaRPr lang="en-US" b="1" dirty="0"/>
          </a:p>
          <a:p>
            <a:pPr>
              <a:buNone/>
            </a:pPr>
            <a:endParaRPr lang="en-US" b="1" dirty="0"/>
          </a:p>
          <a:p>
            <a:pPr>
              <a:buFont typeface="+mj-lt"/>
              <a:buAutoNum type="arabicPeriod"/>
            </a:pPr>
            <a:r>
              <a:rPr lang="en-US" sz="2400" b="1" dirty="0"/>
              <a:t> Cities follow universal scaling laws</a:t>
            </a:r>
            <a:r>
              <a:rPr lang="en-US" sz="2400" dirty="0"/>
              <a:t> — innovation and problems grow </a:t>
            </a:r>
            <a:r>
              <a:rPr lang="en-US" sz="2400" dirty="0" err="1"/>
              <a:t>superlinearly</a:t>
            </a:r>
            <a:r>
              <a:rPr lang="en-US" sz="2400" dirty="0"/>
              <a:t>, infrastructure grows </a:t>
            </a:r>
            <a:r>
              <a:rPr lang="en-US" sz="2400" dirty="0" err="1"/>
              <a:t>sublinearly</a:t>
            </a:r>
            <a:r>
              <a:rPr lang="en-US" sz="2400" dirty="0"/>
              <a:t>.</a:t>
            </a:r>
          </a:p>
          <a:p>
            <a:pPr>
              <a:buFont typeface="+mj-lt"/>
              <a:buAutoNum type="arabicPeriod"/>
            </a:pPr>
            <a:endParaRPr lang="en-US" sz="2400" dirty="0"/>
          </a:p>
          <a:p>
            <a:pPr>
              <a:buFont typeface="+mj-lt"/>
              <a:buAutoNum type="arabicPeriod"/>
            </a:pPr>
            <a:r>
              <a:rPr lang="en-US" sz="2400" b="1" dirty="0"/>
              <a:t> Social networks drive city performance</a:t>
            </a:r>
            <a:r>
              <a:rPr lang="en-US" sz="2400" dirty="0"/>
              <a:t> — cities are engines of interaction.</a:t>
            </a:r>
          </a:p>
          <a:p>
            <a:pPr>
              <a:buFont typeface="+mj-lt"/>
              <a:buAutoNum type="arabicPeriod"/>
            </a:pPr>
            <a:endParaRPr lang="en-US" sz="2400" dirty="0"/>
          </a:p>
          <a:p>
            <a:endParaRPr lang="en-US" dirty="0"/>
          </a:p>
        </p:txBody>
      </p:sp>
      <p:pic>
        <p:nvPicPr>
          <p:cNvPr id="3" name="Picture 2">
            <a:extLst>
              <a:ext uri="{FF2B5EF4-FFF2-40B4-BE49-F238E27FC236}">
                <a16:creationId xmlns:a16="http://schemas.microsoft.com/office/drawing/2014/main" id="{A06190D9-08D0-5B6A-50FB-CCA5E21B01AD}"/>
              </a:ext>
            </a:extLst>
          </p:cNvPr>
          <p:cNvPicPr>
            <a:picLocks noChangeAspect="1"/>
          </p:cNvPicPr>
          <p:nvPr/>
        </p:nvPicPr>
        <p:blipFill>
          <a:blip r:embed="rId2"/>
          <a:stretch>
            <a:fillRect/>
          </a:stretch>
        </p:blipFill>
        <p:spPr>
          <a:xfrm>
            <a:off x="2977760" y="3920721"/>
            <a:ext cx="6460405" cy="2435629"/>
          </a:xfrm>
          <a:prstGeom prst="rect">
            <a:avLst/>
          </a:prstGeom>
        </p:spPr>
      </p:pic>
    </p:spTree>
    <p:extLst>
      <p:ext uri="{BB962C8B-B14F-4D97-AF65-F5344CB8AC3E}">
        <p14:creationId xmlns:p14="http://schemas.microsoft.com/office/powerpoint/2010/main" val="842742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061DC-A94A-22AA-0CCA-E6AE233B64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970A6-D0A0-16F0-5C27-1E1E5CD1F178}"/>
              </a:ext>
            </a:extLst>
          </p:cNvPr>
          <p:cNvSpPr>
            <a:spLocks noGrp="1"/>
          </p:cNvSpPr>
          <p:nvPr>
            <p:ph type="sldNum" sz="quarter" idx="12"/>
          </p:nvPr>
        </p:nvSpPr>
        <p:spPr/>
        <p:txBody>
          <a:bodyPr/>
          <a:lstStyle/>
          <a:p>
            <a:fld id="{F3963908-5577-44A4-91B0-79992FE49834}" type="slidenum">
              <a:rPr lang="en-US" smtClean="0"/>
              <a:t>10</a:t>
            </a:fld>
            <a:endParaRPr lang="en-US"/>
          </a:p>
        </p:txBody>
      </p:sp>
      <p:sp>
        <p:nvSpPr>
          <p:cNvPr id="4" name="TextBox 3">
            <a:extLst>
              <a:ext uri="{FF2B5EF4-FFF2-40B4-BE49-F238E27FC236}">
                <a16:creationId xmlns:a16="http://schemas.microsoft.com/office/drawing/2014/main" id="{859D7861-25A7-9305-08A5-4BFC5592719B}"/>
              </a:ext>
            </a:extLst>
          </p:cNvPr>
          <p:cNvSpPr txBox="1"/>
          <p:nvPr/>
        </p:nvSpPr>
        <p:spPr>
          <a:xfrm>
            <a:off x="2167745" y="550593"/>
            <a:ext cx="8080436" cy="5478423"/>
          </a:xfrm>
          <a:prstGeom prst="rect">
            <a:avLst/>
          </a:prstGeom>
          <a:noFill/>
        </p:spPr>
        <p:txBody>
          <a:bodyPr wrap="square">
            <a:spAutoFit/>
          </a:bodyPr>
          <a:lstStyle/>
          <a:p>
            <a:pPr>
              <a:buNone/>
            </a:pPr>
            <a:r>
              <a:rPr lang="en-US" sz="3200" b="1" cap="all" dirty="0">
                <a:solidFill>
                  <a:srgbClr val="F56928"/>
                </a:solidFill>
                <a:latin typeface="Oswald" panose="00000500000000000000" pitchFamily="2" charset="0"/>
              </a:rPr>
              <a:t>The Statistical Laws of Cities</a:t>
            </a:r>
          </a:p>
          <a:p>
            <a:pPr>
              <a:buNone/>
            </a:pPr>
            <a:endParaRPr lang="en-US" b="1" dirty="0"/>
          </a:p>
          <a:p>
            <a:pPr>
              <a:buNone/>
            </a:pPr>
            <a:endParaRPr lang="en-US" b="1" dirty="0"/>
          </a:p>
          <a:p>
            <a:pPr>
              <a:buFont typeface="+mj-lt"/>
              <a:buAutoNum type="arabicPeriod"/>
            </a:pPr>
            <a:r>
              <a:rPr lang="en-US" sz="2400" b="1" dirty="0"/>
              <a:t> Cities follow universal scaling laws</a:t>
            </a:r>
            <a:r>
              <a:rPr lang="en-US" sz="2400" dirty="0"/>
              <a:t> — innovation and problems grow </a:t>
            </a:r>
            <a:r>
              <a:rPr lang="en-US" sz="2400" dirty="0" err="1"/>
              <a:t>superlinearly</a:t>
            </a:r>
            <a:r>
              <a:rPr lang="en-US" sz="2400" dirty="0"/>
              <a:t>, infrastructure grows </a:t>
            </a:r>
            <a:r>
              <a:rPr lang="en-US" sz="2400" dirty="0" err="1"/>
              <a:t>sublinearly</a:t>
            </a:r>
            <a:r>
              <a:rPr lang="en-US" sz="2400" dirty="0"/>
              <a:t>.</a:t>
            </a:r>
          </a:p>
          <a:p>
            <a:pPr>
              <a:buFont typeface="+mj-lt"/>
              <a:buAutoNum type="arabicPeriod"/>
            </a:pPr>
            <a:endParaRPr lang="en-US" sz="2400" dirty="0"/>
          </a:p>
          <a:p>
            <a:pPr>
              <a:buFont typeface="+mj-lt"/>
              <a:buAutoNum type="arabicPeriod"/>
            </a:pPr>
            <a:r>
              <a:rPr lang="en-US" sz="2400" b="1" dirty="0"/>
              <a:t> Social networks drive city performance</a:t>
            </a:r>
            <a:r>
              <a:rPr lang="en-US" sz="2400" dirty="0"/>
              <a:t> — cities are engines of interaction.</a:t>
            </a:r>
          </a:p>
          <a:p>
            <a:pPr>
              <a:buFont typeface="+mj-lt"/>
              <a:buAutoNum type="arabicPeriod"/>
            </a:pPr>
            <a:endParaRPr lang="en-US" sz="2400" dirty="0"/>
          </a:p>
          <a:p>
            <a:pPr>
              <a:buFont typeface="+mj-lt"/>
              <a:buAutoNum type="arabicPeriod"/>
            </a:pPr>
            <a:r>
              <a:rPr lang="en-US" sz="2400" b="1" dirty="0"/>
              <a:t> Large cities are more efficient yet more challenging</a:t>
            </a:r>
            <a:r>
              <a:rPr lang="en-US" sz="2400" dirty="0"/>
              <a:t> — both productivity and crime rise faster than population.</a:t>
            </a:r>
          </a:p>
          <a:p>
            <a:pPr>
              <a:buFont typeface="+mj-lt"/>
              <a:buAutoNum type="arabicPeriod"/>
            </a:pPr>
            <a:endParaRPr lang="en-US" sz="2400" dirty="0"/>
          </a:p>
          <a:p>
            <a:pPr>
              <a:buFont typeface="+mj-lt"/>
              <a:buAutoNum type="arabicPeriod"/>
            </a:pPr>
            <a:r>
              <a:rPr lang="en-US" sz="2400" b="1" dirty="0"/>
              <a:t> Cities must innovate faster as they grow</a:t>
            </a:r>
            <a:r>
              <a:rPr lang="en-US" sz="2400" dirty="0"/>
              <a:t> — to avoid collapse or stagnation.</a:t>
            </a:r>
          </a:p>
          <a:p>
            <a:endParaRPr lang="en-US" dirty="0"/>
          </a:p>
        </p:txBody>
      </p:sp>
    </p:spTree>
    <p:extLst>
      <p:ext uri="{BB962C8B-B14F-4D97-AF65-F5344CB8AC3E}">
        <p14:creationId xmlns:p14="http://schemas.microsoft.com/office/powerpoint/2010/main" val="1092074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85F23F-9425-7FDC-CDEC-11A7B5C2D469}"/>
              </a:ext>
            </a:extLst>
          </p:cNvPr>
          <p:cNvSpPr>
            <a:spLocks noGrp="1"/>
          </p:cNvSpPr>
          <p:nvPr>
            <p:ph type="sldNum" sz="quarter" idx="12"/>
          </p:nvPr>
        </p:nvSpPr>
        <p:spPr/>
        <p:txBody>
          <a:bodyPr/>
          <a:lstStyle/>
          <a:p>
            <a:fld id="{F3963908-5577-44A4-91B0-79992FE49834}" type="slidenum">
              <a:rPr lang="en-US" smtClean="0"/>
              <a:t>11</a:t>
            </a:fld>
            <a:endParaRPr lang="en-US"/>
          </a:p>
        </p:txBody>
      </p:sp>
    </p:spTree>
    <p:extLst>
      <p:ext uri="{BB962C8B-B14F-4D97-AF65-F5344CB8AC3E}">
        <p14:creationId xmlns:p14="http://schemas.microsoft.com/office/powerpoint/2010/main" val="2103802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32CFEE-7C6F-8B94-F6A9-867AEC9E897D}"/>
              </a:ext>
            </a:extLst>
          </p:cNvPr>
          <p:cNvSpPr>
            <a:spLocks noGrp="1"/>
          </p:cNvSpPr>
          <p:nvPr>
            <p:ph type="sldNum" sz="quarter" idx="12"/>
          </p:nvPr>
        </p:nvSpPr>
        <p:spPr/>
        <p:txBody>
          <a:bodyPr/>
          <a:lstStyle/>
          <a:p>
            <a:fld id="{F3963908-5577-44A4-91B0-79992FE49834}" type="slidenum">
              <a:rPr lang="en-US" smtClean="0"/>
              <a:t>12</a:t>
            </a:fld>
            <a:endParaRPr lang="en-US"/>
          </a:p>
        </p:txBody>
      </p:sp>
      <p:sp>
        <p:nvSpPr>
          <p:cNvPr id="4" name="TextBox 3">
            <a:extLst>
              <a:ext uri="{FF2B5EF4-FFF2-40B4-BE49-F238E27FC236}">
                <a16:creationId xmlns:a16="http://schemas.microsoft.com/office/drawing/2014/main" id="{23099D13-4BDF-1EDC-938D-9696156B38A8}"/>
              </a:ext>
            </a:extLst>
          </p:cNvPr>
          <p:cNvSpPr txBox="1"/>
          <p:nvPr/>
        </p:nvSpPr>
        <p:spPr>
          <a:xfrm>
            <a:off x="416223" y="1336119"/>
            <a:ext cx="7744364" cy="4185761"/>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Dependent variable:    </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logN</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p>
            <a:r>
              <a:rPr lang="en-US" sz="1400" dirty="0" err="1">
                <a:latin typeface="Courier New" panose="02070309020205020404" pitchFamily="49" charset="0"/>
                <a:cs typeface="Courier New" panose="02070309020205020404" pitchFamily="49" charset="0"/>
              </a:rPr>
              <a:t>logP</a:t>
            </a:r>
            <a:r>
              <a:rPr lang="en-US" sz="1400" dirty="0">
                <a:latin typeface="Courier New" panose="02070309020205020404" pitchFamily="49" charset="0"/>
                <a:cs typeface="Courier New" panose="02070309020205020404" pitchFamily="49" charset="0"/>
              </a:rPr>
              <a:t>                         1.025***          </a:t>
            </a:r>
          </a:p>
          <a:p>
            <a:r>
              <a:rPr lang="en-US" sz="1400" dirty="0">
                <a:latin typeface="Courier New" panose="02070309020205020404" pitchFamily="49" charset="0"/>
                <a:cs typeface="Courier New" panose="02070309020205020404" pitchFamily="49" charset="0"/>
              </a:rPr>
              <a:t>                              (0.010)          </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Constant                     -3.318***         </a:t>
            </a:r>
          </a:p>
          <a:p>
            <a:r>
              <a:rPr lang="en-US" sz="1400" dirty="0">
                <a:latin typeface="Courier New" panose="02070309020205020404" pitchFamily="49" charset="0"/>
                <a:cs typeface="Courier New" panose="02070309020205020404" pitchFamily="49" charset="0"/>
              </a:rPr>
              <a:t>                              (0.050)          </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Observations                    868            </a:t>
            </a:r>
          </a:p>
          <a:p>
            <a:r>
              <a:rPr lang="en-US" sz="1400" dirty="0">
                <a:latin typeface="Courier New" panose="02070309020205020404" pitchFamily="49" charset="0"/>
                <a:cs typeface="Courier New" panose="02070309020205020404" pitchFamily="49" charset="0"/>
              </a:rPr>
              <a:t>R2                             0.926           </a:t>
            </a:r>
          </a:p>
          <a:p>
            <a:r>
              <a:rPr lang="en-US" sz="1400" dirty="0">
                <a:latin typeface="Courier New" panose="02070309020205020404" pitchFamily="49" charset="0"/>
                <a:cs typeface="Courier New" panose="02070309020205020404" pitchFamily="49" charset="0"/>
              </a:rPr>
              <a:t>Adjusted R2                    0.926           </a:t>
            </a:r>
          </a:p>
          <a:p>
            <a:r>
              <a:rPr lang="en-US" sz="1400" dirty="0">
                <a:latin typeface="Courier New" panose="02070309020205020404" pitchFamily="49" charset="0"/>
                <a:cs typeface="Courier New" panose="02070309020205020404" pitchFamily="49" charset="0"/>
              </a:rPr>
              <a:t>Residual Std. Error      0.160 (</a:t>
            </a:r>
            <a:r>
              <a:rPr lang="en-US" sz="1400" dirty="0" err="1">
                <a:latin typeface="Courier New" panose="02070309020205020404" pitchFamily="49" charset="0"/>
                <a:cs typeface="Courier New" panose="02070309020205020404" pitchFamily="49" charset="0"/>
              </a:rPr>
              <a:t>df</a:t>
            </a:r>
            <a:r>
              <a:rPr lang="en-US" sz="1400" dirty="0">
                <a:latin typeface="Courier New" panose="02070309020205020404" pitchFamily="49" charset="0"/>
                <a:cs typeface="Courier New" panose="02070309020205020404" pitchFamily="49" charset="0"/>
              </a:rPr>
              <a:t> = 866)      </a:t>
            </a:r>
          </a:p>
          <a:p>
            <a:r>
              <a:rPr lang="en-US" sz="1400" dirty="0">
                <a:latin typeface="Courier New" panose="02070309020205020404" pitchFamily="49" charset="0"/>
                <a:cs typeface="Courier New" panose="02070309020205020404" pitchFamily="49" charset="0"/>
              </a:rPr>
              <a:t>F Statistic         10,783.110*** (</a:t>
            </a:r>
            <a:r>
              <a:rPr lang="en-US" sz="1400" dirty="0" err="1">
                <a:latin typeface="Courier New" panose="02070309020205020404" pitchFamily="49" charset="0"/>
                <a:cs typeface="Courier New" panose="02070309020205020404" pitchFamily="49" charset="0"/>
              </a:rPr>
              <a:t>df</a:t>
            </a:r>
            <a:r>
              <a:rPr lang="en-US" sz="1400" dirty="0">
                <a:latin typeface="Courier New" panose="02070309020205020404" pitchFamily="49" charset="0"/>
                <a:cs typeface="Courier New" panose="02070309020205020404" pitchFamily="49" charset="0"/>
              </a:rPr>
              <a:t> = 1; 866)</a:t>
            </a:r>
          </a:p>
          <a:p>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Note:               *p&lt;0.1; **p&lt;0.05; ***p&lt;0.01</a:t>
            </a:r>
          </a:p>
        </p:txBody>
      </p:sp>
      <p:pic>
        <p:nvPicPr>
          <p:cNvPr id="6" name="Picture 5">
            <a:extLst>
              <a:ext uri="{FF2B5EF4-FFF2-40B4-BE49-F238E27FC236}">
                <a16:creationId xmlns:a16="http://schemas.microsoft.com/office/drawing/2014/main" id="{01EF2509-6B2F-6347-3DD7-D9DC2DBC82D6}"/>
              </a:ext>
            </a:extLst>
          </p:cNvPr>
          <p:cNvPicPr>
            <a:picLocks noChangeAspect="1"/>
          </p:cNvPicPr>
          <p:nvPr/>
        </p:nvPicPr>
        <p:blipFill>
          <a:blip r:embed="rId2"/>
          <a:stretch>
            <a:fillRect/>
          </a:stretch>
        </p:blipFill>
        <p:spPr>
          <a:xfrm>
            <a:off x="6096000" y="659500"/>
            <a:ext cx="5334720" cy="5326781"/>
          </a:xfrm>
          <a:prstGeom prst="rect">
            <a:avLst/>
          </a:prstGeom>
        </p:spPr>
      </p:pic>
    </p:spTree>
    <p:extLst>
      <p:ext uri="{BB962C8B-B14F-4D97-AF65-F5344CB8AC3E}">
        <p14:creationId xmlns:p14="http://schemas.microsoft.com/office/powerpoint/2010/main" val="2130385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FBC326-28E8-3EC5-4DFC-BD7441C12871}"/>
              </a:ext>
            </a:extLst>
          </p:cNvPr>
          <p:cNvSpPr>
            <a:spLocks noGrp="1"/>
          </p:cNvSpPr>
          <p:nvPr>
            <p:ph type="sldNum" sz="quarter" idx="12"/>
          </p:nvPr>
        </p:nvSpPr>
        <p:spPr/>
        <p:txBody>
          <a:bodyPr/>
          <a:lstStyle/>
          <a:p>
            <a:fld id="{F3963908-5577-44A4-91B0-79992FE49834}" type="slidenum">
              <a:rPr lang="en-US" smtClean="0"/>
              <a:t>13</a:t>
            </a:fld>
            <a:endParaRPr lang="en-US"/>
          </a:p>
        </p:txBody>
      </p:sp>
      <p:grpSp>
        <p:nvGrpSpPr>
          <p:cNvPr id="3" name="Group 2">
            <a:extLst>
              <a:ext uri="{FF2B5EF4-FFF2-40B4-BE49-F238E27FC236}">
                <a16:creationId xmlns:a16="http://schemas.microsoft.com/office/drawing/2014/main" id="{67558261-348C-4335-3F15-753BACA7B007}"/>
              </a:ext>
            </a:extLst>
          </p:cNvPr>
          <p:cNvGrpSpPr/>
          <p:nvPr/>
        </p:nvGrpSpPr>
        <p:grpSpPr>
          <a:xfrm>
            <a:off x="250371" y="266776"/>
            <a:ext cx="7244144" cy="6169200"/>
            <a:chOff x="967865" y="2875943"/>
            <a:chExt cx="4215105" cy="3556016"/>
          </a:xfrm>
        </p:grpSpPr>
        <p:pic>
          <p:nvPicPr>
            <p:cNvPr id="4" name="Picture 3">
              <a:extLst>
                <a:ext uri="{FF2B5EF4-FFF2-40B4-BE49-F238E27FC236}">
                  <a16:creationId xmlns:a16="http://schemas.microsoft.com/office/drawing/2014/main" id="{15E7469E-38BC-9E83-20C4-D22B7C2F2B59}"/>
                </a:ext>
              </a:extLst>
            </p:cNvPr>
            <p:cNvPicPr>
              <a:picLocks noChangeAspect="1"/>
            </p:cNvPicPr>
            <p:nvPr/>
          </p:nvPicPr>
          <p:blipFill>
            <a:blip r:embed="rId2"/>
            <a:stretch>
              <a:fillRect/>
            </a:stretch>
          </p:blipFill>
          <p:spPr>
            <a:xfrm>
              <a:off x="967865" y="2875943"/>
              <a:ext cx="4215105" cy="3556016"/>
            </a:xfrm>
            <a:prstGeom prst="rect">
              <a:avLst/>
            </a:prstGeom>
          </p:spPr>
        </p:pic>
        <p:sp>
          <p:nvSpPr>
            <p:cNvPr id="5" name="Oval 4">
              <a:extLst>
                <a:ext uri="{FF2B5EF4-FFF2-40B4-BE49-F238E27FC236}">
                  <a16:creationId xmlns:a16="http://schemas.microsoft.com/office/drawing/2014/main" id="{AF1F0621-906B-070E-EF74-AAC2EA013947}"/>
                </a:ext>
              </a:extLst>
            </p:cNvPr>
            <p:cNvSpPr/>
            <p:nvPr/>
          </p:nvSpPr>
          <p:spPr>
            <a:xfrm>
              <a:off x="3006405" y="3933645"/>
              <a:ext cx="138023" cy="15527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CAE983C9-2ACB-C499-16CA-7734F018D45B}"/>
                </a:ext>
              </a:extLst>
            </p:cNvPr>
            <p:cNvSpPr/>
            <p:nvPr/>
          </p:nvSpPr>
          <p:spPr>
            <a:xfrm>
              <a:off x="3006404" y="4974145"/>
              <a:ext cx="138023" cy="155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9BBEDEC-0007-01BA-863F-5169F502B28F}"/>
                </a:ext>
              </a:extLst>
            </p:cNvPr>
            <p:cNvSpPr txBox="1"/>
            <p:nvPr/>
          </p:nvSpPr>
          <p:spPr>
            <a:xfrm>
              <a:off x="1882873" y="4011888"/>
              <a:ext cx="593122"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1 </a:t>
              </a:r>
              <a:r>
                <a:rPr kumimoji="0" lang="en-US" sz="1200" b="0" i="0" u="none" strike="noStrike" kern="1200" cap="none" spc="0" normalizeH="0" baseline="0" noProof="0" dirty="0" err="1">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sd</a:t>
              </a:r>
              <a:endPar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endParaRPr>
            </a:p>
          </p:txBody>
        </p:sp>
        <p:cxnSp>
          <p:nvCxnSpPr>
            <p:cNvPr id="8" name="Straight Arrow Connector 7">
              <a:extLst>
                <a:ext uri="{FF2B5EF4-FFF2-40B4-BE49-F238E27FC236}">
                  <a16:creationId xmlns:a16="http://schemas.microsoft.com/office/drawing/2014/main" id="{E68D5C8C-BD88-0E4C-861B-1D2C2B8691C4}"/>
                </a:ext>
              </a:extLst>
            </p:cNvPr>
            <p:cNvCxnSpPr>
              <a:cxnSpLocks/>
            </p:cNvCxnSpPr>
            <p:nvPr/>
          </p:nvCxnSpPr>
          <p:spPr>
            <a:xfrm>
              <a:off x="3084040" y="414592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4A2D2C-1F1D-91C1-6D4D-F4915C19E5F5}"/>
                </a:ext>
              </a:extLst>
            </p:cNvPr>
            <p:cNvCxnSpPr>
              <a:cxnSpLocks/>
            </p:cNvCxnSpPr>
            <p:nvPr/>
          </p:nvCxnSpPr>
          <p:spPr>
            <a:xfrm flipH="1">
              <a:off x="3078830" y="3505236"/>
              <a:ext cx="281994" cy="396963"/>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9F35B17-C6B6-A194-79CC-21FE59C71DE7}"/>
                </a:ext>
              </a:extLst>
            </p:cNvPr>
            <p:cNvSpPr txBox="1"/>
            <p:nvPr/>
          </p:nvSpPr>
          <p:spPr>
            <a:xfrm>
              <a:off x="2936101" y="3136202"/>
              <a:ext cx="22252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45% more nonprofits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than typical city</a:t>
              </a:r>
            </a:p>
          </p:txBody>
        </p:sp>
        <p:sp>
          <p:nvSpPr>
            <p:cNvPr id="11" name="Oval 10">
              <a:extLst>
                <a:ext uri="{FF2B5EF4-FFF2-40B4-BE49-F238E27FC236}">
                  <a16:creationId xmlns:a16="http://schemas.microsoft.com/office/drawing/2014/main" id="{31E672CB-10EB-9C5F-2ADC-E3DF629A0AC1}"/>
                </a:ext>
              </a:extLst>
            </p:cNvPr>
            <p:cNvSpPr/>
            <p:nvPr/>
          </p:nvSpPr>
          <p:spPr>
            <a:xfrm>
              <a:off x="3006403" y="4503961"/>
              <a:ext cx="138023" cy="155276"/>
            </a:xfrm>
            <a:prstGeom prst="ellipse">
              <a:avLst/>
            </a:prstGeom>
            <a:solidFill>
              <a:srgbClr val="FF0000"/>
            </a:solidFill>
            <a:ln w="222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1893E2E7-0E50-5DA7-A614-BC3527F3B787}"/>
                </a:ext>
              </a:extLst>
            </p:cNvPr>
            <p:cNvCxnSpPr>
              <a:cxnSpLocks/>
            </p:cNvCxnSpPr>
            <p:nvPr/>
          </p:nvCxnSpPr>
          <p:spPr>
            <a:xfrm flipH="1" flipV="1">
              <a:off x="3256124" y="4621741"/>
              <a:ext cx="734065" cy="35240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9A3F75E-DDCB-81F3-36DE-1F0C6E95A338}"/>
                </a:ext>
              </a:extLst>
            </p:cNvPr>
            <p:cNvCxnSpPr>
              <a:cxnSpLocks/>
            </p:cNvCxnSpPr>
            <p:nvPr/>
          </p:nvCxnSpPr>
          <p:spPr>
            <a:xfrm flipH="1" flipV="1">
              <a:off x="3218118" y="5143422"/>
              <a:ext cx="463385" cy="366602"/>
            </a:xfrm>
            <a:prstGeom prst="straightConnector1">
              <a:avLst/>
            </a:prstGeom>
            <a:ln w="158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AA36FFA-EE0A-DE4A-C4FA-F8E4F2199BA9}"/>
                </a:ext>
              </a:extLst>
            </p:cNvPr>
            <p:cNvSpPr txBox="1"/>
            <p:nvPr/>
          </p:nvSpPr>
          <p:spPr>
            <a:xfrm>
              <a:off x="3722336" y="5393082"/>
              <a:ext cx="1419801" cy="3015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31% fewer nonprofits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than typical city</a:t>
              </a:r>
            </a:p>
          </p:txBody>
        </p:sp>
        <p:sp>
          <p:nvSpPr>
            <p:cNvPr id="15" name="TextBox 14">
              <a:extLst>
                <a:ext uri="{FF2B5EF4-FFF2-40B4-BE49-F238E27FC236}">
                  <a16:creationId xmlns:a16="http://schemas.microsoft.com/office/drawing/2014/main" id="{C0E33995-5C13-09DB-3966-F4A8ED9F0916}"/>
                </a:ext>
              </a:extLst>
            </p:cNvPr>
            <p:cNvSpPr txBox="1"/>
            <p:nvPr/>
          </p:nvSpPr>
          <p:spPr>
            <a:xfrm>
              <a:off x="3990189" y="4911706"/>
              <a:ext cx="1044843" cy="425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t>typical </a:t>
              </a:r>
              <a:r>
                <a:rPr lang="en-US" sz="1400" dirty="0">
                  <a:solidFill>
                    <a:srgbClr val="FF0000"/>
                  </a:solidFill>
                  <a:latin typeface="Source Code Pro" panose="020B0509030403020204" pitchFamily="49" charset="0"/>
                  <a:ea typeface="Source Code Pro" panose="020B0509030403020204" pitchFamily="49" charset="0"/>
                </a:rPr>
                <a:t>density</a:t>
              </a:r>
              <a:br>
                <a:rPr lang="en-US" sz="1400" dirty="0">
                  <a:solidFill>
                    <a:srgbClr val="FF0000"/>
                  </a:solidFill>
                  <a:latin typeface="Source Code Pro" panose="020B0509030403020204" pitchFamily="49" charset="0"/>
                  <a:ea typeface="Source Code Pro" panose="020B0509030403020204" pitchFamily="49" charset="0"/>
                </a:rPr>
              </a:br>
              <a:r>
                <a:rPr lang="en-US" sz="1400" dirty="0">
                  <a:solidFill>
                    <a:srgbClr val="FF0000"/>
                  </a:solidFill>
                  <a:latin typeface="Source Code Pro" panose="020B0509030403020204" pitchFamily="49" charset="0"/>
                  <a:ea typeface="Source Code Pro" panose="020B0509030403020204" pitchFamily="49" charset="0"/>
                </a:rPr>
                <a:t>for a city </a:t>
              </a:r>
              <a:br>
                <a:rPr lang="en-US" sz="1400" dirty="0">
                  <a:solidFill>
                    <a:srgbClr val="FF0000"/>
                  </a:solidFill>
                  <a:latin typeface="Source Code Pro" panose="020B0509030403020204" pitchFamily="49" charset="0"/>
                  <a:ea typeface="Source Code Pro" panose="020B0509030403020204" pitchFamily="49" charset="0"/>
                </a:rPr>
              </a:br>
              <a:r>
                <a:rPr lang="en-US" sz="1400" dirty="0">
                  <a:solidFill>
                    <a:srgbClr val="FF0000"/>
                  </a:solidFill>
                  <a:latin typeface="Source Code Pro" panose="020B0509030403020204" pitchFamily="49" charset="0"/>
                  <a:ea typeface="Source Code Pro" panose="020B0509030403020204" pitchFamily="49" charset="0"/>
                </a:rPr>
                <a:t>that size</a:t>
              </a:r>
              <a:endPar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endParaRPr>
            </a:p>
          </p:txBody>
        </p:sp>
        <p:cxnSp>
          <p:nvCxnSpPr>
            <p:cNvPr id="16" name="Straight Arrow Connector 15">
              <a:extLst>
                <a:ext uri="{FF2B5EF4-FFF2-40B4-BE49-F238E27FC236}">
                  <a16:creationId xmlns:a16="http://schemas.microsoft.com/office/drawing/2014/main" id="{89CDD7F6-4413-5618-3735-51148D2B20DC}"/>
                </a:ext>
              </a:extLst>
            </p:cNvPr>
            <p:cNvCxnSpPr>
              <a:cxnSpLocks/>
            </p:cNvCxnSpPr>
            <p:nvPr/>
          </p:nvCxnSpPr>
          <p:spPr>
            <a:xfrm>
              <a:off x="3075417" y="466298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AA74A7C-58C6-CA47-D5C3-1BB89B37CB75}"/>
                </a:ext>
              </a:extLst>
            </p:cNvPr>
            <p:cNvCxnSpPr>
              <a:cxnSpLocks/>
            </p:cNvCxnSpPr>
            <p:nvPr/>
          </p:nvCxnSpPr>
          <p:spPr>
            <a:xfrm>
              <a:off x="2068266" y="4310579"/>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C53D4279-74B9-AD78-BC3A-1FC0AE7B2140}"/>
              </a:ext>
            </a:extLst>
          </p:cNvPr>
          <p:cNvCxnSpPr>
            <a:cxnSpLocks/>
          </p:cNvCxnSpPr>
          <p:nvPr/>
        </p:nvCxnSpPr>
        <p:spPr>
          <a:xfrm flipV="1">
            <a:off x="932156" y="1433780"/>
            <a:ext cx="6183085" cy="150179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53A509B-78E2-1E23-335E-0D0F1E651F12}"/>
              </a:ext>
            </a:extLst>
          </p:cNvPr>
          <p:cNvCxnSpPr>
            <a:cxnSpLocks/>
          </p:cNvCxnSpPr>
          <p:nvPr/>
        </p:nvCxnSpPr>
        <p:spPr>
          <a:xfrm flipV="1">
            <a:off x="1026149" y="3246575"/>
            <a:ext cx="6183085" cy="1501798"/>
          </a:xfrm>
          <a:prstGeom prst="line">
            <a:avLst/>
          </a:prstGeom>
          <a:ln>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644602A-1E69-CBA7-D420-858EB6919338}"/>
              </a:ext>
            </a:extLst>
          </p:cNvPr>
          <p:cNvCxnSpPr>
            <a:cxnSpLocks/>
          </p:cNvCxnSpPr>
          <p:nvPr/>
        </p:nvCxnSpPr>
        <p:spPr>
          <a:xfrm>
            <a:off x="2141537" y="3805084"/>
            <a:ext cx="0" cy="539823"/>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CEB6A6B-67C1-5CCA-D779-2DABF434596F}"/>
              </a:ext>
            </a:extLst>
          </p:cNvPr>
          <p:cNvSpPr txBox="1"/>
          <p:nvPr/>
        </p:nvSpPr>
        <p:spPr>
          <a:xfrm>
            <a:off x="1963388" y="4583057"/>
            <a:ext cx="68581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1 </a:t>
            </a:r>
            <a:r>
              <a:rPr kumimoji="0" lang="en-US" sz="1200" b="0" i="0" u="none" strike="noStrike" kern="1200" cap="none" spc="0" normalizeH="0" baseline="0" noProof="0" dirty="0" err="1">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sd</a:t>
            </a:r>
            <a:endPar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endParaRPr>
          </a:p>
        </p:txBody>
      </p:sp>
      <p:sp>
        <p:nvSpPr>
          <p:cNvPr id="26" name="TextBox 25">
            <a:extLst>
              <a:ext uri="{FF2B5EF4-FFF2-40B4-BE49-F238E27FC236}">
                <a16:creationId xmlns:a16="http://schemas.microsoft.com/office/drawing/2014/main" id="{837C1786-64ED-8495-5F6D-19DB24BC5B95}"/>
              </a:ext>
            </a:extLst>
          </p:cNvPr>
          <p:cNvSpPr txBox="1"/>
          <p:nvPr/>
        </p:nvSpPr>
        <p:spPr>
          <a:xfrm>
            <a:off x="5807164" y="6107333"/>
            <a:ext cx="1366080"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Source Code Pro" panose="020B0509030403020204" pitchFamily="49" charset="0"/>
                <a:ea typeface="Source Code Pro" panose="020B0509030403020204" pitchFamily="49" charset="0"/>
                <a:cs typeface="+mn-cs"/>
              </a:rPr>
              <a:t>Metro Size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Source Code Pro" panose="020B0509030403020204" pitchFamily="49" charset="0"/>
                <a:ea typeface="Source Code Pro" panose="020B0509030403020204" pitchFamily="49" charset="0"/>
                <a:cs typeface="+mn-cs"/>
              </a:rPr>
              <a:t>(logged)</a:t>
            </a:r>
          </a:p>
        </p:txBody>
      </p:sp>
      <p:sp>
        <p:nvSpPr>
          <p:cNvPr id="27" name="TextBox 26">
            <a:extLst>
              <a:ext uri="{FF2B5EF4-FFF2-40B4-BE49-F238E27FC236}">
                <a16:creationId xmlns:a16="http://schemas.microsoft.com/office/drawing/2014/main" id="{5E3F6625-72E6-8CAF-37A5-8C38AB561FFF}"/>
              </a:ext>
            </a:extLst>
          </p:cNvPr>
          <p:cNvSpPr txBox="1"/>
          <p:nvPr/>
        </p:nvSpPr>
        <p:spPr>
          <a:xfrm>
            <a:off x="396810" y="515792"/>
            <a:ext cx="1258678"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ource Code Pro" panose="020B0509030403020204" pitchFamily="49" charset="0"/>
                <a:ea typeface="Source Code Pro" panose="020B0509030403020204" pitchFamily="49" charset="0"/>
              </a:rPr>
              <a:t>Nonprofit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ource Code Pro" panose="020B0509030403020204" pitchFamily="49" charset="0"/>
                <a:ea typeface="Source Code Pro" panose="020B0509030403020204" pitchFamily="49" charset="0"/>
              </a:rPr>
              <a:t>Density</a:t>
            </a:r>
            <a:endParaRPr kumimoji="0" lang="en-US" sz="1400" b="0" i="0" u="none" strike="noStrike" kern="1200" cap="none" spc="0" normalizeH="0" baseline="0" noProof="0" dirty="0">
              <a:ln>
                <a:noFill/>
              </a:ln>
              <a:effectLst/>
              <a:uLnTx/>
              <a:uFillTx/>
              <a:latin typeface="Source Code Pro" panose="020B0509030403020204" pitchFamily="49" charset="0"/>
              <a:ea typeface="Source Code Pro" panose="020B0509030403020204" pitchFamily="49" charset="0"/>
              <a:cs typeface="+mn-cs"/>
            </a:endParaRPr>
          </a:p>
        </p:txBody>
      </p:sp>
      <p:sp>
        <p:nvSpPr>
          <p:cNvPr id="28" name="TextBox 27">
            <a:extLst>
              <a:ext uri="{FF2B5EF4-FFF2-40B4-BE49-F238E27FC236}">
                <a16:creationId xmlns:a16="http://schemas.microsoft.com/office/drawing/2014/main" id="{0287667D-2220-8217-BFB9-AF3989A2AF9F}"/>
              </a:ext>
            </a:extLst>
          </p:cNvPr>
          <p:cNvSpPr txBox="1"/>
          <p:nvPr/>
        </p:nvSpPr>
        <p:spPr>
          <a:xfrm>
            <a:off x="8385277" y="635997"/>
            <a:ext cx="2908247" cy="160043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75000"/>
                    <a:lumOff val="25000"/>
                  </a:schemeClr>
                </a:solidFill>
                <a:latin typeface="Source Code Pro" panose="020B0509030403020204" pitchFamily="49" charset="0"/>
                <a:ea typeface="Source Code Pro" panose="020B0509030403020204" pitchFamily="49" charset="0"/>
              </a:rPr>
              <a:t>It is a consistent measure (the low and high ratios are parallel lines) but c</a:t>
            </a:r>
            <a:r>
              <a:rPr kumimoji="0" lang="en-US" sz="1400" b="0" i="0" u="none" strike="noStrike" kern="1200" cap="none" spc="0" normalizeH="0" baseline="0" noProof="0" dirty="0" err="1">
                <a:ln>
                  <a:noFill/>
                </a:ln>
                <a:solidFill>
                  <a:schemeClr val="tx1">
                    <a:lumMod val="75000"/>
                    <a:lumOff val="25000"/>
                  </a:schemeClr>
                </a:solidFill>
                <a:effectLst/>
                <a:uLnTx/>
                <a:uFillTx/>
                <a:latin typeface="Source Code Pro" panose="020B0509030403020204" pitchFamily="49" charset="0"/>
                <a:ea typeface="Source Code Pro" panose="020B0509030403020204" pitchFamily="49" charset="0"/>
                <a:cs typeface="+mn-cs"/>
              </a:rPr>
              <a:t>hallenging</a:t>
            </a:r>
            <a:r>
              <a:rPr kumimoji="0" lang="en-US" sz="1400" b="0" i="0" u="none" strike="noStrike" kern="1200" cap="none" spc="0" normalizeH="0" baseline="0" noProof="0" dirty="0">
                <a:ln>
                  <a:noFill/>
                </a:ln>
                <a:solidFill>
                  <a:schemeClr val="tx1">
                    <a:lumMod val="75000"/>
                    <a:lumOff val="25000"/>
                  </a:schemeClr>
                </a:solidFill>
                <a:effectLst/>
                <a:uLnTx/>
                <a:uFillTx/>
                <a:latin typeface="Source Code Pro" panose="020B0509030403020204" pitchFamily="49" charset="0"/>
                <a:ea typeface="Source Code Pro" panose="020B0509030403020204" pitchFamily="49" charset="0"/>
                <a:cs typeface="+mn-cs"/>
              </a:rPr>
              <a:t> to interpret because the score is relative to metro size</a:t>
            </a:r>
          </a:p>
        </p:txBody>
      </p:sp>
      <p:sp>
        <p:nvSpPr>
          <p:cNvPr id="29" name="TextBox 28">
            <a:extLst>
              <a:ext uri="{FF2B5EF4-FFF2-40B4-BE49-F238E27FC236}">
                <a16:creationId xmlns:a16="http://schemas.microsoft.com/office/drawing/2014/main" id="{721425CA-BC58-BB71-0112-6178A491865A}"/>
              </a:ext>
            </a:extLst>
          </p:cNvPr>
          <p:cNvSpPr txBox="1"/>
          <p:nvPr/>
        </p:nvSpPr>
        <p:spPr>
          <a:xfrm>
            <a:off x="8160236" y="2624715"/>
            <a:ext cx="3881335"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a:t>
            </a:r>
            <a:r>
              <a:rPr kumimoji="0" lang="en-US" sz="1600" b="1" i="0" u="none" strike="noStrike" kern="1200" cap="none" spc="0" normalizeH="0" baseline="0" noProof="0" dirty="0" err="1">
                <a:ln>
                  <a:noFill/>
                </a:ln>
                <a:solidFill>
                  <a:prstClr val="black"/>
                </a:solidFill>
                <a:effectLst/>
                <a:uLnTx/>
                <a:uFillTx/>
                <a:latin typeface="Source Code Pro" panose="020B0509030403020204" pitchFamily="49" charset="0"/>
                <a:ea typeface="Source Code Pro" panose="020B0509030403020204" pitchFamily="49" charset="0"/>
                <a:cs typeface="+mn-cs"/>
              </a:rPr>
              <a:t>popM</a:t>
            </a: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a:t>
            </a:r>
            <a:r>
              <a:rPr kumimoji="0" lang="en-US" sz="1400" b="1" i="0" u="none" strike="noStrike" kern="1200" cap="none" spc="0" normalizeH="0" baseline="0" noProof="0" dirty="0" err="1">
                <a:ln>
                  <a:noFill/>
                </a:ln>
                <a:solidFill>
                  <a:schemeClr val="accent5"/>
                </a:solidFill>
                <a:effectLst/>
                <a:uLnTx/>
                <a:uFillTx/>
                <a:latin typeface="Source Code Pro" panose="020B0509030403020204" pitchFamily="49" charset="0"/>
                <a:ea typeface="Source Code Pro" panose="020B0509030403020204" pitchFamily="49" charset="0"/>
                <a:cs typeface="+mn-cs"/>
              </a:rPr>
              <a:t>low.ratio</a:t>
            </a:r>
            <a:r>
              <a:rPr kumimoji="0" lang="en-US" sz="1400" b="1" i="0" u="none" strike="noStrike" kern="1200" cap="none" spc="0" normalizeH="0" baseline="0" noProof="0" dirty="0">
                <a:ln>
                  <a:noFill/>
                </a:ln>
                <a:solidFill>
                  <a:schemeClr val="accent5"/>
                </a:solidFill>
                <a:effectLst/>
                <a:uLnTx/>
                <a:uFillTx/>
                <a:latin typeface="Source Code Pro" panose="020B0509030403020204" pitchFamily="49" charset="0"/>
                <a:ea typeface="Source Code Pro" panose="020B0509030403020204" pitchFamily="49" charset="0"/>
                <a:cs typeface="+mn-cs"/>
              </a:rPr>
              <a:t> </a:t>
            </a:r>
            <a:r>
              <a:rPr kumimoji="0" lang="en-US" sz="1400" b="1" i="0" u="none" strike="noStrike" kern="1200" cap="none" spc="0" normalizeH="0" baseline="0" noProof="0" dirty="0" err="1">
                <a:ln>
                  <a:noFill/>
                </a:ln>
                <a:solidFill>
                  <a:schemeClr val="accent6"/>
                </a:solidFill>
                <a:effectLst/>
                <a:uLnTx/>
                <a:uFillTx/>
                <a:latin typeface="Source Code Pro" panose="020B0509030403020204" pitchFamily="49" charset="0"/>
                <a:ea typeface="Source Code Pro" panose="020B0509030403020204" pitchFamily="49" charset="0"/>
                <a:cs typeface="+mn-cs"/>
              </a:rPr>
              <a:t>high.ratio</a:t>
            </a:r>
            <a:endParaRPr kumimoji="0" lang="en-US" sz="1400" b="1" i="0" u="none" strike="noStrike" kern="1200" cap="none" spc="0" normalizeH="0" baseline="0" noProof="0" dirty="0">
              <a:ln>
                <a:noFill/>
              </a:ln>
              <a:solidFill>
                <a:schemeClr val="accent6"/>
              </a:solidFill>
              <a:effectLst/>
              <a:uLnTx/>
              <a:uFillTx/>
              <a:latin typeface="Source Code Pro" panose="020B0509030403020204" pitchFamily="49" charset="0"/>
              <a:ea typeface="Source Code Pro" panose="020B0509030403020204" pitchFamily="49"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1  0.01   0.67       1.50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2  0.03   0.70       1.40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3  0.10   0.69       1.45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4  0.32   0.69       1.44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5  1.00   0.69       1.45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6  3.16   0.69       1.45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7 10.00   0.69       1.45</a:t>
            </a:r>
          </a:p>
        </p:txBody>
      </p:sp>
    </p:spTree>
    <p:extLst>
      <p:ext uri="{BB962C8B-B14F-4D97-AF65-F5344CB8AC3E}">
        <p14:creationId xmlns:p14="http://schemas.microsoft.com/office/powerpoint/2010/main" val="390060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F65A40-40B9-4DD5-1EF6-21F02BCB23ED}"/>
              </a:ext>
            </a:extLst>
          </p:cNvPr>
          <p:cNvSpPr>
            <a:spLocks noGrp="1"/>
          </p:cNvSpPr>
          <p:nvPr>
            <p:ph type="sldNum" sz="quarter" idx="12"/>
          </p:nvPr>
        </p:nvSpPr>
        <p:spPr/>
        <p:txBody>
          <a:bodyPr/>
          <a:lstStyle/>
          <a:p>
            <a:fld id="{F3963908-5577-44A4-91B0-79992FE49834}" type="slidenum">
              <a:rPr lang="en-US" smtClean="0"/>
              <a:t>14</a:t>
            </a:fld>
            <a:endParaRPr lang="en-US"/>
          </a:p>
        </p:txBody>
      </p:sp>
      <p:pic>
        <p:nvPicPr>
          <p:cNvPr id="11266" name="Picture 2">
            <a:extLst>
              <a:ext uri="{FF2B5EF4-FFF2-40B4-BE49-F238E27FC236}">
                <a16:creationId xmlns:a16="http://schemas.microsoft.com/office/drawing/2014/main" id="{1541CBB6-4231-1434-BB89-AF913252B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175" y="1418460"/>
            <a:ext cx="5370428" cy="383602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904308B4-BB45-F7AC-9F14-40BFD17229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4513" y="684737"/>
            <a:ext cx="7424854" cy="5303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438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14967-DE77-F2B1-91D1-75B19931D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8A0CA-FA72-8D88-F349-4B5EBD719465}"/>
              </a:ext>
            </a:extLst>
          </p:cNvPr>
          <p:cNvSpPr>
            <a:spLocks noGrp="1"/>
          </p:cNvSpPr>
          <p:nvPr>
            <p:ph type="title"/>
          </p:nvPr>
        </p:nvSpPr>
        <p:spPr/>
        <p:txBody>
          <a:bodyPr>
            <a:noAutofit/>
          </a:bodyPr>
          <a:lstStyle/>
          <a:p>
            <a:r>
              <a:rPr lang="en-US" sz="5400" dirty="0"/>
              <a:t>internally Consistent benchmarking: </a:t>
            </a:r>
            <a:br>
              <a:rPr lang="en-US" sz="5400" dirty="0"/>
            </a:br>
            <a:r>
              <a:rPr lang="en-US" sz="5400" dirty="0">
                <a:solidFill>
                  <a:srgbClr val="3F8EDA"/>
                </a:solidFill>
              </a:rPr>
              <a:t>Scale-Adjusted Metropolitan indicators (SAMI</a:t>
            </a:r>
            <a:r>
              <a:rPr lang="en-US" sz="5400" cap="none" dirty="0">
                <a:solidFill>
                  <a:srgbClr val="3F8EDA"/>
                </a:solidFill>
              </a:rPr>
              <a:t>s</a:t>
            </a:r>
            <a:r>
              <a:rPr lang="en-US" sz="5400" dirty="0">
                <a:solidFill>
                  <a:srgbClr val="3F8EDA"/>
                </a:solidFill>
              </a:rPr>
              <a:t>)</a:t>
            </a:r>
          </a:p>
        </p:txBody>
      </p:sp>
      <p:sp>
        <p:nvSpPr>
          <p:cNvPr id="3" name="Text Placeholder 2">
            <a:extLst>
              <a:ext uri="{FF2B5EF4-FFF2-40B4-BE49-F238E27FC236}">
                <a16:creationId xmlns:a16="http://schemas.microsoft.com/office/drawing/2014/main" id="{495852B7-18A7-A554-DC16-D481C0094E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31639-6E76-76C4-C606-4C359BA4DE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1820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ABBE3-5837-4807-225A-ECA04F6D3F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C6E38F-42B9-7FB2-C782-C4957D50E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1D95243C-147A-9594-7EDD-7580574F8024}"/>
              </a:ext>
            </a:extLst>
          </p:cNvPr>
          <p:cNvSpPr>
            <a:spLocks noChangeArrowheads="1"/>
          </p:cNvSpPr>
          <p:nvPr/>
        </p:nvSpPr>
        <p:spPr bwMode="auto">
          <a:xfrm>
            <a:off x="591844" y="152193"/>
            <a:ext cx="11008311" cy="60478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400" b="1" i="0" u="none" strike="noStrike" kern="1200" cap="all" spc="0" normalizeH="0" baseline="0" noProof="0" dirty="0">
                <a:ln>
                  <a:noFill/>
                </a:ln>
                <a:solidFill>
                  <a:srgbClr val="95BC28"/>
                </a:solidFill>
                <a:effectLst/>
                <a:uLnTx/>
                <a:uFillTx/>
                <a:latin typeface="Aptos" panose="020B0004020202020204" pitchFamily="34" charset="0"/>
                <a:ea typeface="+mn-ea"/>
                <a:cs typeface="+mn-cs"/>
              </a:rPr>
              <a:t>Per capita measures </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of urban performance are ubiquitous in official statistics, policy documents and in the scientific literature. For example, official statistics on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wages</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income or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gross domestic product </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(GDP) compiled by governmental agencies and international bodies worldwide report on both total amounts and per capita quantities as a means to compare the economic performance of various places. Similarly, official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crime statistics </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(see e.g. the FBI Uniform Crime Reports) are expressed in terms of crime rates (number of crimes per 100,000 inhabitants per year). Many other important indicators that measure local economic and social well-being, such as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unemployment rates</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innovation rates</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cost of living index</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morbidity and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mortality rates</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a:t>
            </a:r>
            <a:r>
              <a:rPr kumimoji="0" lang="en-US" altLang="en-US" sz="1800" b="1" i="0" u="none" strike="noStrike" kern="1200" cap="none" spc="0" normalizeH="0" baseline="0" noProof="0" dirty="0">
                <a:ln>
                  <a:noFill/>
                </a:ln>
                <a:solidFill>
                  <a:srgbClr val="4472C4"/>
                </a:solidFill>
                <a:effectLst/>
                <a:uLnTx/>
                <a:uFillTx/>
                <a:latin typeface="Aptos" panose="020B0004020202020204" pitchFamily="34" charset="0"/>
                <a:ea typeface="+mn-ea"/>
                <a:cs typeface="+mn-cs"/>
              </a:rPr>
              <a:t>poverty rates</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a:t>
            </a:r>
            <a:r>
              <a:rPr kumimoji="0" lang="en-US" altLang="en-US" sz="1800" b="0" i="0" u="none" strike="noStrike" kern="1200" cap="none" spc="0" normalizeH="0" baseline="0" noProof="0" dirty="0" err="1">
                <a:ln>
                  <a:noFill/>
                </a:ln>
                <a:solidFill>
                  <a:srgbClr val="202020"/>
                </a:solidFill>
                <a:effectLst/>
                <a:uLnTx/>
                <a:uFillTx/>
                <a:latin typeface="Aptos" panose="020B0004020202020204" pitchFamily="34" charset="0"/>
                <a:ea typeface="+mn-ea"/>
                <a:cs typeface="+mn-cs"/>
              </a:rPr>
              <a:t>etc</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 all are reported on a per capita basis. </a:t>
            </a:r>
          </a:p>
          <a:p>
            <a:pPr marL="0" marR="0" lvl="0" indent="0" algn="l" defTabSz="914400" rtl="0" eaLnBrk="0" fontAlgn="base" latinLnBrk="0" hangingPunct="0">
              <a:lnSpc>
                <a:spcPct val="15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endParaRPr>
          </a:p>
          <a:p>
            <a:pPr marL="0" marR="0" lvl="0" indent="0" algn="l" defTabSz="914400" rtl="0" eaLnBrk="0" fontAlgn="ctr" latinLnBrk="0" hangingPunct="0">
              <a:lnSpc>
                <a:spcPct val="15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The use of per capita indicators assumes implicitly that, on average, specific urban characteristics increase linearly with population size. However, this approach is unsuitable for characterizing and comparing cities because it ignores the fundamental emergent </a:t>
            </a:r>
            <a:r>
              <a:rPr kumimoji="0" lang="en-US" altLang="en-US" sz="1800" b="1" i="0" u="none" strike="noStrike" kern="1200" cap="none" spc="0" normalizeH="0" baseline="0" noProof="0" dirty="0">
                <a:ln>
                  <a:noFill/>
                </a:ln>
                <a:solidFill>
                  <a:srgbClr val="C55A11"/>
                </a:solidFill>
                <a:effectLst/>
                <a:uLnTx/>
                <a:uFillTx/>
                <a:latin typeface="Aptos" panose="020B0004020202020204" pitchFamily="34" charset="0"/>
                <a:ea typeface="+mn-ea"/>
                <a:cs typeface="+mn-cs"/>
              </a:rPr>
              <a:t>phenomenon of agglomeration </a:t>
            </a:r>
            <a:r>
              <a:rPr kumimoji="0" lang="en-US" altLang="en-US" sz="1800" b="0" i="0" u="none" strike="noStrike" kern="1200" cap="none" spc="0" normalizeH="0" baseline="0" noProof="0" dirty="0">
                <a:ln>
                  <a:noFill/>
                </a:ln>
                <a:solidFill>
                  <a:srgbClr val="202020"/>
                </a:solidFill>
                <a:effectLst/>
                <a:uLnTx/>
                <a:uFillTx/>
                <a:latin typeface="Aptos" panose="020B0004020202020204" pitchFamily="34" charset="0"/>
                <a:ea typeface="+mn-ea"/>
                <a:cs typeface="+mn-cs"/>
              </a:rPr>
              <a:t>resulting from non-linear interactions in social dynamics and organization as cities grow. Such non-linearities are fundamental to the very existence of cities…</a:t>
            </a:r>
            <a:endParaRPr kumimoji="0" lang="en-US" altLang="en-US" sz="1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440737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253B1-572A-2810-450C-44ADBE3EAD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EDD227-A4A9-42A8-52D4-B2494C972D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CF1597-B752-34DC-3E61-EE85614118A8}"/>
              </a:ext>
            </a:extLst>
          </p:cNvPr>
          <p:cNvPicPr>
            <a:picLocks noChangeAspect="1"/>
          </p:cNvPicPr>
          <p:nvPr/>
        </p:nvPicPr>
        <p:blipFill>
          <a:blip r:embed="rId2"/>
          <a:stretch>
            <a:fillRect/>
          </a:stretch>
        </p:blipFill>
        <p:spPr>
          <a:xfrm>
            <a:off x="577071" y="233362"/>
            <a:ext cx="8553450" cy="6391275"/>
          </a:xfrm>
          <a:prstGeom prst="rect">
            <a:avLst/>
          </a:prstGeom>
        </p:spPr>
      </p:pic>
      <p:sp>
        <p:nvSpPr>
          <p:cNvPr id="7" name="TextBox 6">
            <a:extLst>
              <a:ext uri="{FF2B5EF4-FFF2-40B4-BE49-F238E27FC236}">
                <a16:creationId xmlns:a16="http://schemas.microsoft.com/office/drawing/2014/main" id="{D291C5BE-484F-6080-0D85-8D523CDBBB1F}"/>
              </a:ext>
            </a:extLst>
          </p:cNvPr>
          <p:cNvSpPr txBox="1"/>
          <p:nvPr/>
        </p:nvSpPr>
        <p:spPr>
          <a:xfrm>
            <a:off x="2147979" y="3640004"/>
            <a:ext cx="2518912"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panose="020F0502020204030204"/>
                <a:ea typeface="+mn-ea"/>
                <a:cs typeface="+mn-cs"/>
              </a:rPr>
              <a:t>still modeling population, not relative density</a:t>
            </a:r>
          </a:p>
        </p:txBody>
      </p:sp>
      <p:sp>
        <p:nvSpPr>
          <p:cNvPr id="8" name="TextBox 7">
            <a:extLst>
              <a:ext uri="{FF2B5EF4-FFF2-40B4-BE49-F238E27FC236}">
                <a16:creationId xmlns:a16="http://schemas.microsoft.com/office/drawing/2014/main" id="{D7A630F9-A294-5013-BCD8-8194DA036DCE}"/>
              </a:ext>
            </a:extLst>
          </p:cNvPr>
          <p:cNvSpPr txBox="1"/>
          <p:nvPr/>
        </p:nvSpPr>
        <p:spPr>
          <a:xfrm>
            <a:off x="8843424" y="3808370"/>
            <a:ext cx="2518912"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panose="020F0502020204030204"/>
                <a:ea typeface="+mn-ea"/>
                <a:cs typeface="+mn-cs"/>
              </a:rPr>
              <a:t>population size and the density metric are uncorrelated: cleaner measure of relative density independent of population</a:t>
            </a:r>
          </a:p>
        </p:txBody>
      </p:sp>
    </p:spTree>
    <p:extLst>
      <p:ext uri="{BB962C8B-B14F-4D97-AF65-F5344CB8AC3E}">
        <p14:creationId xmlns:p14="http://schemas.microsoft.com/office/powerpoint/2010/main" val="1400021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514F-BE13-0293-C8A9-4508080068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752BA8-7D90-6DD1-DA19-123CEACFF2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2CB0D43-C450-3FC1-9088-9E2A501398E6}"/>
              </a:ext>
            </a:extLst>
          </p:cNvPr>
          <p:cNvPicPr>
            <a:picLocks noChangeAspect="1"/>
          </p:cNvPicPr>
          <p:nvPr/>
        </p:nvPicPr>
        <p:blipFill>
          <a:blip r:embed="rId2"/>
          <a:stretch>
            <a:fillRect/>
          </a:stretch>
        </p:blipFill>
        <p:spPr>
          <a:xfrm>
            <a:off x="464928" y="233362"/>
            <a:ext cx="8553450" cy="6391275"/>
          </a:xfrm>
          <a:prstGeom prst="rect">
            <a:avLst/>
          </a:prstGeom>
        </p:spPr>
      </p:pic>
      <p:sp>
        <p:nvSpPr>
          <p:cNvPr id="5" name="TextBox 4">
            <a:extLst>
              <a:ext uri="{FF2B5EF4-FFF2-40B4-BE49-F238E27FC236}">
                <a16:creationId xmlns:a16="http://schemas.microsoft.com/office/drawing/2014/main" id="{9C820DB3-1455-CBF3-46FB-E63F0268D5D5}"/>
              </a:ext>
            </a:extLst>
          </p:cNvPr>
          <p:cNvSpPr txBox="1"/>
          <p:nvPr/>
        </p:nvSpPr>
        <p:spPr>
          <a:xfrm flipH="1">
            <a:off x="6320286" y="3605840"/>
            <a:ext cx="169940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Similar measures but they diverge once cities get above ~500k</a:t>
            </a:r>
          </a:p>
        </p:txBody>
      </p:sp>
      <p:cxnSp>
        <p:nvCxnSpPr>
          <p:cNvPr id="7" name="Straight Connector 6">
            <a:extLst>
              <a:ext uri="{FF2B5EF4-FFF2-40B4-BE49-F238E27FC236}">
                <a16:creationId xmlns:a16="http://schemas.microsoft.com/office/drawing/2014/main" id="{EFAAC382-166D-715D-1ADC-D040FFA29760}"/>
              </a:ext>
            </a:extLst>
          </p:cNvPr>
          <p:cNvCxnSpPr>
            <a:cxnSpLocks/>
          </p:cNvCxnSpPr>
          <p:nvPr/>
        </p:nvCxnSpPr>
        <p:spPr>
          <a:xfrm flipV="1">
            <a:off x="4088921" y="931653"/>
            <a:ext cx="0" cy="4770407"/>
          </a:xfrm>
          <a:prstGeom prst="line">
            <a:avLst/>
          </a:prstGeom>
          <a:ln w="15875">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D0F0506-DC76-7A9A-5863-0AD50ECAABAC}"/>
              </a:ext>
            </a:extLst>
          </p:cNvPr>
          <p:cNvSpPr txBox="1"/>
          <p:nvPr/>
        </p:nvSpPr>
        <p:spPr>
          <a:xfrm>
            <a:off x="4172317" y="562321"/>
            <a:ext cx="21239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panose="020F0502020204030204"/>
                <a:ea typeface="+mn-ea"/>
                <a:cs typeface="+mn-cs"/>
              </a:rPr>
              <a:t>Population=1 million</a:t>
            </a:r>
          </a:p>
        </p:txBody>
      </p:sp>
      <p:pic>
        <p:nvPicPr>
          <p:cNvPr id="11" name="Picture 10">
            <a:extLst>
              <a:ext uri="{FF2B5EF4-FFF2-40B4-BE49-F238E27FC236}">
                <a16:creationId xmlns:a16="http://schemas.microsoft.com/office/drawing/2014/main" id="{8498F9AE-973F-3F40-0815-EC9C6345374E}"/>
              </a:ext>
            </a:extLst>
          </p:cNvPr>
          <p:cNvPicPr>
            <a:picLocks noChangeAspect="1"/>
          </p:cNvPicPr>
          <p:nvPr/>
        </p:nvPicPr>
        <p:blipFill>
          <a:blip r:embed="rId3"/>
          <a:stretch>
            <a:fillRect/>
          </a:stretch>
        </p:blipFill>
        <p:spPr>
          <a:xfrm>
            <a:off x="8842977" y="136524"/>
            <a:ext cx="2884095" cy="2879803"/>
          </a:xfrm>
          <a:prstGeom prst="rect">
            <a:avLst/>
          </a:prstGeom>
        </p:spPr>
      </p:pic>
      <p:cxnSp>
        <p:nvCxnSpPr>
          <p:cNvPr id="12" name="Straight Connector 11">
            <a:extLst>
              <a:ext uri="{FF2B5EF4-FFF2-40B4-BE49-F238E27FC236}">
                <a16:creationId xmlns:a16="http://schemas.microsoft.com/office/drawing/2014/main" id="{C871CC29-CE77-83C9-0224-247869766D3B}"/>
              </a:ext>
            </a:extLst>
          </p:cNvPr>
          <p:cNvCxnSpPr>
            <a:cxnSpLocks/>
          </p:cNvCxnSpPr>
          <p:nvPr/>
        </p:nvCxnSpPr>
        <p:spPr>
          <a:xfrm flipV="1">
            <a:off x="3749615" y="931653"/>
            <a:ext cx="0" cy="4770407"/>
          </a:xfrm>
          <a:prstGeom prst="line">
            <a:avLst/>
          </a:prstGeom>
          <a:ln w="15875">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50C7997-E445-A7D4-0EA2-AD6132C3AD21}"/>
              </a:ext>
            </a:extLst>
          </p:cNvPr>
          <p:cNvSpPr txBox="1"/>
          <p:nvPr/>
        </p:nvSpPr>
        <p:spPr>
          <a:xfrm>
            <a:off x="1857557" y="822677"/>
            <a:ext cx="17697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Population=400k</a:t>
            </a:r>
          </a:p>
        </p:txBody>
      </p:sp>
      <p:cxnSp>
        <p:nvCxnSpPr>
          <p:cNvPr id="14" name="Straight Connector 13">
            <a:extLst>
              <a:ext uri="{FF2B5EF4-FFF2-40B4-BE49-F238E27FC236}">
                <a16:creationId xmlns:a16="http://schemas.microsoft.com/office/drawing/2014/main" id="{F9FA8214-4143-099E-F922-D261DAC7859A}"/>
              </a:ext>
            </a:extLst>
          </p:cNvPr>
          <p:cNvCxnSpPr>
            <a:cxnSpLocks/>
          </p:cNvCxnSpPr>
          <p:nvPr/>
        </p:nvCxnSpPr>
        <p:spPr>
          <a:xfrm flipV="1">
            <a:off x="10199299" y="1086928"/>
            <a:ext cx="0" cy="1490159"/>
          </a:xfrm>
          <a:prstGeom prst="line">
            <a:avLst/>
          </a:prstGeom>
          <a:ln w="15875">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62E287E-A1E2-FF91-2335-3533E5028F88}"/>
              </a:ext>
            </a:extLst>
          </p:cNvPr>
          <p:cNvCxnSpPr>
            <a:cxnSpLocks/>
          </p:cNvCxnSpPr>
          <p:nvPr/>
        </p:nvCxnSpPr>
        <p:spPr>
          <a:xfrm flipV="1">
            <a:off x="10550106" y="1086928"/>
            <a:ext cx="0" cy="1490159"/>
          </a:xfrm>
          <a:prstGeom prst="line">
            <a:avLst/>
          </a:prstGeom>
          <a:ln w="15875">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60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0F7FA7-FC46-D6F0-F9BD-078A40EBD8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D5976A-C896-4839-B9E3-E9AA6EA2AD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7E7D59C-5711-F79F-71F9-1F1F2BF89426}"/>
              </a:ext>
            </a:extLst>
          </p:cNvPr>
          <p:cNvPicPr>
            <a:picLocks noChangeAspect="1"/>
          </p:cNvPicPr>
          <p:nvPr/>
        </p:nvPicPr>
        <p:blipFill>
          <a:blip r:embed="rId2">
            <a:grayscl/>
          </a:blip>
          <a:stretch>
            <a:fillRect/>
          </a:stretch>
        </p:blipFill>
        <p:spPr>
          <a:xfrm>
            <a:off x="6560018" y="2574744"/>
            <a:ext cx="5050497" cy="3556016"/>
          </a:xfrm>
          <a:prstGeom prst="rect">
            <a:avLst/>
          </a:prstGeom>
        </p:spPr>
      </p:pic>
      <p:sp>
        <p:nvSpPr>
          <p:cNvPr id="12" name="TextBox 11">
            <a:extLst>
              <a:ext uri="{FF2B5EF4-FFF2-40B4-BE49-F238E27FC236}">
                <a16:creationId xmlns:a16="http://schemas.microsoft.com/office/drawing/2014/main" id="{54ADDEA3-8E45-5BAB-8309-B77EB8055965}"/>
              </a:ext>
            </a:extLst>
          </p:cNvPr>
          <p:cNvSpPr txBox="1"/>
          <p:nvPr/>
        </p:nvSpPr>
        <p:spPr>
          <a:xfrm>
            <a:off x="425081" y="74360"/>
            <a:ext cx="8451730"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a:t>
            </a:r>
            <a:r>
              <a:rPr kumimoji="0" lang="en-US" sz="1600" b="1" i="0" u="none" strike="noStrike" kern="1200" cap="none" spc="0" normalizeH="0" baseline="0" noProof="0" dirty="0" err="1">
                <a:ln>
                  <a:noFill/>
                </a:ln>
                <a:solidFill>
                  <a:prstClr val="black"/>
                </a:solidFill>
                <a:effectLst/>
                <a:uLnTx/>
                <a:uFillTx/>
                <a:latin typeface="Source Code Pro" panose="020B0509030403020204" pitchFamily="49" charset="0"/>
                <a:ea typeface="Source Code Pro" panose="020B0509030403020204" pitchFamily="49" charset="0"/>
                <a:cs typeface="+mn-cs"/>
              </a:rPr>
              <a:t>popM</a:t>
            </a: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low    </a:t>
            </a:r>
            <a:r>
              <a:rPr kumimoji="0" lang="en-US" sz="1600" b="1" i="0" u="none" strike="noStrike" kern="1200" cap="none" spc="0" normalizeH="0" baseline="0" noProof="0" dirty="0" err="1">
                <a:ln>
                  <a:noFill/>
                </a:ln>
                <a:solidFill>
                  <a:prstClr val="black"/>
                </a:solidFill>
                <a:effectLst/>
                <a:uLnTx/>
                <a:uFillTx/>
                <a:latin typeface="Source Code Pro" panose="020B0509030403020204" pitchFamily="49" charset="0"/>
                <a:ea typeface="Source Code Pro" panose="020B0509030403020204" pitchFamily="49" charset="0"/>
                <a:cs typeface="+mn-cs"/>
              </a:rPr>
              <a:t>ave</a:t>
            </a: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high </a:t>
            </a:r>
            <a:r>
              <a:rPr kumimoji="0" lang="en-US" sz="1600" b="1" i="0" u="none" strike="noStrike" kern="1200" cap="none" spc="0" normalizeH="0" baseline="0" noProof="0" dirty="0" err="1">
                <a:ln>
                  <a:noFill/>
                </a:ln>
                <a:solidFill>
                  <a:prstClr val="black"/>
                </a:solidFill>
                <a:effectLst/>
                <a:uLnTx/>
                <a:uFillTx/>
                <a:latin typeface="Source Code Pro" panose="020B0509030403020204" pitchFamily="49" charset="0"/>
                <a:ea typeface="Source Code Pro" panose="020B0509030403020204" pitchFamily="49" charset="0"/>
                <a:cs typeface="+mn-cs"/>
              </a:rPr>
              <a:t>low.ratio</a:t>
            </a:r>
            <a:r>
              <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rPr>
              <a:t> </a:t>
            </a:r>
            <a:r>
              <a:rPr kumimoji="0" lang="en-US" sz="1600" b="1" i="0" u="none" strike="noStrike" kern="1200" cap="none" spc="0" normalizeH="0" baseline="0" noProof="0" dirty="0" err="1">
                <a:ln>
                  <a:noFill/>
                </a:ln>
                <a:solidFill>
                  <a:prstClr val="black"/>
                </a:solidFill>
                <a:effectLst/>
                <a:uLnTx/>
                <a:uFillTx/>
                <a:latin typeface="Source Code Pro" panose="020B0509030403020204" pitchFamily="49" charset="0"/>
                <a:ea typeface="Source Code Pro" panose="020B0509030403020204" pitchFamily="49" charset="0"/>
                <a:cs typeface="+mn-cs"/>
              </a:rPr>
              <a:t>high.ratio</a:t>
            </a:r>
            <a:endParaRPr kumimoji="0" lang="en-US" sz="1600" b="1" i="0" u="none" strike="noStrike" kern="1200" cap="none" spc="0" normalizeH="0" baseline="0" noProof="0" dirty="0">
              <a:ln>
                <a:noFill/>
              </a:ln>
              <a:solidFill>
                <a:prstClr val="black"/>
              </a:solidFill>
              <a:effectLst/>
              <a:uLnTx/>
              <a:uFillTx/>
              <a:latin typeface="Source Code Pro" panose="020B0509030403020204" pitchFamily="49" charset="0"/>
              <a:ea typeface="Source Code Pro" panose="020B0509030403020204" pitchFamily="49"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1  0.01      4      6       9      0.67       1.50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2  0.03     14     20      28      0.70       1.40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3  0.10     44     64      93      0.69       1.45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4  0.32    144    209     302      0.69       1.44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5  1.00    470    679     982      0.69       1.45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6  3.16   1529   2211    3195      0.69       1.45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7 10.00   </a:t>
            </a:r>
            <a:r>
              <a:rPr kumimoji="0" lang="en-US" sz="1600" b="1" i="0" u="none" strike="noStrike" kern="1200" cap="none" spc="0" normalizeH="0" baseline="0" noProof="0" dirty="0">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4977   7194   10399      </a:t>
            </a:r>
            <a:r>
              <a:rPr kumimoji="0" lang="en-US" sz="1600" b="0" i="0" u="none" strike="noStrike" kern="1200" cap="none" spc="0" normalizeH="0" baseline="0" noProof="0" dirty="0">
                <a:ln>
                  <a:noFill/>
                </a:ln>
                <a:solidFill>
                  <a:prstClr val="black">
                    <a:lumMod val="50000"/>
                    <a:lumOff val="50000"/>
                  </a:prstClr>
                </a:solidFill>
                <a:effectLst/>
                <a:uLnTx/>
                <a:uFillTx/>
                <a:latin typeface="Source Code Pro" panose="020B0509030403020204" pitchFamily="49" charset="0"/>
                <a:ea typeface="Source Code Pro" panose="020B0509030403020204" pitchFamily="49" charset="0"/>
                <a:cs typeface="+mn-cs"/>
              </a:rPr>
              <a:t>0.69       1.45</a:t>
            </a:r>
          </a:p>
        </p:txBody>
      </p:sp>
      <p:grpSp>
        <p:nvGrpSpPr>
          <p:cNvPr id="3" name="Group 2">
            <a:extLst>
              <a:ext uri="{FF2B5EF4-FFF2-40B4-BE49-F238E27FC236}">
                <a16:creationId xmlns:a16="http://schemas.microsoft.com/office/drawing/2014/main" id="{1A820DBF-3D28-540F-D949-52F5234115BD}"/>
              </a:ext>
            </a:extLst>
          </p:cNvPr>
          <p:cNvGrpSpPr/>
          <p:nvPr/>
        </p:nvGrpSpPr>
        <p:grpSpPr>
          <a:xfrm>
            <a:off x="581485" y="2982896"/>
            <a:ext cx="5216065" cy="3556016"/>
            <a:chOff x="967865" y="2875943"/>
            <a:chExt cx="5216065" cy="3556016"/>
          </a:xfrm>
        </p:grpSpPr>
        <p:pic>
          <p:nvPicPr>
            <p:cNvPr id="10" name="Picture 9">
              <a:extLst>
                <a:ext uri="{FF2B5EF4-FFF2-40B4-BE49-F238E27FC236}">
                  <a16:creationId xmlns:a16="http://schemas.microsoft.com/office/drawing/2014/main" id="{EB92B47E-14F9-1C2A-D9E3-C87E362BE12C}"/>
                </a:ext>
              </a:extLst>
            </p:cNvPr>
            <p:cNvPicPr>
              <a:picLocks noChangeAspect="1"/>
            </p:cNvPicPr>
            <p:nvPr/>
          </p:nvPicPr>
          <p:blipFill>
            <a:blip r:embed="rId3"/>
            <a:stretch>
              <a:fillRect/>
            </a:stretch>
          </p:blipFill>
          <p:spPr>
            <a:xfrm>
              <a:off x="967865" y="2875943"/>
              <a:ext cx="4215105" cy="3556016"/>
            </a:xfrm>
            <a:prstGeom prst="rect">
              <a:avLst/>
            </a:prstGeom>
          </p:spPr>
        </p:pic>
        <p:sp>
          <p:nvSpPr>
            <p:cNvPr id="7" name="Oval 6">
              <a:extLst>
                <a:ext uri="{FF2B5EF4-FFF2-40B4-BE49-F238E27FC236}">
                  <a16:creationId xmlns:a16="http://schemas.microsoft.com/office/drawing/2014/main" id="{84460B14-6ED0-8AFB-AF15-88E0EBA2FBA7}"/>
                </a:ext>
              </a:extLst>
            </p:cNvPr>
            <p:cNvSpPr/>
            <p:nvPr/>
          </p:nvSpPr>
          <p:spPr>
            <a:xfrm>
              <a:off x="3006405" y="3933645"/>
              <a:ext cx="138023" cy="15527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47A9DAF2-1511-EF89-EEF7-DC8D158D7ED6}"/>
                </a:ext>
              </a:extLst>
            </p:cNvPr>
            <p:cNvSpPr/>
            <p:nvPr/>
          </p:nvSpPr>
          <p:spPr>
            <a:xfrm>
              <a:off x="3006404" y="4974145"/>
              <a:ext cx="138023" cy="155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FF9193E-DAFE-F5D8-2732-49E2411163F5}"/>
                </a:ext>
              </a:extLst>
            </p:cNvPr>
            <p:cNvSpPr txBox="1"/>
            <p:nvPr/>
          </p:nvSpPr>
          <p:spPr>
            <a:xfrm>
              <a:off x="1558244" y="3775598"/>
              <a:ext cx="593122"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1 </a:t>
              </a:r>
              <a:r>
                <a:rPr kumimoji="0" lang="en-US" sz="1200" b="0" i="0" u="none" strike="noStrike" kern="1200" cap="none" spc="0" normalizeH="0" baseline="0" noProof="0" dirty="0" err="1">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rPr>
                <a:t>sd</a:t>
              </a:r>
              <a:endParaRPr kumimoji="0" lang="en-US" sz="1200" b="0" i="0" u="none" strike="noStrike" kern="1200" cap="none" spc="0" normalizeH="0" baseline="0" noProof="0" dirty="0">
                <a:ln>
                  <a:noFill/>
                </a:ln>
                <a:solidFill>
                  <a:prstClr val="black">
                    <a:lumMod val="50000"/>
                    <a:lumOff val="50000"/>
                  </a:prstClr>
                </a:solidFill>
                <a:effectLst/>
                <a:uLnTx/>
                <a:uFillTx/>
                <a:latin typeface="Aptos Mono" panose="020F0502020204030204" pitchFamily="49" charset="0"/>
                <a:ea typeface="+mn-ea"/>
                <a:cs typeface="Aharoni" panose="02010803020104030203" pitchFamily="2" charset="-79"/>
              </a:endParaRPr>
            </a:p>
          </p:txBody>
        </p:sp>
        <p:cxnSp>
          <p:nvCxnSpPr>
            <p:cNvPr id="14" name="Straight Arrow Connector 13">
              <a:extLst>
                <a:ext uri="{FF2B5EF4-FFF2-40B4-BE49-F238E27FC236}">
                  <a16:creationId xmlns:a16="http://schemas.microsoft.com/office/drawing/2014/main" id="{94F286FF-B392-A2C4-E2F4-2134661373F6}"/>
                </a:ext>
              </a:extLst>
            </p:cNvPr>
            <p:cNvCxnSpPr>
              <a:cxnSpLocks/>
            </p:cNvCxnSpPr>
            <p:nvPr/>
          </p:nvCxnSpPr>
          <p:spPr>
            <a:xfrm>
              <a:off x="3084040" y="414592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4A67F70-3DBA-A2CE-B1AE-4640CC50C114}"/>
                </a:ext>
              </a:extLst>
            </p:cNvPr>
            <p:cNvCxnSpPr/>
            <p:nvPr/>
          </p:nvCxnSpPr>
          <p:spPr>
            <a:xfrm flipH="1">
              <a:off x="3144427" y="3588589"/>
              <a:ext cx="436974" cy="345056"/>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62BB8C2-19E1-2303-CBC9-0CCE8F8FD2EF}"/>
                </a:ext>
              </a:extLst>
            </p:cNvPr>
            <p:cNvSpPr txBox="1"/>
            <p:nvPr/>
          </p:nvSpPr>
          <p:spPr>
            <a:xfrm>
              <a:off x="2694708" y="3028536"/>
              <a:ext cx="22252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45% more nonprofits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than typical city</a:t>
              </a:r>
            </a:p>
          </p:txBody>
        </p:sp>
        <p:sp>
          <p:nvSpPr>
            <p:cNvPr id="19" name="Oval 18">
              <a:extLst>
                <a:ext uri="{FF2B5EF4-FFF2-40B4-BE49-F238E27FC236}">
                  <a16:creationId xmlns:a16="http://schemas.microsoft.com/office/drawing/2014/main" id="{8AA08A76-D41C-CF13-92DC-3829C4A2A5F0}"/>
                </a:ext>
              </a:extLst>
            </p:cNvPr>
            <p:cNvSpPr/>
            <p:nvPr/>
          </p:nvSpPr>
          <p:spPr>
            <a:xfrm>
              <a:off x="3006403" y="4503961"/>
              <a:ext cx="138023" cy="155276"/>
            </a:xfrm>
            <a:prstGeom prst="ellipse">
              <a:avLst/>
            </a:prstGeom>
            <a:solidFill>
              <a:srgbClr val="FF0000"/>
            </a:solidFill>
            <a:ln w="222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0A2E9F97-94B6-D632-8A91-3FEC79E9E17F}"/>
                </a:ext>
              </a:extLst>
            </p:cNvPr>
            <p:cNvCxnSpPr>
              <a:cxnSpLocks/>
            </p:cNvCxnSpPr>
            <p:nvPr/>
          </p:nvCxnSpPr>
          <p:spPr>
            <a:xfrm flipH="1" flipV="1">
              <a:off x="3256124" y="4621741"/>
              <a:ext cx="790683" cy="31154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ACBB51F-76D4-A4D1-7E08-5C7D8E7FC153}"/>
                </a:ext>
              </a:extLst>
            </p:cNvPr>
            <p:cNvCxnSpPr>
              <a:cxnSpLocks/>
            </p:cNvCxnSpPr>
            <p:nvPr/>
          </p:nvCxnSpPr>
          <p:spPr>
            <a:xfrm flipH="1" flipV="1">
              <a:off x="3256124" y="5129421"/>
              <a:ext cx="790682" cy="397429"/>
            </a:xfrm>
            <a:prstGeom prst="straightConnector1">
              <a:avLst/>
            </a:prstGeom>
            <a:ln w="158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FF5431F-331D-BC41-B8A2-6EDEB5D4EB24}"/>
                </a:ext>
              </a:extLst>
            </p:cNvPr>
            <p:cNvSpPr txBox="1"/>
            <p:nvPr/>
          </p:nvSpPr>
          <p:spPr>
            <a:xfrm>
              <a:off x="4046806" y="5299526"/>
              <a:ext cx="213712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31% fewer nonprofits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than typical city</a:t>
              </a:r>
            </a:p>
          </p:txBody>
        </p:sp>
        <p:sp>
          <p:nvSpPr>
            <p:cNvPr id="29" name="TextBox 28">
              <a:extLst>
                <a:ext uri="{FF2B5EF4-FFF2-40B4-BE49-F238E27FC236}">
                  <a16:creationId xmlns:a16="http://schemas.microsoft.com/office/drawing/2014/main" id="{3E06E872-1F45-5BA9-EC0E-2F72FE97DC6C}"/>
                </a:ext>
              </a:extLst>
            </p:cNvPr>
            <p:cNvSpPr txBox="1"/>
            <p:nvPr/>
          </p:nvSpPr>
          <p:spPr>
            <a:xfrm>
              <a:off x="4158505" y="4787093"/>
              <a:ext cx="147348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t>typical city</a:t>
              </a:r>
            </a:p>
          </p:txBody>
        </p:sp>
        <p:cxnSp>
          <p:nvCxnSpPr>
            <p:cNvPr id="30" name="Straight Arrow Connector 29">
              <a:extLst>
                <a:ext uri="{FF2B5EF4-FFF2-40B4-BE49-F238E27FC236}">
                  <a16:creationId xmlns:a16="http://schemas.microsoft.com/office/drawing/2014/main" id="{9D395B48-58B2-6965-55D9-0910E60ABDF4}"/>
                </a:ext>
              </a:extLst>
            </p:cNvPr>
            <p:cNvCxnSpPr>
              <a:cxnSpLocks/>
            </p:cNvCxnSpPr>
            <p:nvPr/>
          </p:nvCxnSpPr>
          <p:spPr>
            <a:xfrm>
              <a:off x="3075417" y="466298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430F0DF-B5B0-E4E4-500D-F771F894B67E}"/>
                </a:ext>
              </a:extLst>
            </p:cNvPr>
            <p:cNvCxnSpPr>
              <a:cxnSpLocks/>
            </p:cNvCxnSpPr>
            <p:nvPr/>
          </p:nvCxnSpPr>
          <p:spPr>
            <a:xfrm>
              <a:off x="2144274" y="3761117"/>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BA13CBF1-0E72-CBF9-E739-BF544FA18784}"/>
              </a:ext>
            </a:extLst>
          </p:cNvPr>
          <p:cNvSpPr txBox="1"/>
          <p:nvPr/>
        </p:nvSpPr>
        <p:spPr>
          <a:xfrm>
            <a:off x="7417358" y="1764619"/>
            <a:ext cx="4193157"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50000"/>
                    <a:lumOff val="50000"/>
                  </a:prstClr>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log10(Num NPO) = -3.318 + 1.025·log10(pop)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50000"/>
                  <a:lumOff val="50000"/>
                </a:prstClr>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lumMod val="50000"/>
                    <a:lumOff val="50000"/>
                  </a:prstClr>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sd</a:t>
            </a:r>
            <a:r>
              <a:rPr kumimoji="0" lang="en-US" sz="1200" b="0" i="0" u="none" strike="noStrike" kern="1200" cap="none" spc="0" normalizeH="0" baseline="0" noProof="0" dirty="0">
                <a:ln>
                  <a:noFill/>
                </a:ln>
                <a:solidFill>
                  <a:prstClr val="black">
                    <a:lumMod val="50000"/>
                    <a:lumOff val="50000"/>
                  </a:prstClr>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 residual ) = 0.15 </a:t>
            </a:r>
          </a:p>
        </p:txBody>
      </p:sp>
      <p:sp>
        <p:nvSpPr>
          <p:cNvPr id="35" name="TextBox 34">
            <a:extLst>
              <a:ext uri="{FF2B5EF4-FFF2-40B4-BE49-F238E27FC236}">
                <a16:creationId xmlns:a16="http://schemas.microsoft.com/office/drawing/2014/main" id="{2E539A0F-F443-365C-9715-60B86C9481F5}"/>
              </a:ext>
            </a:extLst>
          </p:cNvPr>
          <p:cNvSpPr txBox="1"/>
          <p:nvPr/>
        </p:nvSpPr>
        <p:spPr>
          <a:xfrm>
            <a:off x="6751967" y="6143418"/>
            <a:ext cx="6094562"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lumMod val="75000"/>
                  </a:prstClr>
                </a:solidFill>
                <a:effectLst/>
                <a:uLnTx/>
                <a:uFillTx/>
                <a:latin typeface="Source Code Pro" panose="020B0509030403020204" pitchFamily="49" charset="0"/>
                <a:ea typeface="Source Code Pro" panose="020B0509030403020204" pitchFamily="49" charset="0"/>
                <a:cs typeface="+mn-cs"/>
              </a:rPr>
              <a:t>&gt; summary( dd2$residuals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lumMod val="75000"/>
                  </a:prstClr>
                </a:solidFill>
                <a:effectLst/>
                <a:uLnTx/>
                <a:uFillTx/>
                <a:latin typeface="Source Code Pro" panose="020B0509030403020204" pitchFamily="49" charset="0"/>
                <a:ea typeface="Source Code Pro" panose="020B0509030403020204" pitchFamily="49" charset="0"/>
                <a:cs typeface="+mn-cs"/>
              </a:rPr>
              <a:t>     Min.   1st Qu.    Median      Mean   3rd Qu.      Max.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lumMod val="75000"/>
                  </a:prstClr>
                </a:solidFill>
                <a:effectLst/>
                <a:uLnTx/>
                <a:uFillTx/>
                <a:latin typeface="Source Code Pro" panose="020B0509030403020204" pitchFamily="49" charset="0"/>
                <a:ea typeface="Source Code Pro" panose="020B0509030403020204" pitchFamily="49" charset="0"/>
                <a:cs typeface="+mn-cs"/>
              </a:rPr>
              <a:t>-1.252324 -0.086992  0.008122  0.000000  0.095839  0.495278</a:t>
            </a:r>
          </a:p>
        </p:txBody>
      </p:sp>
      <p:sp>
        <p:nvSpPr>
          <p:cNvPr id="5" name="TextBox 4">
            <a:extLst>
              <a:ext uri="{FF2B5EF4-FFF2-40B4-BE49-F238E27FC236}">
                <a16:creationId xmlns:a16="http://schemas.microsoft.com/office/drawing/2014/main" id="{D4AE89CD-C176-66E7-A7AF-5A6F7BB435EB}"/>
              </a:ext>
            </a:extLst>
          </p:cNvPr>
          <p:cNvSpPr txBox="1"/>
          <p:nvPr/>
        </p:nvSpPr>
        <p:spPr>
          <a:xfrm>
            <a:off x="1468425" y="2325480"/>
            <a:ext cx="290824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Cities with 10 million people have between 4,977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10,399 new nonprofits</a:t>
            </a:r>
          </a:p>
        </p:txBody>
      </p:sp>
      <p:sp>
        <p:nvSpPr>
          <p:cNvPr id="6" name="TextBox 5">
            <a:extLst>
              <a:ext uri="{FF2B5EF4-FFF2-40B4-BE49-F238E27FC236}">
                <a16:creationId xmlns:a16="http://schemas.microsoft.com/office/drawing/2014/main" id="{B77CF572-5CDD-A17D-AC23-754AD1DF2168}"/>
              </a:ext>
            </a:extLst>
          </p:cNvPr>
          <p:cNvSpPr txBox="1"/>
          <p:nvPr/>
        </p:nvSpPr>
        <p:spPr>
          <a:xfrm>
            <a:off x="7631141" y="136525"/>
            <a:ext cx="29082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Ratio relative to </a:t>
            </a:r>
            <a:r>
              <a:rPr kumimoji="0" lang="en-US" sz="1200" b="0" i="0" u="none" strike="noStrike" kern="1200" cap="none" spc="0" normalizeH="0" baseline="0" noProof="0" dirty="0" err="1">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ave</a:t>
            </a:r>
            <a:r>
              <a:rPr kumimoji="0" lang="en-US" sz="1200" b="0" i="0" u="none" strike="noStrike" kern="1200" cap="none" spc="0" normalizeH="0" baseline="0" noProof="0" dirty="0">
                <a:ln>
                  <a:noFill/>
                </a:ln>
                <a:solidFill>
                  <a:prstClr val="black">
                    <a:lumMod val="75000"/>
                    <a:lumOff val="25000"/>
                  </a:prstClr>
                </a:solidFill>
                <a:effectLst/>
                <a:uLnTx/>
                <a:uFillTx/>
                <a:latin typeface="Source Code Pro" panose="020B0509030403020204" pitchFamily="49" charset="0"/>
                <a:ea typeface="Source Code Pro" panose="020B0509030403020204" pitchFamily="49" charset="0"/>
                <a:cs typeface="+mn-cs"/>
              </a:rPr>
              <a:t> level for a city of that size</a:t>
            </a:r>
          </a:p>
        </p:txBody>
      </p:sp>
      <p:cxnSp>
        <p:nvCxnSpPr>
          <p:cNvPr id="9" name="Straight Arrow Connector 8">
            <a:extLst>
              <a:ext uri="{FF2B5EF4-FFF2-40B4-BE49-F238E27FC236}">
                <a16:creationId xmlns:a16="http://schemas.microsoft.com/office/drawing/2014/main" id="{1DFA9A7C-5F12-98E7-80A5-7DCA33CAA472}"/>
              </a:ext>
            </a:extLst>
          </p:cNvPr>
          <p:cNvCxnSpPr>
            <a:cxnSpLocks/>
          </p:cNvCxnSpPr>
          <p:nvPr/>
        </p:nvCxnSpPr>
        <p:spPr>
          <a:xfrm flipH="1">
            <a:off x="7010400" y="291153"/>
            <a:ext cx="634853"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3813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5BBC9-12A8-DD44-F4BF-543F3ACDA5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E7022C-A624-8CEE-F6F1-76AB66E020D7}"/>
              </a:ext>
            </a:extLst>
          </p:cNvPr>
          <p:cNvSpPr>
            <a:spLocks noGrp="1"/>
          </p:cNvSpPr>
          <p:nvPr>
            <p:ph type="sldNum" sz="quarter" idx="12"/>
          </p:nvPr>
        </p:nvSpPr>
        <p:spPr/>
        <p:txBody>
          <a:bodyPr/>
          <a:lstStyle/>
          <a:p>
            <a:fld id="{F3963908-5577-44A4-91B0-79992FE49834}" type="slidenum">
              <a:rPr lang="en-US" smtClean="0"/>
              <a:t>20</a:t>
            </a:fld>
            <a:endParaRPr lang="en-US"/>
          </a:p>
        </p:txBody>
      </p:sp>
      <p:pic>
        <p:nvPicPr>
          <p:cNvPr id="6" name="Picture 5">
            <a:extLst>
              <a:ext uri="{FF2B5EF4-FFF2-40B4-BE49-F238E27FC236}">
                <a16:creationId xmlns:a16="http://schemas.microsoft.com/office/drawing/2014/main" id="{B584BC32-D9E4-4690-8AF3-245AC049A188}"/>
              </a:ext>
            </a:extLst>
          </p:cNvPr>
          <p:cNvPicPr>
            <a:picLocks noChangeAspect="1"/>
          </p:cNvPicPr>
          <p:nvPr/>
        </p:nvPicPr>
        <p:blipFill rotWithShape="1">
          <a:blip r:embed="rId2"/>
          <a:srcRect t="51192"/>
          <a:stretch/>
        </p:blipFill>
        <p:spPr>
          <a:xfrm>
            <a:off x="688830" y="2495633"/>
            <a:ext cx="10507489" cy="3832074"/>
          </a:xfrm>
          <a:prstGeom prst="rect">
            <a:avLst/>
          </a:prstGeom>
        </p:spPr>
      </p:pic>
      <p:sp>
        <p:nvSpPr>
          <p:cNvPr id="7" name="TextBox 6">
            <a:extLst>
              <a:ext uri="{FF2B5EF4-FFF2-40B4-BE49-F238E27FC236}">
                <a16:creationId xmlns:a16="http://schemas.microsoft.com/office/drawing/2014/main" id="{977BE50E-74FC-C209-2CA2-1D1389BBBE2E}"/>
              </a:ext>
            </a:extLst>
          </p:cNvPr>
          <p:cNvSpPr txBox="1"/>
          <p:nvPr/>
        </p:nvSpPr>
        <p:spPr>
          <a:xfrm>
            <a:off x="1215744" y="1214416"/>
            <a:ext cx="3894736" cy="1077218"/>
          </a:xfrm>
          <a:prstGeom prst="rect">
            <a:avLst/>
          </a:prstGeom>
          <a:noFill/>
        </p:spPr>
        <p:txBody>
          <a:bodyPr wrap="square" rtlCol="0">
            <a:spAutoFit/>
          </a:bodyPr>
          <a:lstStyle/>
          <a:p>
            <a:pPr algn="ctr"/>
            <a:r>
              <a:rPr lang="en-US" sz="1600" dirty="0">
                <a:solidFill>
                  <a:schemeClr val="accent1">
                    <a:lumMod val="75000"/>
                  </a:schemeClr>
                </a:solidFill>
                <a:latin typeface="Roboto Mono" panose="00000009000000000000" pitchFamily="49" charset="0"/>
                <a:ea typeface="Roboto Mono" panose="00000009000000000000" pitchFamily="49" charset="0"/>
              </a:rPr>
              <a:t>since the metric is not independent from population we cannot compare rates across cities of different sizes  </a:t>
            </a:r>
          </a:p>
        </p:txBody>
      </p:sp>
      <p:sp>
        <p:nvSpPr>
          <p:cNvPr id="8" name="TextBox 7">
            <a:extLst>
              <a:ext uri="{FF2B5EF4-FFF2-40B4-BE49-F238E27FC236}">
                <a16:creationId xmlns:a16="http://schemas.microsoft.com/office/drawing/2014/main" id="{F17C755C-B663-2FC1-E591-320AA4F21765}"/>
              </a:ext>
            </a:extLst>
          </p:cNvPr>
          <p:cNvSpPr txBox="1"/>
          <p:nvPr/>
        </p:nvSpPr>
        <p:spPr>
          <a:xfrm>
            <a:off x="6435396" y="1214416"/>
            <a:ext cx="4185260" cy="1077218"/>
          </a:xfrm>
          <a:prstGeom prst="rect">
            <a:avLst/>
          </a:prstGeom>
          <a:noFill/>
        </p:spPr>
        <p:txBody>
          <a:bodyPr wrap="square" rtlCol="0">
            <a:spAutoFit/>
          </a:bodyPr>
          <a:lstStyle/>
          <a:p>
            <a:pPr algn="ctr"/>
            <a:r>
              <a:rPr lang="en-US" sz="1600" dirty="0">
                <a:solidFill>
                  <a:schemeClr val="accent1">
                    <a:lumMod val="75000"/>
                  </a:schemeClr>
                </a:solidFill>
                <a:latin typeface="Roboto Mono" panose="00000009000000000000" pitchFamily="49" charset="0"/>
                <a:ea typeface="Roboto Mono" panose="00000009000000000000" pitchFamily="49" charset="0"/>
              </a:rPr>
              <a:t>population size and the density metric are uncorrelated: cleaner measure of relative density independent of population</a:t>
            </a:r>
          </a:p>
        </p:txBody>
      </p:sp>
      <p:sp>
        <p:nvSpPr>
          <p:cNvPr id="2" name="TextBox 1">
            <a:extLst>
              <a:ext uri="{FF2B5EF4-FFF2-40B4-BE49-F238E27FC236}">
                <a16:creationId xmlns:a16="http://schemas.microsoft.com/office/drawing/2014/main" id="{71BB8F32-30F7-6AB6-37DD-2E35AA5061E1}"/>
              </a:ext>
            </a:extLst>
          </p:cNvPr>
          <p:cNvSpPr txBox="1"/>
          <p:nvPr/>
        </p:nvSpPr>
        <p:spPr>
          <a:xfrm>
            <a:off x="2087336" y="553329"/>
            <a:ext cx="2151551" cy="461665"/>
          </a:xfrm>
          <a:prstGeom prst="rect">
            <a:avLst/>
          </a:prstGeom>
          <a:noFill/>
        </p:spPr>
        <p:txBody>
          <a:bodyPr wrap="none" rtlCol="0">
            <a:spAutoFit/>
          </a:bodyPr>
          <a:lstStyle/>
          <a:p>
            <a:r>
              <a:rPr lang="en-US" sz="2400" dirty="0">
                <a:solidFill>
                  <a:schemeClr val="accent1">
                    <a:lumMod val="50000"/>
                  </a:schemeClr>
                </a:solidFill>
                <a:latin typeface="Oswald" panose="00000500000000000000" pitchFamily="2" charset="0"/>
              </a:rPr>
              <a:t>Per Capita Metric</a:t>
            </a:r>
          </a:p>
        </p:txBody>
      </p:sp>
      <p:sp>
        <p:nvSpPr>
          <p:cNvPr id="3" name="TextBox 2">
            <a:extLst>
              <a:ext uri="{FF2B5EF4-FFF2-40B4-BE49-F238E27FC236}">
                <a16:creationId xmlns:a16="http://schemas.microsoft.com/office/drawing/2014/main" id="{F4096330-41EA-7BCE-3DC1-7265CC791225}"/>
              </a:ext>
            </a:extLst>
          </p:cNvPr>
          <p:cNvSpPr txBox="1"/>
          <p:nvPr/>
        </p:nvSpPr>
        <p:spPr>
          <a:xfrm>
            <a:off x="6920053" y="530293"/>
            <a:ext cx="3215945" cy="461665"/>
          </a:xfrm>
          <a:prstGeom prst="rect">
            <a:avLst/>
          </a:prstGeom>
          <a:noFill/>
        </p:spPr>
        <p:txBody>
          <a:bodyPr wrap="none" rtlCol="0">
            <a:spAutoFit/>
          </a:bodyPr>
          <a:lstStyle/>
          <a:p>
            <a:r>
              <a:rPr lang="en-US" sz="2400" dirty="0" err="1">
                <a:solidFill>
                  <a:schemeClr val="accent1">
                    <a:lumMod val="50000"/>
                  </a:schemeClr>
                </a:solidFill>
                <a:latin typeface="Oswald" panose="00000500000000000000" pitchFamily="2" charset="0"/>
              </a:rPr>
              <a:t>Residualized</a:t>
            </a:r>
            <a:r>
              <a:rPr lang="en-US" sz="2400" dirty="0">
                <a:solidFill>
                  <a:schemeClr val="accent1">
                    <a:lumMod val="50000"/>
                  </a:schemeClr>
                </a:solidFill>
                <a:latin typeface="Oswald" panose="00000500000000000000" pitchFamily="2" charset="0"/>
              </a:rPr>
              <a:t> log-log Metric</a:t>
            </a:r>
          </a:p>
        </p:txBody>
      </p:sp>
    </p:spTree>
    <p:extLst>
      <p:ext uri="{BB962C8B-B14F-4D97-AF65-F5344CB8AC3E}">
        <p14:creationId xmlns:p14="http://schemas.microsoft.com/office/powerpoint/2010/main" val="1867819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C520D2-593A-2F14-6513-443F5ACB4C43}"/>
              </a:ext>
            </a:extLst>
          </p:cNvPr>
          <p:cNvSpPr>
            <a:spLocks noGrp="1"/>
          </p:cNvSpPr>
          <p:nvPr>
            <p:ph type="sldNum" sz="quarter" idx="12"/>
          </p:nvPr>
        </p:nvSpPr>
        <p:spPr/>
        <p:txBody>
          <a:bodyPr/>
          <a:lstStyle/>
          <a:p>
            <a:fld id="{F3963908-5577-44A4-91B0-79992FE49834}" type="slidenum">
              <a:rPr lang="en-US" smtClean="0"/>
              <a:t>21</a:t>
            </a:fld>
            <a:endParaRPr lang="en-US"/>
          </a:p>
        </p:txBody>
      </p:sp>
      <p:pic>
        <p:nvPicPr>
          <p:cNvPr id="4" name="Picture 3">
            <a:extLst>
              <a:ext uri="{FF2B5EF4-FFF2-40B4-BE49-F238E27FC236}">
                <a16:creationId xmlns:a16="http://schemas.microsoft.com/office/drawing/2014/main" id="{3F8F1DDB-7BDD-0424-B032-F07F5C72283D}"/>
              </a:ext>
            </a:extLst>
          </p:cNvPr>
          <p:cNvPicPr>
            <a:picLocks noChangeAspect="1"/>
          </p:cNvPicPr>
          <p:nvPr/>
        </p:nvPicPr>
        <p:blipFill>
          <a:blip r:embed="rId2"/>
          <a:stretch>
            <a:fillRect/>
          </a:stretch>
        </p:blipFill>
        <p:spPr>
          <a:xfrm>
            <a:off x="3581401" y="254146"/>
            <a:ext cx="8061160" cy="6224292"/>
          </a:xfrm>
          <a:prstGeom prst="rect">
            <a:avLst/>
          </a:prstGeom>
        </p:spPr>
      </p:pic>
      <p:sp>
        <p:nvSpPr>
          <p:cNvPr id="3" name="TextBox 2">
            <a:extLst>
              <a:ext uri="{FF2B5EF4-FFF2-40B4-BE49-F238E27FC236}">
                <a16:creationId xmlns:a16="http://schemas.microsoft.com/office/drawing/2014/main" id="{556167BB-5260-15A8-55AB-B5BCDBCB379E}"/>
              </a:ext>
            </a:extLst>
          </p:cNvPr>
          <p:cNvSpPr txBox="1"/>
          <p:nvPr/>
        </p:nvSpPr>
        <p:spPr>
          <a:xfrm>
            <a:off x="79795" y="770504"/>
            <a:ext cx="3405026" cy="1815882"/>
          </a:xfrm>
          <a:prstGeom prst="rect">
            <a:avLst/>
          </a:prstGeom>
          <a:noFill/>
        </p:spPr>
        <p:txBody>
          <a:bodyPr wrap="square">
            <a:spAutoFit/>
          </a:bodyPr>
          <a:lstStyle/>
          <a:p>
            <a:pPr algn="ctr">
              <a:buNone/>
            </a:pPr>
            <a:r>
              <a:rPr lang="en-US" sz="2800" b="1" i="0" dirty="0">
                <a:solidFill>
                  <a:srgbClr val="333132"/>
                </a:solidFill>
                <a:effectLst/>
                <a:latin typeface="Proxima Nova"/>
              </a:rPr>
              <a:t>Scale-Adjusted Metropolitan Indicators (SAMIs) </a:t>
            </a:r>
          </a:p>
        </p:txBody>
      </p:sp>
      <p:sp>
        <p:nvSpPr>
          <p:cNvPr id="6" name="TextBox 5">
            <a:extLst>
              <a:ext uri="{FF2B5EF4-FFF2-40B4-BE49-F238E27FC236}">
                <a16:creationId xmlns:a16="http://schemas.microsoft.com/office/drawing/2014/main" id="{EF66143D-B57B-D44A-C54C-22713DBA8C55}"/>
              </a:ext>
            </a:extLst>
          </p:cNvPr>
          <p:cNvSpPr txBox="1"/>
          <p:nvPr/>
        </p:nvSpPr>
        <p:spPr>
          <a:xfrm>
            <a:off x="459359" y="3055725"/>
            <a:ext cx="2766922" cy="1374735"/>
          </a:xfrm>
          <a:prstGeom prst="rect">
            <a:avLst/>
          </a:prstGeom>
          <a:noFill/>
        </p:spPr>
        <p:txBody>
          <a:bodyPr wrap="square">
            <a:spAutoFit/>
          </a:bodyPr>
          <a:lstStyle/>
          <a:p>
            <a:pPr algn="ctr">
              <a:lnSpc>
                <a:spcPts val="2025"/>
              </a:lnSpc>
              <a:spcAft>
                <a:spcPts val="675"/>
              </a:spcAft>
              <a:buNone/>
            </a:pPr>
            <a:r>
              <a:rPr lang="en-US" b="1" i="0" dirty="0">
                <a:solidFill>
                  <a:srgbClr val="202020"/>
                </a:solidFill>
                <a:effectLst/>
                <a:latin typeface="Speak Pro" panose="020B0504020101020102" pitchFamily="34" charset="0"/>
              </a:rPr>
              <a:t>Urban Scaling and Its Deviations: Revealing the Structure of Wealth, Innovation and Crime across Cities (2010)</a:t>
            </a:r>
          </a:p>
        </p:txBody>
      </p:sp>
    </p:spTree>
    <p:extLst>
      <p:ext uri="{BB962C8B-B14F-4D97-AF65-F5344CB8AC3E}">
        <p14:creationId xmlns:p14="http://schemas.microsoft.com/office/powerpoint/2010/main" val="4273626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73D2D4-BB6E-778E-FB83-BE9503BB025F}"/>
              </a:ext>
            </a:extLst>
          </p:cNvPr>
          <p:cNvSpPr>
            <a:spLocks noGrp="1"/>
          </p:cNvSpPr>
          <p:nvPr>
            <p:ph type="sldNum" sz="quarter" idx="12"/>
          </p:nvPr>
        </p:nvSpPr>
        <p:spPr/>
        <p:txBody>
          <a:bodyPr/>
          <a:lstStyle/>
          <a:p>
            <a:fld id="{F3963908-5577-44A4-91B0-79992FE49834}" type="slidenum">
              <a:rPr lang="en-US" smtClean="0"/>
              <a:t>22</a:t>
            </a:fld>
            <a:endParaRPr lang="en-US"/>
          </a:p>
        </p:txBody>
      </p:sp>
      <p:sp>
        <p:nvSpPr>
          <p:cNvPr id="4" name="TextBox 3">
            <a:extLst>
              <a:ext uri="{FF2B5EF4-FFF2-40B4-BE49-F238E27FC236}">
                <a16:creationId xmlns:a16="http://schemas.microsoft.com/office/drawing/2014/main" id="{688141DC-D473-D745-AC36-E070CF67E144}"/>
              </a:ext>
            </a:extLst>
          </p:cNvPr>
          <p:cNvSpPr txBox="1"/>
          <p:nvPr/>
        </p:nvSpPr>
        <p:spPr>
          <a:xfrm>
            <a:off x="2486564" y="1025438"/>
            <a:ext cx="7399308" cy="5016758"/>
          </a:xfrm>
          <a:prstGeom prst="rect">
            <a:avLst/>
          </a:prstGeom>
          <a:noFill/>
        </p:spPr>
        <p:txBody>
          <a:bodyPr wrap="square">
            <a:spAutoFit/>
          </a:bodyPr>
          <a:lstStyle/>
          <a:p>
            <a:pPr algn="ctr"/>
            <a:r>
              <a:rPr lang="en-US" sz="2800" i="1" dirty="0">
                <a:solidFill>
                  <a:srgbClr val="202020"/>
                </a:solidFill>
                <a:latin typeface="Speak Pro" panose="020B0504020101020102" pitchFamily="34" charset="0"/>
              </a:rPr>
              <a:t>Scale-Adjusted Metropolitan Indicators </a:t>
            </a:r>
            <a:r>
              <a:rPr lang="en-US" sz="2800" dirty="0">
                <a:latin typeface="Speak Pro" panose="020B0504020101020102" pitchFamily="34" charset="0"/>
              </a:rPr>
              <a:t>(SAMIs) are not strongly correlated (cities don’t consistently perform high or low on many categories).</a:t>
            </a:r>
          </a:p>
          <a:p>
            <a:pPr algn="ctr"/>
            <a:endParaRPr lang="en-US" sz="3600" dirty="0">
              <a:latin typeface="Speak Pro" panose="020B0504020101020102" pitchFamily="34" charset="0"/>
            </a:endParaRPr>
          </a:p>
          <a:p>
            <a:pPr algn="ctr"/>
            <a:r>
              <a:rPr lang="en-US" sz="3600" dirty="0">
                <a:latin typeface="Speak Pro" panose="020B0504020101020102" pitchFamily="34" charset="0"/>
              </a:rPr>
              <a:t>Cities tend to </a:t>
            </a:r>
            <a:r>
              <a:rPr lang="en-US" sz="2800" b="1" dirty="0">
                <a:latin typeface="Oswald" panose="00000500000000000000" pitchFamily="2" charset="0"/>
              </a:rPr>
              <a:t>overperform</a:t>
            </a:r>
            <a:r>
              <a:rPr lang="en-US" sz="3600" dirty="0">
                <a:latin typeface="Speak Pro" panose="020B0504020101020102" pitchFamily="34" charset="0"/>
              </a:rPr>
              <a:t> in some domains and </a:t>
            </a:r>
            <a:r>
              <a:rPr lang="en-US" sz="2800" b="1" dirty="0">
                <a:latin typeface="Oswald" panose="00000500000000000000" pitchFamily="2" charset="0"/>
              </a:rPr>
              <a:t>underperform</a:t>
            </a:r>
            <a:r>
              <a:rPr lang="en-US" sz="3600" dirty="0">
                <a:latin typeface="Speak Pro" panose="020B0504020101020102" pitchFamily="34" charset="0"/>
              </a:rPr>
              <a:t> in others, and these patterns are surprisingly </a:t>
            </a:r>
            <a:r>
              <a:rPr lang="en-US" sz="2800" b="1" dirty="0">
                <a:latin typeface="Oswald" panose="00000500000000000000" pitchFamily="2" charset="0"/>
              </a:rPr>
              <a:t>independent</a:t>
            </a:r>
            <a:r>
              <a:rPr lang="en-US" sz="2800" dirty="0">
                <a:latin typeface="Speak Pro" panose="020B0504020101020102" pitchFamily="34" charset="0"/>
              </a:rPr>
              <a:t> </a:t>
            </a:r>
            <a:r>
              <a:rPr lang="en-US" sz="3600" dirty="0">
                <a:latin typeface="Speak Pro" panose="020B0504020101020102" pitchFamily="34" charset="0"/>
              </a:rPr>
              <a:t>across categories. </a:t>
            </a:r>
          </a:p>
          <a:p>
            <a:pPr algn="ctr"/>
            <a:endParaRPr lang="en-US" sz="2800" b="1" dirty="0">
              <a:latin typeface="Speak Pro" panose="020B0504020101020102" pitchFamily="34" charset="0"/>
            </a:endParaRPr>
          </a:p>
        </p:txBody>
      </p:sp>
    </p:spTree>
    <p:extLst>
      <p:ext uri="{BB962C8B-B14F-4D97-AF65-F5344CB8AC3E}">
        <p14:creationId xmlns:p14="http://schemas.microsoft.com/office/powerpoint/2010/main" val="3739534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F52E01-6737-AC1F-7714-607C800C9A2F}"/>
              </a:ext>
            </a:extLst>
          </p:cNvPr>
          <p:cNvSpPr>
            <a:spLocks noGrp="1"/>
          </p:cNvSpPr>
          <p:nvPr>
            <p:ph type="sldNum" sz="quarter" idx="12"/>
          </p:nvPr>
        </p:nvSpPr>
        <p:spPr/>
        <p:txBody>
          <a:bodyPr/>
          <a:lstStyle/>
          <a:p>
            <a:fld id="{F3963908-5577-44A4-91B0-79992FE49834}" type="slidenum">
              <a:rPr lang="en-US" smtClean="0"/>
              <a:t>23</a:t>
            </a:fld>
            <a:endParaRPr lang="en-US"/>
          </a:p>
        </p:txBody>
      </p:sp>
      <p:sp>
        <p:nvSpPr>
          <p:cNvPr id="4" name="TextBox 3">
            <a:extLst>
              <a:ext uri="{FF2B5EF4-FFF2-40B4-BE49-F238E27FC236}">
                <a16:creationId xmlns:a16="http://schemas.microsoft.com/office/drawing/2014/main" id="{8A431412-6CBE-6349-5F43-4A971953FAD0}"/>
              </a:ext>
            </a:extLst>
          </p:cNvPr>
          <p:cNvSpPr txBox="1"/>
          <p:nvPr/>
        </p:nvSpPr>
        <p:spPr>
          <a:xfrm>
            <a:off x="7285008" y="634365"/>
            <a:ext cx="4068792" cy="5447645"/>
          </a:xfrm>
          <a:prstGeom prst="rect">
            <a:avLst/>
          </a:prstGeom>
          <a:noFill/>
        </p:spPr>
        <p:txBody>
          <a:bodyPr wrap="square">
            <a:spAutoFit/>
          </a:bodyPr>
          <a:lstStyle/>
          <a:p>
            <a:pPr>
              <a:buNone/>
            </a:pPr>
            <a:r>
              <a:rPr lang="en-US" sz="2000" b="1" cap="all" dirty="0">
                <a:solidFill>
                  <a:srgbClr val="95BC28"/>
                </a:solidFill>
                <a:latin typeface="Aptos" panose="020B0004020202020204" pitchFamily="34" charset="0"/>
              </a:rPr>
              <a:t>Innovation</a:t>
            </a:r>
            <a:r>
              <a:rPr lang="en-US" sz="2000" b="1" dirty="0">
                <a:latin typeface="Aptos" panose="020B0004020202020204" pitchFamily="34" charset="0"/>
              </a:rPr>
              <a:t> </a:t>
            </a:r>
          </a:p>
          <a:p>
            <a:pPr marL="285750" indent="-285750">
              <a:buFont typeface="Arial" panose="020B0604020202020204" pitchFamily="34" charset="0"/>
              <a:buChar char="•"/>
            </a:pPr>
            <a:r>
              <a:rPr lang="en-US" dirty="0">
                <a:latin typeface="Aptos" panose="020B0004020202020204" pitchFamily="34" charset="0"/>
              </a:rPr>
              <a:t>patents</a:t>
            </a:r>
          </a:p>
          <a:p>
            <a:pPr marL="285750" indent="-285750">
              <a:buFont typeface="Arial" panose="020B0604020202020204" pitchFamily="34" charset="0"/>
              <a:buChar char="•"/>
            </a:pPr>
            <a:r>
              <a:rPr lang="en-US" dirty="0">
                <a:latin typeface="Aptos" panose="020B0004020202020204" pitchFamily="34" charset="0"/>
              </a:rPr>
              <a:t>creative occupations</a:t>
            </a:r>
          </a:p>
          <a:p>
            <a:pPr marL="285750" indent="-285750">
              <a:buFont typeface="Arial" panose="020B0604020202020204" pitchFamily="34" charset="0"/>
              <a:buChar char="•"/>
            </a:pPr>
            <a:r>
              <a:rPr lang="en-US" dirty="0">
                <a:latin typeface="Aptos" panose="020B0004020202020204" pitchFamily="34" charset="0"/>
              </a:rPr>
              <a:t>R&amp;D jobs</a:t>
            </a:r>
          </a:p>
          <a:p>
            <a:pPr marL="285750" indent="-285750">
              <a:buFont typeface="Arial" panose="020B0604020202020204" pitchFamily="34" charset="0"/>
              <a:buChar char="•"/>
            </a:pPr>
            <a:r>
              <a:rPr lang="en-US" dirty="0">
                <a:latin typeface="Aptos" panose="020B0004020202020204" pitchFamily="34" charset="0"/>
              </a:rPr>
              <a:t>STEM industries</a:t>
            </a:r>
          </a:p>
          <a:p>
            <a:pPr>
              <a:buNone/>
            </a:pPr>
            <a:endParaRPr lang="en-US" b="1" dirty="0">
              <a:latin typeface="Aptos" panose="020B0004020202020204" pitchFamily="34" charset="0"/>
            </a:endParaRPr>
          </a:p>
          <a:p>
            <a:pPr>
              <a:buNone/>
            </a:pPr>
            <a:r>
              <a:rPr lang="en-US" sz="2000" b="1" cap="all" dirty="0">
                <a:solidFill>
                  <a:srgbClr val="3F8EDA"/>
                </a:solidFill>
                <a:latin typeface="Aptos" panose="020B0004020202020204" pitchFamily="34" charset="0"/>
              </a:rPr>
              <a:t>Crime &amp; social stress </a:t>
            </a:r>
          </a:p>
          <a:p>
            <a:pPr marL="285750" indent="-285750">
              <a:buFont typeface="Arial" panose="020B0604020202020204" pitchFamily="34" charset="0"/>
              <a:buChar char="•"/>
            </a:pPr>
            <a:r>
              <a:rPr lang="en-US" dirty="0">
                <a:latin typeface="Aptos" panose="020B0004020202020204" pitchFamily="34" charset="0"/>
              </a:rPr>
              <a:t>violent crime</a:t>
            </a:r>
          </a:p>
          <a:p>
            <a:pPr marL="285750" indent="-285750">
              <a:buFont typeface="Arial" panose="020B0604020202020204" pitchFamily="34" charset="0"/>
              <a:buChar char="•"/>
            </a:pPr>
            <a:r>
              <a:rPr lang="en-US" dirty="0">
                <a:latin typeface="Aptos" panose="020B0004020202020204" pitchFamily="34" charset="0"/>
              </a:rPr>
              <a:t>certain property crimes</a:t>
            </a:r>
          </a:p>
          <a:p>
            <a:pPr marL="285750" indent="-285750">
              <a:buFont typeface="Arial" panose="020B0604020202020204" pitchFamily="34" charset="0"/>
              <a:buChar char="•"/>
            </a:pPr>
            <a:r>
              <a:rPr lang="en-US" dirty="0">
                <a:latin typeface="Aptos" panose="020B0004020202020204" pitchFamily="34" charset="0"/>
              </a:rPr>
              <a:t>policing intensity</a:t>
            </a:r>
          </a:p>
          <a:p>
            <a:pPr marL="285750" indent="-285750">
              <a:buFont typeface="Arial" panose="020B0604020202020204" pitchFamily="34" charset="0"/>
              <a:buChar char="•"/>
            </a:pPr>
            <a:r>
              <a:rPr lang="en-US" dirty="0">
                <a:latin typeface="Aptos" panose="020B0004020202020204" pitchFamily="34" charset="0"/>
              </a:rPr>
              <a:t>public health emergencies</a:t>
            </a:r>
          </a:p>
          <a:p>
            <a:pPr>
              <a:buNone/>
            </a:pPr>
            <a:endParaRPr lang="en-US" b="1" dirty="0">
              <a:latin typeface="Aptos" panose="020B0004020202020204" pitchFamily="34" charset="0"/>
            </a:endParaRPr>
          </a:p>
          <a:p>
            <a:pPr>
              <a:buNone/>
            </a:pPr>
            <a:r>
              <a:rPr lang="en-US" sz="2000" b="1" cap="all" dirty="0">
                <a:solidFill>
                  <a:srgbClr val="F56928"/>
                </a:solidFill>
                <a:latin typeface="Aptos" panose="020B0004020202020204" pitchFamily="34" charset="0"/>
              </a:rPr>
              <a:t>Consumption &amp; amenity </a:t>
            </a:r>
          </a:p>
          <a:p>
            <a:pPr marL="285750" indent="-285750">
              <a:buFont typeface="Arial" panose="020B0604020202020204" pitchFamily="34" charset="0"/>
              <a:buChar char="•"/>
            </a:pPr>
            <a:r>
              <a:rPr lang="en-US" dirty="0">
                <a:latin typeface="Aptos" panose="020B0004020202020204" pitchFamily="34" charset="0"/>
              </a:rPr>
              <a:t>restaurants</a:t>
            </a:r>
          </a:p>
          <a:p>
            <a:pPr marL="285750" indent="-285750">
              <a:buFont typeface="Arial" panose="020B0604020202020204" pitchFamily="34" charset="0"/>
              <a:buChar char="•"/>
            </a:pPr>
            <a:r>
              <a:rPr lang="en-US" dirty="0">
                <a:latin typeface="Aptos" panose="020B0004020202020204" pitchFamily="34" charset="0"/>
              </a:rPr>
              <a:t>bars</a:t>
            </a:r>
          </a:p>
          <a:p>
            <a:pPr marL="285750" indent="-285750">
              <a:buFont typeface="Arial" panose="020B0604020202020204" pitchFamily="34" charset="0"/>
              <a:buChar char="•"/>
            </a:pPr>
            <a:r>
              <a:rPr lang="en-US" dirty="0">
                <a:latin typeface="Aptos" panose="020B0004020202020204" pitchFamily="34" charset="0"/>
              </a:rPr>
              <a:t>creative arts venues</a:t>
            </a:r>
          </a:p>
          <a:p>
            <a:pPr marL="285750" indent="-285750">
              <a:buFont typeface="Arial" panose="020B0604020202020204" pitchFamily="34" charset="0"/>
              <a:buChar char="•"/>
            </a:pPr>
            <a:r>
              <a:rPr lang="en-US" dirty="0">
                <a:latin typeface="Aptos" panose="020B0004020202020204" pitchFamily="34" charset="0"/>
              </a:rPr>
              <a:t>tourism</a:t>
            </a:r>
          </a:p>
          <a:p>
            <a:pPr marL="285750" indent="-285750">
              <a:buFont typeface="Arial" panose="020B0604020202020204" pitchFamily="34" charset="0"/>
              <a:buChar char="•"/>
            </a:pPr>
            <a:r>
              <a:rPr lang="en-US" dirty="0">
                <a:latin typeface="Aptos" panose="020B0004020202020204" pitchFamily="34" charset="0"/>
              </a:rPr>
              <a:t>nightlife intensity</a:t>
            </a:r>
          </a:p>
          <a:p>
            <a:pPr>
              <a:buNone/>
            </a:pPr>
            <a:endParaRPr lang="en-US" dirty="0">
              <a:latin typeface="Aptos" panose="020B0004020202020204" pitchFamily="34" charset="0"/>
            </a:endParaRPr>
          </a:p>
        </p:txBody>
      </p:sp>
      <p:sp>
        <p:nvSpPr>
          <p:cNvPr id="5" name="TextBox 4">
            <a:extLst>
              <a:ext uri="{FF2B5EF4-FFF2-40B4-BE49-F238E27FC236}">
                <a16:creationId xmlns:a16="http://schemas.microsoft.com/office/drawing/2014/main" id="{DEF3D8D8-4ED2-768B-B696-F7AEF591BA9F}"/>
              </a:ext>
            </a:extLst>
          </p:cNvPr>
          <p:cNvSpPr txBox="1"/>
          <p:nvPr/>
        </p:nvSpPr>
        <p:spPr>
          <a:xfrm>
            <a:off x="1265207" y="806894"/>
            <a:ext cx="4572000" cy="4585871"/>
          </a:xfrm>
          <a:prstGeom prst="rect">
            <a:avLst/>
          </a:prstGeom>
          <a:noFill/>
        </p:spPr>
        <p:txBody>
          <a:bodyPr wrap="square">
            <a:spAutoFit/>
          </a:bodyPr>
          <a:lstStyle/>
          <a:p>
            <a:pPr algn="ctr">
              <a:buNone/>
            </a:pPr>
            <a:r>
              <a:rPr lang="en-US" sz="4000" cap="all" dirty="0">
                <a:latin typeface="Oswald" panose="00000500000000000000" pitchFamily="2" charset="0"/>
              </a:rPr>
              <a:t>clusters ONLY appear within functional categories</a:t>
            </a:r>
          </a:p>
          <a:p>
            <a:pPr>
              <a:buNone/>
            </a:pPr>
            <a:endParaRPr lang="en-US" b="1" dirty="0"/>
          </a:p>
          <a:p>
            <a:pPr>
              <a:buNone/>
            </a:pPr>
            <a:endParaRPr lang="en-US" dirty="0"/>
          </a:p>
          <a:p>
            <a:pPr algn="ctr">
              <a:buNone/>
            </a:pPr>
            <a:r>
              <a:rPr lang="en-US" sz="2400" dirty="0">
                <a:latin typeface="Speak Pro" panose="020B0504020101020102" pitchFamily="34" charset="0"/>
              </a:rPr>
              <a:t>They are modest correlations</a:t>
            </a:r>
          </a:p>
          <a:p>
            <a:pPr algn="ctr">
              <a:buNone/>
            </a:pPr>
            <a:endParaRPr lang="en-US" sz="2400" b="1" dirty="0">
              <a:latin typeface="Speak Pro" panose="020B0504020101020102" pitchFamily="34" charset="0"/>
            </a:endParaRPr>
          </a:p>
          <a:p>
            <a:pPr algn="ctr">
              <a:buNone/>
            </a:pPr>
            <a:r>
              <a:rPr lang="en-US" sz="2400" dirty="0">
                <a:latin typeface="Speak Pro" panose="020B0504020101020102" pitchFamily="34" charset="0"/>
              </a:rPr>
              <a:t>Across clusters the SAMIs </a:t>
            </a:r>
            <a:br>
              <a:rPr lang="en-US" sz="2400" dirty="0">
                <a:latin typeface="Speak Pro" panose="020B0504020101020102" pitchFamily="34" charset="0"/>
              </a:rPr>
            </a:br>
            <a:r>
              <a:rPr lang="en-US" sz="2400" dirty="0">
                <a:latin typeface="Speak Pro" panose="020B0504020101020102" pitchFamily="34" charset="0"/>
              </a:rPr>
              <a:t>are nearly independent</a:t>
            </a:r>
          </a:p>
        </p:txBody>
      </p:sp>
    </p:spTree>
    <p:extLst>
      <p:ext uri="{BB962C8B-B14F-4D97-AF65-F5344CB8AC3E}">
        <p14:creationId xmlns:p14="http://schemas.microsoft.com/office/powerpoint/2010/main" val="7161704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9B4E9-893C-35FB-21ED-2F5E638A25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A2E45F-A22B-2AFB-C45D-1F67955BB012}"/>
              </a:ext>
            </a:extLst>
          </p:cNvPr>
          <p:cNvSpPr>
            <a:spLocks noGrp="1"/>
          </p:cNvSpPr>
          <p:nvPr>
            <p:ph type="sldNum" sz="quarter" idx="12"/>
          </p:nvPr>
        </p:nvSpPr>
        <p:spPr/>
        <p:txBody>
          <a:bodyPr/>
          <a:lstStyle/>
          <a:p>
            <a:fld id="{F3963908-5577-44A4-91B0-79992FE49834}" type="slidenum">
              <a:rPr lang="en-US" smtClean="0"/>
              <a:t>24</a:t>
            </a:fld>
            <a:endParaRPr lang="en-US" dirty="0"/>
          </a:p>
        </p:txBody>
      </p:sp>
      <p:pic>
        <p:nvPicPr>
          <p:cNvPr id="4" name="Picture 3">
            <a:extLst>
              <a:ext uri="{FF2B5EF4-FFF2-40B4-BE49-F238E27FC236}">
                <a16:creationId xmlns:a16="http://schemas.microsoft.com/office/drawing/2014/main" id="{3640F76F-27E1-8BCC-B9C6-A39A5DA50DFE}"/>
              </a:ext>
            </a:extLst>
          </p:cNvPr>
          <p:cNvPicPr>
            <a:picLocks noChangeAspect="1"/>
          </p:cNvPicPr>
          <p:nvPr/>
        </p:nvPicPr>
        <p:blipFill>
          <a:blip r:embed="rId2"/>
          <a:srcRect r="48687"/>
          <a:stretch>
            <a:fillRect/>
          </a:stretch>
        </p:blipFill>
        <p:spPr>
          <a:xfrm>
            <a:off x="400050" y="590550"/>
            <a:ext cx="5845475" cy="5676900"/>
          </a:xfrm>
          <a:prstGeom prst="rect">
            <a:avLst/>
          </a:prstGeom>
        </p:spPr>
      </p:pic>
      <p:sp>
        <p:nvSpPr>
          <p:cNvPr id="5" name="TextBox 4">
            <a:extLst>
              <a:ext uri="{FF2B5EF4-FFF2-40B4-BE49-F238E27FC236}">
                <a16:creationId xmlns:a16="http://schemas.microsoft.com/office/drawing/2014/main" id="{F8C865CE-A2B2-7168-0086-F9CF330FC5FA}"/>
              </a:ext>
            </a:extLst>
          </p:cNvPr>
          <p:cNvSpPr txBox="1"/>
          <p:nvPr/>
        </p:nvSpPr>
        <p:spPr>
          <a:xfrm>
            <a:off x="7058563" y="944941"/>
            <a:ext cx="4569843" cy="4247317"/>
          </a:xfrm>
          <a:prstGeom prst="rect">
            <a:avLst/>
          </a:prstGeom>
          <a:noFill/>
        </p:spPr>
        <p:txBody>
          <a:bodyPr wrap="square">
            <a:spAutoFit/>
          </a:bodyPr>
          <a:lstStyle/>
          <a:p>
            <a:pPr marL="0" marR="0" algn="l">
              <a:buNone/>
            </a:pPr>
            <a:r>
              <a:rPr lang="en-GB" sz="2000" b="1" i="0" u="sng" dirty="0">
                <a:solidFill>
                  <a:srgbClr val="000000"/>
                </a:solidFill>
                <a:effectLst/>
                <a:latin typeface="Aptos Mono" panose="020B0009020202020204" pitchFamily="49" charset="0"/>
              </a:rPr>
              <a:t>Counts of Nonprofits</a:t>
            </a:r>
          </a:p>
          <a:p>
            <a:pPr marL="0" marR="0" algn="l">
              <a:buNone/>
            </a:pPr>
            <a:endParaRPr lang="en-GB" b="0" i="0" dirty="0">
              <a:solidFill>
                <a:srgbClr val="000000"/>
              </a:solidFill>
              <a:effectLst/>
              <a:latin typeface="Aptos Mono" panose="020B0009020202020204" pitchFamily="49" charset="0"/>
            </a:endParaRPr>
          </a:p>
          <a:p>
            <a:pPr marL="0" marR="0" algn="l">
              <a:buNone/>
            </a:pPr>
            <a:r>
              <a:rPr lang="en-GB" b="0" i="0" dirty="0">
                <a:solidFill>
                  <a:srgbClr val="000000"/>
                </a:solidFill>
                <a:effectLst/>
                <a:latin typeface="Aptos Mono" panose="020B0009020202020204" pitchFamily="49" charset="0"/>
              </a:rPr>
              <a:t>log(NP) ~ B0 + B1 x log(pop)</a:t>
            </a:r>
          </a:p>
          <a:p>
            <a:pPr marL="0" marR="0" algn="l">
              <a:buNone/>
            </a:pPr>
            <a:r>
              <a:rPr lang="en-GB" b="0" i="0" dirty="0">
                <a:solidFill>
                  <a:srgbClr val="000000"/>
                </a:solidFill>
                <a:effectLst/>
                <a:latin typeface="Aptos Mono" panose="020B0009020202020204" pitchFamily="49" charset="0"/>
              </a:rPr>
              <a:t>  </a:t>
            </a:r>
          </a:p>
          <a:p>
            <a:pPr marL="0" marR="0" algn="l">
              <a:buNone/>
            </a:pPr>
            <a:endParaRPr lang="en-GB" dirty="0">
              <a:solidFill>
                <a:srgbClr val="000000"/>
              </a:solidFill>
              <a:latin typeface="Aptos Mono" panose="020B0009020202020204" pitchFamily="49" charset="0"/>
            </a:endParaRPr>
          </a:p>
          <a:p>
            <a:pPr marL="0" marR="0" algn="l">
              <a:buNone/>
            </a:pPr>
            <a:r>
              <a:rPr lang="en-GB" b="0" i="0" dirty="0">
                <a:solidFill>
                  <a:srgbClr val="222222"/>
                </a:solidFill>
                <a:effectLst/>
                <a:latin typeface="Aptos Mono" panose="020B0009020202020204" pitchFamily="49" charset="0"/>
              </a:rPr>
              <a:t>| SUBSECTOR        B1   |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ARTS        |   0.92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EDUCATION   |   1.02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ENVIRONMENT |   0.86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HEALTH      |   0.94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HUMAN SERV  |   0.94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HOSPITALS   |   0.50  |</a:t>
            </a:r>
          </a:p>
          <a:p>
            <a:r>
              <a:rPr lang="en-GB" dirty="0">
                <a:solidFill>
                  <a:srgbClr val="222222"/>
                </a:solidFill>
                <a:latin typeface="Aptos Mono" panose="020B0009020202020204" pitchFamily="49" charset="0"/>
              </a:rPr>
              <a:t>|-----------------------|</a:t>
            </a:r>
            <a:br>
              <a:rPr lang="en-GB" dirty="0">
                <a:solidFill>
                  <a:srgbClr val="222222"/>
                </a:solidFill>
                <a:latin typeface="Aptos Mono" panose="020B0009020202020204" pitchFamily="49" charset="0"/>
              </a:rPr>
            </a:br>
            <a:r>
              <a:rPr lang="en-GB" dirty="0">
                <a:solidFill>
                  <a:srgbClr val="222222"/>
                </a:solidFill>
                <a:latin typeface="Aptos Mono" panose="020B0009020202020204" pitchFamily="49" charset="0"/>
              </a:rPr>
              <a:t>| </a:t>
            </a:r>
            <a:r>
              <a:rPr lang="en-GB" b="1" dirty="0">
                <a:solidFill>
                  <a:srgbClr val="222222"/>
                </a:solidFill>
                <a:latin typeface="Aptos Mono" panose="020B0009020202020204" pitchFamily="49" charset="0"/>
              </a:rPr>
              <a:t>AVERAGE</a:t>
            </a:r>
            <a:r>
              <a:rPr lang="en-GB" dirty="0">
                <a:solidFill>
                  <a:srgbClr val="222222"/>
                </a:solidFill>
                <a:latin typeface="Aptos Mono" panose="020B0009020202020204" pitchFamily="49" charset="0"/>
              </a:rPr>
              <a:t>     |   </a:t>
            </a:r>
            <a:r>
              <a:rPr lang="en-GB" b="1" dirty="0">
                <a:solidFill>
                  <a:srgbClr val="222222"/>
                </a:solidFill>
                <a:latin typeface="Aptos Mono" panose="020B0009020202020204" pitchFamily="49" charset="0"/>
              </a:rPr>
              <a:t>0.96</a:t>
            </a:r>
            <a:r>
              <a:rPr lang="en-GB" dirty="0">
                <a:solidFill>
                  <a:srgbClr val="222222"/>
                </a:solidFill>
                <a:latin typeface="Aptos Mono" panose="020B0009020202020204" pitchFamily="49" charset="0"/>
              </a:rPr>
              <a:t>  |</a:t>
            </a:r>
            <a:endParaRPr lang="en-GB" b="0" i="0" dirty="0">
              <a:solidFill>
                <a:srgbClr val="222222"/>
              </a:solidFill>
              <a:effectLst/>
              <a:latin typeface="Aptos Mono" panose="020B0009020202020204" pitchFamily="49" charset="0"/>
            </a:endParaRPr>
          </a:p>
        </p:txBody>
      </p:sp>
    </p:spTree>
    <p:extLst>
      <p:ext uri="{BB962C8B-B14F-4D97-AF65-F5344CB8AC3E}">
        <p14:creationId xmlns:p14="http://schemas.microsoft.com/office/powerpoint/2010/main" val="2121491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E1822-0F5D-5B02-7FE9-A6C68E969AA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D88C0C-6336-6A53-8CB7-821B88AD9A70}"/>
              </a:ext>
            </a:extLst>
          </p:cNvPr>
          <p:cNvSpPr>
            <a:spLocks noGrp="1"/>
          </p:cNvSpPr>
          <p:nvPr>
            <p:ph type="sldNum" sz="quarter" idx="12"/>
          </p:nvPr>
        </p:nvSpPr>
        <p:spPr/>
        <p:txBody>
          <a:bodyPr/>
          <a:lstStyle/>
          <a:p>
            <a:fld id="{F3963908-5577-44A4-91B0-79992FE49834}" type="slidenum">
              <a:rPr lang="en-US" smtClean="0"/>
              <a:t>25</a:t>
            </a:fld>
            <a:endParaRPr lang="en-US"/>
          </a:p>
        </p:txBody>
      </p:sp>
      <p:pic>
        <p:nvPicPr>
          <p:cNvPr id="4" name="Picture 3">
            <a:extLst>
              <a:ext uri="{FF2B5EF4-FFF2-40B4-BE49-F238E27FC236}">
                <a16:creationId xmlns:a16="http://schemas.microsoft.com/office/drawing/2014/main" id="{16DBA554-57E1-2380-A675-A8FD6C28BCEB}"/>
              </a:ext>
            </a:extLst>
          </p:cNvPr>
          <p:cNvPicPr>
            <a:picLocks noChangeAspect="1"/>
          </p:cNvPicPr>
          <p:nvPr/>
        </p:nvPicPr>
        <p:blipFill>
          <a:blip r:embed="rId2"/>
          <a:srcRect l="54266"/>
          <a:stretch>
            <a:fillRect/>
          </a:stretch>
        </p:blipFill>
        <p:spPr>
          <a:xfrm>
            <a:off x="5684808" y="331757"/>
            <a:ext cx="5209995" cy="5676900"/>
          </a:xfrm>
          <a:prstGeom prst="rect">
            <a:avLst/>
          </a:prstGeom>
        </p:spPr>
      </p:pic>
      <p:sp>
        <p:nvSpPr>
          <p:cNvPr id="5" name="TextBox 4">
            <a:extLst>
              <a:ext uri="{FF2B5EF4-FFF2-40B4-BE49-F238E27FC236}">
                <a16:creationId xmlns:a16="http://schemas.microsoft.com/office/drawing/2014/main" id="{E78BC0D9-F721-BDA2-940E-BFFDEE26F177}"/>
              </a:ext>
            </a:extLst>
          </p:cNvPr>
          <p:cNvSpPr txBox="1"/>
          <p:nvPr/>
        </p:nvSpPr>
        <p:spPr>
          <a:xfrm>
            <a:off x="926261" y="1185048"/>
            <a:ext cx="6094562" cy="3970318"/>
          </a:xfrm>
          <a:prstGeom prst="rect">
            <a:avLst/>
          </a:prstGeom>
          <a:noFill/>
        </p:spPr>
        <p:txBody>
          <a:bodyPr wrap="square">
            <a:spAutoFit/>
          </a:bodyPr>
          <a:lstStyle/>
          <a:p>
            <a:pPr marL="0" marR="0" algn="l">
              <a:buNone/>
            </a:pPr>
            <a:r>
              <a:rPr lang="en-GB" b="1" i="0" dirty="0">
                <a:solidFill>
                  <a:srgbClr val="222222"/>
                </a:solidFill>
                <a:effectLst/>
                <a:latin typeface="Aptos Mono" panose="020B0009020202020204" pitchFamily="49" charset="0"/>
              </a:rPr>
              <a:t>TOTAL EXPENDITURES </a:t>
            </a:r>
          </a:p>
          <a:p>
            <a:pPr marL="0" marR="0" algn="l">
              <a:buNone/>
            </a:pPr>
            <a:endParaRPr lang="en-GB" dirty="0">
              <a:solidFill>
                <a:srgbClr val="222222"/>
              </a:solidFill>
              <a:latin typeface="Aptos Mono" panose="020B0009020202020204" pitchFamily="49" charset="0"/>
            </a:endParaRPr>
          </a:p>
          <a:p>
            <a:pPr marL="0" marR="0" algn="l">
              <a:buNone/>
            </a:pPr>
            <a:r>
              <a:rPr lang="en-GB" b="0" i="0" dirty="0">
                <a:solidFill>
                  <a:srgbClr val="000000"/>
                </a:solidFill>
                <a:effectLst/>
                <a:latin typeface="Aptos Mono" panose="020B0009020202020204" pitchFamily="49" charset="0"/>
              </a:rPr>
              <a:t>log( </a:t>
            </a:r>
            <a:r>
              <a:rPr lang="en-GB" b="0" i="0" dirty="0" err="1">
                <a:solidFill>
                  <a:srgbClr val="000000"/>
                </a:solidFill>
                <a:effectLst/>
                <a:latin typeface="Aptos Mono" panose="020B0009020202020204" pitchFamily="49" charset="0"/>
              </a:rPr>
              <a:t>totexp</a:t>
            </a:r>
            <a:r>
              <a:rPr lang="en-GB" b="0" i="0" dirty="0">
                <a:solidFill>
                  <a:srgbClr val="000000"/>
                </a:solidFill>
                <a:effectLst/>
                <a:latin typeface="Aptos Mono" panose="020B0009020202020204" pitchFamily="49" charset="0"/>
              </a:rPr>
              <a:t> ) = b0 + b1 log(pop)</a:t>
            </a:r>
            <a:endParaRPr lang="en-GB" b="0" i="0" dirty="0">
              <a:solidFill>
                <a:srgbClr val="222222"/>
              </a:solidFill>
              <a:effectLst/>
              <a:latin typeface="Aptos Mono" panose="020B0009020202020204" pitchFamily="49" charset="0"/>
            </a:endParaRPr>
          </a:p>
          <a:p>
            <a:pPr marL="0" marR="0" algn="l">
              <a:buNone/>
            </a:pPr>
            <a:endParaRPr lang="en-GB" b="0" i="0" dirty="0">
              <a:solidFill>
                <a:srgbClr val="222222"/>
              </a:solidFill>
              <a:effectLst/>
              <a:latin typeface="Aptos Mono" panose="020B0009020202020204" pitchFamily="49" charset="0"/>
            </a:endParaRPr>
          </a:p>
          <a:p>
            <a:pPr marL="0" marR="0" algn="l">
              <a:buNone/>
            </a:pPr>
            <a:r>
              <a:rPr lang="en-GB" b="0" i="0" dirty="0">
                <a:solidFill>
                  <a:srgbClr val="222222"/>
                </a:solidFill>
                <a:effectLst/>
                <a:latin typeface="Aptos Mono" panose="020B0009020202020204" pitchFamily="49" charset="0"/>
              </a:rPr>
              <a:t>| SUBSECTOR         B1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ARTS             1.44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EDUCATION        1.48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ENVIRONMENT      1.51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HEALTH           1.57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HUMAN SERVICES   1.27  |</a:t>
            </a:r>
            <a:br>
              <a:rPr lang="en-GB" b="0" i="0" dirty="0">
                <a:solidFill>
                  <a:srgbClr val="222222"/>
                </a:solidFill>
                <a:effectLst/>
                <a:latin typeface="Aptos Mono" panose="020B0009020202020204" pitchFamily="49" charset="0"/>
              </a:rPr>
            </a:br>
            <a:r>
              <a:rPr lang="en-GB" b="0" i="0" dirty="0">
                <a:solidFill>
                  <a:srgbClr val="222222"/>
                </a:solidFill>
                <a:effectLst/>
                <a:latin typeface="Aptos Mono" panose="020B0009020202020204" pitchFamily="49" charset="0"/>
              </a:rPr>
              <a:t>| HOSPITALS        1.50  |</a:t>
            </a:r>
          </a:p>
          <a:p>
            <a:r>
              <a:rPr lang="en-GB" dirty="0">
                <a:solidFill>
                  <a:srgbClr val="222222"/>
                </a:solidFill>
                <a:latin typeface="Aptos Mono" panose="020B0009020202020204" pitchFamily="49" charset="0"/>
              </a:rPr>
              <a:t>|------------------------|</a:t>
            </a:r>
            <a:br>
              <a:rPr lang="en-GB" dirty="0">
                <a:solidFill>
                  <a:srgbClr val="222222"/>
                </a:solidFill>
                <a:latin typeface="Aptos Mono" panose="020B0009020202020204" pitchFamily="49" charset="0"/>
              </a:rPr>
            </a:br>
            <a:r>
              <a:rPr lang="en-GB" dirty="0">
                <a:solidFill>
                  <a:srgbClr val="222222"/>
                </a:solidFill>
                <a:latin typeface="Aptos Mono" panose="020B0009020202020204" pitchFamily="49" charset="0"/>
              </a:rPr>
              <a:t>| </a:t>
            </a:r>
            <a:r>
              <a:rPr lang="en-GB" b="1" dirty="0">
                <a:solidFill>
                  <a:srgbClr val="222222"/>
                </a:solidFill>
                <a:latin typeface="Aptos Mono" panose="020B0009020202020204" pitchFamily="49" charset="0"/>
              </a:rPr>
              <a:t>AVERAGE </a:t>
            </a:r>
            <a:r>
              <a:rPr lang="en-GB" dirty="0">
                <a:solidFill>
                  <a:srgbClr val="222222"/>
                </a:solidFill>
                <a:latin typeface="Aptos Mono" panose="020B0009020202020204" pitchFamily="49" charset="0"/>
              </a:rPr>
              <a:t>         </a:t>
            </a:r>
            <a:r>
              <a:rPr lang="en-GB" b="1" dirty="0">
                <a:solidFill>
                  <a:srgbClr val="222222"/>
                </a:solidFill>
                <a:latin typeface="Aptos Mono" panose="020B0009020202020204" pitchFamily="49" charset="0"/>
              </a:rPr>
              <a:t>1.35</a:t>
            </a:r>
            <a:r>
              <a:rPr lang="en-GB" dirty="0">
                <a:solidFill>
                  <a:srgbClr val="222222"/>
                </a:solidFill>
                <a:latin typeface="Aptos Mono" panose="020B0009020202020204" pitchFamily="49" charset="0"/>
              </a:rPr>
              <a:t>  |</a:t>
            </a:r>
            <a:endParaRPr lang="en-GB" b="0" i="0" dirty="0">
              <a:solidFill>
                <a:srgbClr val="222222"/>
              </a:solidFill>
              <a:effectLst/>
              <a:latin typeface="Aptos Mono" panose="020B0009020202020204" pitchFamily="49" charset="0"/>
            </a:endParaRPr>
          </a:p>
        </p:txBody>
      </p:sp>
    </p:spTree>
    <p:extLst>
      <p:ext uri="{BB962C8B-B14F-4D97-AF65-F5344CB8AC3E}">
        <p14:creationId xmlns:p14="http://schemas.microsoft.com/office/powerpoint/2010/main" val="2709515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214FEF-2149-A678-4C80-A36A47241178}"/>
              </a:ext>
            </a:extLst>
          </p:cNvPr>
          <p:cNvSpPr>
            <a:spLocks noGrp="1"/>
          </p:cNvSpPr>
          <p:nvPr>
            <p:ph type="sldNum" sz="quarter" idx="12"/>
          </p:nvPr>
        </p:nvSpPr>
        <p:spPr/>
        <p:txBody>
          <a:bodyPr/>
          <a:lstStyle/>
          <a:p>
            <a:fld id="{F3963908-5577-44A4-91B0-79992FE49834}" type="slidenum">
              <a:rPr lang="en-US" smtClean="0"/>
              <a:t>26</a:t>
            </a:fld>
            <a:endParaRPr lang="en-US"/>
          </a:p>
        </p:txBody>
      </p:sp>
      <p:pic>
        <p:nvPicPr>
          <p:cNvPr id="4" name="Picture 3">
            <a:extLst>
              <a:ext uri="{FF2B5EF4-FFF2-40B4-BE49-F238E27FC236}">
                <a16:creationId xmlns:a16="http://schemas.microsoft.com/office/drawing/2014/main" id="{AA3480CD-F67A-9A29-2645-31D267AD6235}"/>
              </a:ext>
            </a:extLst>
          </p:cNvPr>
          <p:cNvPicPr>
            <a:picLocks noChangeAspect="1"/>
          </p:cNvPicPr>
          <p:nvPr/>
        </p:nvPicPr>
        <p:blipFill>
          <a:blip r:embed="rId2"/>
          <a:stretch>
            <a:fillRect/>
          </a:stretch>
        </p:blipFill>
        <p:spPr>
          <a:xfrm>
            <a:off x="400050" y="590550"/>
            <a:ext cx="11391900" cy="5676900"/>
          </a:xfrm>
          <a:prstGeom prst="rect">
            <a:avLst/>
          </a:prstGeom>
        </p:spPr>
      </p:pic>
    </p:spTree>
    <p:extLst>
      <p:ext uri="{BB962C8B-B14F-4D97-AF65-F5344CB8AC3E}">
        <p14:creationId xmlns:p14="http://schemas.microsoft.com/office/powerpoint/2010/main" val="4239635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95E3-DDEF-B4FD-1D15-622A622B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91B7B-4263-C48F-688F-C4EE64CCA839}"/>
              </a:ext>
            </a:extLst>
          </p:cNvPr>
          <p:cNvSpPr>
            <a:spLocks noGrp="1"/>
          </p:cNvSpPr>
          <p:nvPr>
            <p:ph type="title"/>
          </p:nvPr>
        </p:nvSpPr>
        <p:spPr/>
        <p:txBody>
          <a:bodyPr/>
          <a:lstStyle/>
          <a:p>
            <a:r>
              <a:rPr lang="en-US" dirty="0">
                <a:solidFill>
                  <a:srgbClr val="202020"/>
                </a:solidFill>
              </a:rPr>
              <a:t>Resource environments</a:t>
            </a:r>
            <a:endParaRPr lang="en-US" b="1" dirty="0">
              <a:latin typeface="Speak Pro" panose="020B0504020101020102" pitchFamily="34" charset="0"/>
            </a:endParaRPr>
          </a:p>
        </p:txBody>
      </p:sp>
      <p:sp>
        <p:nvSpPr>
          <p:cNvPr id="3" name="Text Placeholder 2">
            <a:extLst>
              <a:ext uri="{FF2B5EF4-FFF2-40B4-BE49-F238E27FC236}">
                <a16:creationId xmlns:a16="http://schemas.microsoft.com/office/drawing/2014/main" id="{A0237869-01D7-1586-DC95-13466A4ED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E2BFF3-D485-808D-ED2A-61ADC6C141F5}"/>
              </a:ext>
            </a:extLst>
          </p:cNvPr>
          <p:cNvSpPr>
            <a:spLocks noGrp="1"/>
          </p:cNvSpPr>
          <p:nvPr>
            <p:ph type="sldNum" sz="quarter" idx="12"/>
          </p:nvPr>
        </p:nvSpPr>
        <p:spPr/>
        <p:txBody>
          <a:bodyPr/>
          <a:lstStyle/>
          <a:p>
            <a:fld id="{F3963908-5577-44A4-91B0-79992FE49834}" type="slidenum">
              <a:rPr lang="en-US" smtClean="0"/>
              <a:t>27</a:t>
            </a:fld>
            <a:endParaRPr lang="en-US"/>
          </a:p>
        </p:txBody>
      </p:sp>
    </p:spTree>
    <p:extLst>
      <p:ext uri="{BB962C8B-B14F-4D97-AF65-F5344CB8AC3E}">
        <p14:creationId xmlns:p14="http://schemas.microsoft.com/office/powerpoint/2010/main" val="379838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88A6B-C34C-B7F3-6586-1B1513A584EE}"/>
              </a:ext>
            </a:extLst>
          </p:cNvPr>
          <p:cNvSpPr>
            <a:spLocks noGrp="1"/>
          </p:cNvSpPr>
          <p:nvPr>
            <p:ph type="sldNum" sz="quarter" idx="12"/>
          </p:nvPr>
        </p:nvSpPr>
        <p:spPr/>
        <p:txBody>
          <a:bodyPr/>
          <a:lstStyle/>
          <a:p>
            <a:fld id="{F3963908-5577-44A4-91B0-79992FE49834}" type="slidenum">
              <a:rPr lang="en-US" smtClean="0"/>
              <a:t>28</a:t>
            </a:fld>
            <a:endParaRPr lang="en-US"/>
          </a:p>
        </p:txBody>
      </p:sp>
      <p:pic>
        <p:nvPicPr>
          <p:cNvPr id="4" name="Picture 3">
            <a:extLst>
              <a:ext uri="{FF2B5EF4-FFF2-40B4-BE49-F238E27FC236}">
                <a16:creationId xmlns:a16="http://schemas.microsoft.com/office/drawing/2014/main" id="{B1EC0FD3-F800-7438-6113-74AE39F93348}"/>
              </a:ext>
            </a:extLst>
          </p:cNvPr>
          <p:cNvPicPr>
            <a:picLocks noChangeAspect="1"/>
          </p:cNvPicPr>
          <p:nvPr/>
        </p:nvPicPr>
        <p:blipFill>
          <a:blip r:embed="rId2"/>
          <a:stretch>
            <a:fillRect/>
          </a:stretch>
        </p:blipFill>
        <p:spPr>
          <a:xfrm>
            <a:off x="1314450" y="1304925"/>
            <a:ext cx="9563100" cy="4248150"/>
          </a:xfrm>
          <a:prstGeom prst="rect">
            <a:avLst/>
          </a:prstGeom>
        </p:spPr>
      </p:pic>
    </p:spTree>
    <p:extLst>
      <p:ext uri="{BB962C8B-B14F-4D97-AF65-F5344CB8AC3E}">
        <p14:creationId xmlns:p14="http://schemas.microsoft.com/office/powerpoint/2010/main" val="1237926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D3D79A-4A18-FAF4-14C3-9BDD4B27ED67}"/>
              </a:ext>
            </a:extLst>
          </p:cNvPr>
          <p:cNvSpPr>
            <a:spLocks noGrp="1"/>
          </p:cNvSpPr>
          <p:nvPr>
            <p:ph type="sldNum" sz="quarter" idx="12"/>
          </p:nvPr>
        </p:nvSpPr>
        <p:spPr/>
        <p:txBody>
          <a:bodyPr/>
          <a:lstStyle/>
          <a:p>
            <a:fld id="{F3963908-5577-44A4-91B0-79992FE49834}" type="slidenum">
              <a:rPr lang="en-US" smtClean="0"/>
              <a:t>29</a:t>
            </a:fld>
            <a:endParaRPr lang="en-US"/>
          </a:p>
        </p:txBody>
      </p:sp>
    </p:spTree>
    <p:extLst>
      <p:ext uri="{BB962C8B-B14F-4D97-AF65-F5344CB8AC3E}">
        <p14:creationId xmlns:p14="http://schemas.microsoft.com/office/powerpoint/2010/main" val="775500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2ADB52-8775-4FF0-24F5-ED4E328D33E9}"/>
              </a:ext>
            </a:extLst>
          </p:cNvPr>
          <p:cNvSpPr>
            <a:spLocks noGrp="1"/>
          </p:cNvSpPr>
          <p:nvPr>
            <p:ph type="sldNum" sz="quarter" idx="12"/>
          </p:nvPr>
        </p:nvSpPr>
        <p:spPr/>
        <p:txBody>
          <a:bodyPr/>
          <a:lstStyle/>
          <a:p>
            <a:fld id="{F3963908-5577-44A4-91B0-79992FE49834}" type="slidenum">
              <a:rPr lang="en-US" smtClean="0"/>
              <a:t>30</a:t>
            </a:fld>
            <a:endParaRPr lang="en-US"/>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F9A805D-F96E-7158-BE81-57F3128A6619}"/>
                  </a:ext>
                </a:extLst>
              </p:cNvPr>
              <p:cNvSpPr txBox="1"/>
              <p:nvPr/>
            </p:nvSpPr>
            <p:spPr>
              <a:xfrm>
                <a:off x="3047071" y="474345"/>
                <a:ext cx="6094140" cy="5909310"/>
              </a:xfrm>
              <a:prstGeom prst="rect">
                <a:avLst/>
              </a:prstGeom>
              <a:noFill/>
            </p:spPr>
            <p:txBody>
              <a:bodyPr wrap="square">
                <a:spAutoFit/>
              </a:bodyPr>
              <a:lstStyle/>
              <a:p>
                <a:pPr>
                  <a:buNone/>
                </a:pPr>
                <a:r>
                  <a:rPr lang="en-US" b="1" dirty="0"/>
                  <a:t>Three Broad Classes of Scaling</a:t>
                </a:r>
              </a:p>
              <a:p>
                <a:pPr>
                  <a:buFont typeface="+mj-lt"/>
                  <a:buAutoNum type="arabicPeriod"/>
                </a:pPr>
                <a:r>
                  <a:rPr lang="en-US" b="1" dirty="0" err="1"/>
                  <a:t>Superlinear</a:t>
                </a:r>
                <a:r>
                  <a:rPr lang="en-US" b="1" dirty="0"/>
                  <a:t> Scaling (</a:t>
                </a:r>
                <a14:m>
                  <m:oMath xmlns:m="http://schemas.openxmlformats.org/officeDocument/2006/math">
                    <m:r>
                      <a:rPr lang="en-US" i="1">
                        <a:latin typeface="Cambria Math" panose="02040503050406030204" pitchFamily="18" charset="0"/>
                      </a:rPr>
                      <m:t>𝛽</m:t>
                    </m:r>
                    <m:r>
                      <a:rPr lang="en-US" i="0">
                        <a:latin typeface="Cambria Math" panose="02040503050406030204" pitchFamily="18" charset="0"/>
                      </a:rPr>
                      <m:t>&gt;</m:t>
                    </m:r>
                    <m:r>
                      <a:rPr lang="en-US" i="0">
                        <a:latin typeface="Cambria Math" panose="02040503050406030204" pitchFamily="18" charset="0"/>
                      </a:rPr>
                      <m:t>1</m:t>
                    </m:r>
                  </m:oMath>
                </a14:m>
                <a:r>
                  <a:rPr lang="en-US" b="1" dirty="0"/>
                  <a:t>)</a:t>
                </a:r>
                <a:endParaRPr lang="en-US" dirty="0"/>
              </a:p>
              <a:p>
                <a:pPr marL="742950" lvl="1" indent="-285750">
                  <a:buFont typeface="+mj-lt"/>
                  <a:buAutoNum type="arabicPeriod"/>
                </a:pPr>
                <a:r>
                  <a:rPr lang="en-US" dirty="0"/>
                  <a:t>Features tied to social interaction increase </a:t>
                </a:r>
                <a:r>
                  <a:rPr lang="en-US" i="1" dirty="0"/>
                  <a:t>more than proportionally</a:t>
                </a:r>
                <a:r>
                  <a:rPr lang="en-US" dirty="0"/>
                  <a:t> with population.</a:t>
                </a:r>
              </a:p>
              <a:p>
                <a:pPr marL="742950" lvl="1" indent="-285750">
                  <a:buFont typeface="+mj-lt"/>
                  <a:buAutoNum type="arabicPeriod"/>
                </a:pPr>
                <a:r>
                  <a:rPr lang="en-US" dirty="0"/>
                  <a:t>Examples: GDP, innovation (patents), R&amp;D employment, wages, crime.</a:t>
                </a:r>
              </a:p>
              <a:p>
                <a:pPr marL="742950" lvl="1" indent="-285750">
                  <a:buFont typeface="+mj-lt"/>
                  <a:buAutoNum type="arabicPeriod"/>
                </a:pPr>
                <a:r>
                  <a:rPr lang="en-US" dirty="0"/>
                  <a:t>Interpretation: larger cities are disproportionately more productive and more innovative—but also more crime-prone.</a:t>
                </a:r>
              </a:p>
              <a:p>
                <a:pPr>
                  <a:buFont typeface="+mj-lt"/>
                  <a:buAutoNum type="arabicPeriod"/>
                </a:pPr>
                <a:r>
                  <a:rPr lang="en-US" b="1" dirty="0"/>
                  <a:t>Sublinear Scaling (</a:t>
                </a:r>
                <a14:m>
                  <m:oMath xmlns:m="http://schemas.openxmlformats.org/officeDocument/2006/math">
                    <m:r>
                      <a:rPr lang="en-US" i="1">
                        <a:latin typeface="Cambria Math" panose="02040503050406030204" pitchFamily="18" charset="0"/>
                      </a:rPr>
                      <m:t>𝛽</m:t>
                    </m:r>
                    <m:r>
                      <a:rPr lang="en-US" i="0">
                        <a:latin typeface="Cambria Math" panose="02040503050406030204" pitchFamily="18" charset="0"/>
                      </a:rPr>
                      <m:t>&lt;</m:t>
                    </m:r>
                    <m:r>
                      <a:rPr lang="en-US" i="0">
                        <a:latin typeface="Cambria Math" panose="02040503050406030204" pitchFamily="18" charset="0"/>
                      </a:rPr>
                      <m:t>1</m:t>
                    </m:r>
                  </m:oMath>
                </a14:m>
                <a:r>
                  <a:rPr lang="en-US" b="1" dirty="0"/>
                  <a:t>)</a:t>
                </a:r>
                <a:endParaRPr lang="en-US" dirty="0"/>
              </a:p>
              <a:p>
                <a:pPr marL="742950" lvl="1" indent="-285750">
                  <a:buFont typeface="+mj-lt"/>
                  <a:buAutoNum type="arabicPeriod"/>
                </a:pPr>
                <a:r>
                  <a:rPr lang="en-US" dirty="0"/>
                  <a:t>Physical infrastructure grows </a:t>
                </a:r>
                <a:r>
                  <a:rPr lang="en-US" i="1" dirty="0"/>
                  <a:t>less than proportionally</a:t>
                </a:r>
                <a:r>
                  <a:rPr lang="en-US" dirty="0"/>
                  <a:t> with population.</a:t>
                </a:r>
              </a:p>
              <a:p>
                <a:pPr marL="742950" lvl="1" indent="-285750">
                  <a:buFont typeface="+mj-lt"/>
                  <a:buAutoNum type="arabicPeriod"/>
                </a:pPr>
                <a:r>
                  <a:rPr lang="en-US" dirty="0"/>
                  <a:t>Examples: length of roads, gas stations, electrical cables, gasoline consumption.</a:t>
                </a:r>
              </a:p>
              <a:p>
                <a:pPr marL="742950" lvl="1" indent="-285750">
                  <a:buFont typeface="+mj-lt"/>
                  <a:buAutoNum type="arabicPeriod"/>
                </a:pPr>
                <a:r>
                  <a:rPr lang="en-US" dirty="0"/>
                  <a:t>Interpretation: larger cities achieve </a:t>
                </a:r>
                <a:r>
                  <a:rPr lang="en-US" b="1" dirty="0"/>
                  <a:t>increasing returns to scale</a:t>
                </a:r>
                <a:r>
                  <a:rPr lang="en-US" dirty="0"/>
                  <a:t> in infrastructure → they are more efficient.</a:t>
                </a:r>
              </a:p>
              <a:p>
                <a:pPr>
                  <a:buFont typeface="+mj-lt"/>
                  <a:buAutoNum type="arabicPeriod"/>
                </a:pPr>
                <a:r>
                  <a:rPr lang="en-US" b="1" dirty="0"/>
                  <a:t>Linear Scaling (</a:t>
                </a:r>
                <a14:m>
                  <m:oMath xmlns:m="http://schemas.openxmlformats.org/officeDocument/2006/math">
                    <m:r>
                      <a:rPr lang="en-US" i="1">
                        <a:latin typeface="Cambria Math" panose="02040503050406030204" pitchFamily="18" charset="0"/>
                      </a:rPr>
                      <m:t>𝛽</m:t>
                    </m:r>
                    <m:r>
                      <a:rPr lang="en-US" i="0">
                        <a:latin typeface="Cambria Math" panose="02040503050406030204" pitchFamily="18" charset="0"/>
                      </a:rPr>
                      <m:t>≈</m:t>
                    </m:r>
                    <m:r>
                      <a:rPr lang="en-US" i="0">
                        <a:latin typeface="Cambria Math" panose="02040503050406030204" pitchFamily="18" charset="0"/>
                      </a:rPr>
                      <m:t>1</m:t>
                    </m:r>
                  </m:oMath>
                </a14:m>
                <a:r>
                  <a:rPr lang="en-US" b="1" dirty="0"/>
                  <a:t>)</a:t>
                </a:r>
                <a:endParaRPr lang="en-US" dirty="0"/>
              </a:p>
              <a:p>
                <a:pPr marL="742950" lvl="1" indent="-285750">
                  <a:buFont typeface="+mj-lt"/>
                  <a:buAutoNum type="arabicPeriod"/>
                </a:pPr>
                <a:r>
                  <a:rPr lang="en-US" dirty="0"/>
                  <a:t>Individual human needs scale proportionally.</a:t>
                </a:r>
              </a:p>
              <a:p>
                <a:pPr marL="742950" lvl="1" indent="-285750">
                  <a:buFont typeface="+mj-lt"/>
                  <a:buAutoNum type="arabicPeriod"/>
                </a:pPr>
                <a:r>
                  <a:rPr lang="en-US" dirty="0"/>
                  <a:t>Examples: household water use, total employment.</a:t>
                </a:r>
              </a:p>
              <a:p>
                <a:pPr marL="742950" lvl="1" indent="-285750">
                  <a:buFont typeface="+mj-lt"/>
                  <a:buAutoNum type="arabicPeriod"/>
                </a:pPr>
                <a:r>
                  <a:rPr lang="en-US" dirty="0"/>
                  <a:t>Interpretation: some quantities simply follow population.</a:t>
                </a:r>
              </a:p>
            </p:txBody>
          </p:sp>
        </mc:Choice>
        <mc:Fallback>
          <p:sp>
            <p:nvSpPr>
              <p:cNvPr id="4" name="TextBox 3">
                <a:extLst>
                  <a:ext uri="{FF2B5EF4-FFF2-40B4-BE49-F238E27FC236}">
                    <a16:creationId xmlns:a16="http://schemas.microsoft.com/office/drawing/2014/main" id="{1F9A805D-F96E-7158-BE81-57F3128A6619}"/>
                  </a:ext>
                </a:extLst>
              </p:cNvPr>
              <p:cNvSpPr txBox="1">
                <a:spLocks noRot="1" noChangeAspect="1" noMove="1" noResize="1" noEditPoints="1" noAdjustHandles="1" noChangeArrowheads="1" noChangeShapeType="1" noTextEdit="1"/>
              </p:cNvSpPr>
              <p:nvPr/>
            </p:nvSpPr>
            <p:spPr>
              <a:xfrm>
                <a:off x="3047071" y="474345"/>
                <a:ext cx="6094140" cy="5909310"/>
              </a:xfrm>
              <a:prstGeom prst="rect">
                <a:avLst/>
              </a:prstGeom>
              <a:blipFill>
                <a:blip r:embed="rId2"/>
                <a:stretch>
                  <a:fillRect l="-900" t="-619" r="-1500" b="-722"/>
                </a:stretch>
              </a:blipFill>
            </p:spPr>
            <p:txBody>
              <a:bodyPr/>
              <a:lstStyle/>
              <a:p>
                <a:r>
                  <a:rPr lang="en-US">
                    <a:noFill/>
                  </a:rPr>
                  <a:t> </a:t>
                </a:r>
              </a:p>
            </p:txBody>
          </p:sp>
        </mc:Fallback>
      </mc:AlternateContent>
    </p:spTree>
    <p:extLst>
      <p:ext uri="{BB962C8B-B14F-4D97-AF65-F5344CB8AC3E}">
        <p14:creationId xmlns:p14="http://schemas.microsoft.com/office/powerpoint/2010/main" val="1542104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0A9C81-1F4F-B96E-1BF9-FDA039E8F96F}"/>
              </a:ext>
            </a:extLst>
          </p:cNvPr>
          <p:cNvSpPr>
            <a:spLocks noGrp="1"/>
          </p:cNvSpPr>
          <p:nvPr>
            <p:ph type="sldNum" sz="quarter" idx="12"/>
          </p:nvPr>
        </p:nvSpPr>
        <p:spPr/>
        <p:txBody>
          <a:bodyPr/>
          <a:lstStyle/>
          <a:p>
            <a:fld id="{F3963908-5577-44A4-91B0-79992FE49834}" type="slidenum">
              <a:rPr lang="en-US" smtClean="0"/>
              <a:t>31</a:t>
            </a:fld>
            <a:endParaRPr lang="en-US"/>
          </a:p>
        </p:txBody>
      </p:sp>
      <p:sp>
        <p:nvSpPr>
          <p:cNvPr id="4" name="TextBox 3">
            <a:extLst>
              <a:ext uri="{FF2B5EF4-FFF2-40B4-BE49-F238E27FC236}">
                <a16:creationId xmlns:a16="http://schemas.microsoft.com/office/drawing/2014/main" id="{1D345820-A49B-7079-EC7D-46929D400C7B}"/>
              </a:ext>
            </a:extLst>
          </p:cNvPr>
          <p:cNvSpPr txBox="1"/>
          <p:nvPr/>
        </p:nvSpPr>
        <p:spPr>
          <a:xfrm>
            <a:off x="3047281" y="1720840"/>
            <a:ext cx="6094562" cy="3416320"/>
          </a:xfrm>
          <a:prstGeom prst="rect">
            <a:avLst/>
          </a:prstGeom>
          <a:noFill/>
        </p:spPr>
        <p:txBody>
          <a:bodyPr wrap="square">
            <a:spAutoFit/>
          </a:bodyPr>
          <a:lstStyle/>
          <a:p>
            <a:pPr>
              <a:buNone/>
            </a:pPr>
            <a:r>
              <a:rPr lang="en-US" b="1" dirty="0"/>
              <a:t>Infrastructure Efficiency Is a Network Phenomenon</a:t>
            </a:r>
          </a:p>
          <a:p>
            <a:pPr>
              <a:buNone/>
            </a:pPr>
            <a:r>
              <a:rPr lang="en-US" dirty="0"/>
              <a:t>Sublinear scaling for infrastructure is not “nice to have” but structurally required:</a:t>
            </a:r>
          </a:p>
          <a:p>
            <a:pPr>
              <a:buFont typeface="Arial" panose="020B0604020202020204" pitchFamily="34" charset="0"/>
              <a:buChar char="•"/>
            </a:pPr>
            <a:r>
              <a:rPr lang="en-US" dirty="0"/>
              <a:t>Larger cities wire and connect more efficiently.</a:t>
            </a:r>
          </a:p>
          <a:p>
            <a:pPr>
              <a:buFont typeface="Arial" panose="020B0604020202020204" pitchFamily="34" charset="0"/>
              <a:buChar char="•"/>
            </a:pPr>
            <a:r>
              <a:rPr lang="en-US" dirty="0"/>
              <a:t>The total length of infrastructure networks (roads, pipes, cables) grows roughly with population to the </a:t>
            </a:r>
            <a:r>
              <a:rPr lang="en-US" b="1" dirty="0"/>
              <a:t>3/4 power</a:t>
            </a:r>
            <a:r>
              <a:rPr lang="en-US" dirty="0"/>
              <a:t>.</a:t>
            </a:r>
          </a:p>
          <a:p>
            <a:pPr>
              <a:buFont typeface="Arial" panose="020B0604020202020204" pitchFamily="34" charset="0"/>
              <a:buChar char="•"/>
            </a:pPr>
            <a:r>
              <a:rPr lang="en-US" dirty="0"/>
              <a:t>This parallels biological organisms, where metabolic networks scale </a:t>
            </a:r>
            <a:r>
              <a:rPr lang="en-US" dirty="0" err="1"/>
              <a:t>sublinearly</a:t>
            </a:r>
            <a:r>
              <a:rPr lang="en-US" dirty="0"/>
              <a:t>.</a:t>
            </a:r>
          </a:p>
          <a:p>
            <a:pPr>
              <a:buNone/>
            </a:pPr>
            <a:r>
              <a:rPr lang="en-US" b="1" dirty="0"/>
              <a:t>Insight:</a:t>
            </a:r>
            <a:br>
              <a:rPr lang="en-US" dirty="0"/>
            </a:br>
            <a:r>
              <a:rPr lang="en-US" dirty="0"/>
              <a:t>Cities demonstrate </a:t>
            </a:r>
            <a:r>
              <a:rPr lang="en-US" b="1" dirty="0"/>
              <a:t>economies of scale</a:t>
            </a:r>
            <a:r>
              <a:rPr lang="en-US" dirty="0"/>
              <a:t> in their physical networks, enabling high densities of population to exist at lower per-capita infrastructure cost.</a:t>
            </a:r>
          </a:p>
        </p:txBody>
      </p:sp>
    </p:spTree>
    <p:extLst>
      <p:ext uri="{BB962C8B-B14F-4D97-AF65-F5344CB8AC3E}">
        <p14:creationId xmlns:p14="http://schemas.microsoft.com/office/powerpoint/2010/main" val="453233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267B8C-B3DE-7CB5-77AA-0E154D81A753}"/>
              </a:ext>
            </a:extLst>
          </p:cNvPr>
          <p:cNvSpPr>
            <a:spLocks noGrp="1"/>
          </p:cNvSpPr>
          <p:nvPr>
            <p:ph type="sldNum" sz="quarter" idx="12"/>
          </p:nvPr>
        </p:nvSpPr>
        <p:spPr/>
        <p:txBody>
          <a:bodyPr/>
          <a:lstStyle/>
          <a:p>
            <a:fld id="{F3963908-5577-44A4-91B0-79992FE49834}" type="slidenum">
              <a:rPr lang="en-US" smtClean="0"/>
              <a:t>32</a:t>
            </a:fld>
            <a:endParaRPr lang="en-US"/>
          </a:p>
        </p:txBody>
      </p:sp>
      <p:sp>
        <p:nvSpPr>
          <p:cNvPr id="4" name="TextBox 3">
            <a:extLst>
              <a:ext uri="{FF2B5EF4-FFF2-40B4-BE49-F238E27FC236}">
                <a16:creationId xmlns:a16="http://schemas.microsoft.com/office/drawing/2014/main" id="{40797A84-B816-CDA0-E01A-5911E5C0DA91}"/>
              </a:ext>
            </a:extLst>
          </p:cNvPr>
          <p:cNvSpPr txBox="1"/>
          <p:nvPr/>
        </p:nvSpPr>
        <p:spPr>
          <a:xfrm>
            <a:off x="3047281" y="612845"/>
            <a:ext cx="6094562" cy="5632311"/>
          </a:xfrm>
          <a:prstGeom prst="rect">
            <a:avLst/>
          </a:prstGeom>
          <a:noFill/>
        </p:spPr>
        <p:txBody>
          <a:bodyPr wrap="square">
            <a:spAutoFit/>
          </a:bodyPr>
          <a:lstStyle/>
          <a:p>
            <a:pPr>
              <a:buNone/>
            </a:pPr>
            <a:r>
              <a:rPr lang="en-US" b="1" dirty="0"/>
              <a:t>Innovation and Growth Accelerate as Cities Grow — But So Do Their Problems</a:t>
            </a:r>
          </a:p>
          <a:p>
            <a:pPr>
              <a:buNone/>
            </a:pPr>
            <a:r>
              <a:rPr lang="en-US" dirty="0"/>
              <a:t>Core paradox:</a:t>
            </a:r>
          </a:p>
          <a:p>
            <a:pPr>
              <a:buNone/>
            </a:pPr>
            <a:r>
              <a:rPr lang="en-US" dirty="0"/>
              <a:t>“The very same factors that produce increased productivity and creativity also produce increased crime, disease, and inequality.”</a:t>
            </a:r>
          </a:p>
          <a:p>
            <a:pPr>
              <a:buNone/>
            </a:pPr>
            <a:r>
              <a:rPr lang="en-US" dirty="0"/>
              <a:t>Cities turbocharge:</a:t>
            </a:r>
          </a:p>
          <a:p>
            <a:pPr>
              <a:buFont typeface="Arial" panose="020B0604020202020204" pitchFamily="34" charset="0"/>
              <a:buChar char="•"/>
            </a:pPr>
            <a:r>
              <a:rPr lang="en-US" dirty="0"/>
              <a:t>Innovation</a:t>
            </a:r>
          </a:p>
          <a:p>
            <a:pPr>
              <a:buFont typeface="Arial" panose="020B0604020202020204" pitchFamily="34" charset="0"/>
              <a:buChar char="•"/>
            </a:pPr>
            <a:r>
              <a:rPr lang="en-US" dirty="0"/>
              <a:t>Wage growth</a:t>
            </a:r>
          </a:p>
          <a:p>
            <a:pPr>
              <a:buFont typeface="Arial" panose="020B0604020202020204" pitchFamily="34" charset="0"/>
              <a:buChar char="•"/>
            </a:pPr>
            <a:r>
              <a:rPr lang="en-US" dirty="0"/>
              <a:t>Scientific output</a:t>
            </a:r>
          </a:p>
          <a:p>
            <a:pPr>
              <a:buFont typeface="Arial" panose="020B0604020202020204" pitchFamily="34" charset="0"/>
              <a:buChar char="•"/>
            </a:pPr>
            <a:r>
              <a:rPr lang="en-US" dirty="0"/>
              <a:t>Entrepreneurship</a:t>
            </a:r>
          </a:p>
          <a:p>
            <a:pPr>
              <a:buFont typeface="Arial" panose="020B0604020202020204" pitchFamily="34" charset="0"/>
              <a:buChar char="•"/>
            </a:pPr>
            <a:r>
              <a:rPr lang="en-US" dirty="0"/>
              <a:t>Cultural production</a:t>
            </a:r>
          </a:p>
          <a:p>
            <a:pPr>
              <a:buNone/>
            </a:pPr>
            <a:r>
              <a:rPr lang="en-US" dirty="0"/>
              <a:t>But the same scaling processes also yield:</a:t>
            </a:r>
          </a:p>
          <a:p>
            <a:pPr>
              <a:buFont typeface="Arial" panose="020B0604020202020204" pitchFamily="34" charset="0"/>
              <a:buChar char="•"/>
            </a:pPr>
            <a:r>
              <a:rPr lang="en-US" dirty="0"/>
              <a:t>Crime increases </a:t>
            </a:r>
            <a:r>
              <a:rPr lang="en-US" dirty="0" err="1"/>
              <a:t>superlinearly</a:t>
            </a:r>
            <a:endParaRPr lang="en-US" dirty="0"/>
          </a:p>
          <a:p>
            <a:pPr>
              <a:buFont typeface="Arial" panose="020B0604020202020204" pitchFamily="34" charset="0"/>
              <a:buChar char="•"/>
            </a:pPr>
            <a:r>
              <a:rPr lang="en-US" dirty="0"/>
              <a:t>Infectious disease spreads more rapidly</a:t>
            </a:r>
          </a:p>
          <a:p>
            <a:pPr>
              <a:buFont typeface="Arial" panose="020B0604020202020204" pitchFamily="34" charset="0"/>
              <a:buChar char="•"/>
            </a:pPr>
            <a:r>
              <a:rPr lang="en-US" dirty="0"/>
              <a:t>Housing costs rise disproportionately</a:t>
            </a:r>
          </a:p>
          <a:p>
            <a:pPr>
              <a:buFont typeface="Arial" panose="020B0604020202020204" pitchFamily="34" charset="0"/>
              <a:buChar char="•"/>
            </a:pPr>
            <a:r>
              <a:rPr lang="en-US" dirty="0"/>
              <a:t>Social inequality grows</a:t>
            </a:r>
          </a:p>
          <a:p>
            <a:pPr>
              <a:buNone/>
            </a:pPr>
            <a:r>
              <a:rPr lang="en-US" b="1" dirty="0"/>
              <a:t>Insight:</a:t>
            </a:r>
            <a:br>
              <a:rPr lang="en-US" dirty="0"/>
            </a:br>
            <a:r>
              <a:rPr lang="en-US" dirty="0"/>
              <a:t>Cities produce </a:t>
            </a:r>
            <a:r>
              <a:rPr lang="en-US" b="1" dirty="0"/>
              <a:t>good and bad</a:t>
            </a:r>
            <a:r>
              <a:rPr lang="en-US" dirty="0"/>
              <a:t> at increasing rates, driven by the same underlying mathematics.</a:t>
            </a:r>
          </a:p>
        </p:txBody>
      </p:sp>
    </p:spTree>
    <p:extLst>
      <p:ext uri="{BB962C8B-B14F-4D97-AF65-F5344CB8AC3E}">
        <p14:creationId xmlns:p14="http://schemas.microsoft.com/office/powerpoint/2010/main" val="3802684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1DE6CD-463F-8873-825E-18E15D3DD4B4}"/>
              </a:ext>
            </a:extLst>
          </p:cNvPr>
          <p:cNvSpPr>
            <a:spLocks noGrp="1"/>
          </p:cNvSpPr>
          <p:nvPr>
            <p:ph type="sldNum" sz="quarter" idx="12"/>
          </p:nvPr>
        </p:nvSpPr>
        <p:spPr/>
        <p:txBody>
          <a:bodyPr/>
          <a:lstStyle/>
          <a:p>
            <a:fld id="{F3963908-5577-44A4-91B0-79992FE49834}" type="slidenum">
              <a:rPr lang="en-US" smtClean="0"/>
              <a:t>33</a:t>
            </a:fld>
            <a:endParaRPr lang="en-US"/>
          </a:p>
        </p:txBody>
      </p:sp>
      <p:sp>
        <p:nvSpPr>
          <p:cNvPr id="4" name="TextBox 3">
            <a:extLst>
              <a:ext uri="{FF2B5EF4-FFF2-40B4-BE49-F238E27FC236}">
                <a16:creationId xmlns:a16="http://schemas.microsoft.com/office/drawing/2014/main" id="{C0982557-5BCC-93BA-A993-3C2EBAF3833E}"/>
              </a:ext>
            </a:extLst>
          </p:cNvPr>
          <p:cNvSpPr txBox="1"/>
          <p:nvPr/>
        </p:nvSpPr>
        <p:spPr>
          <a:xfrm>
            <a:off x="3047281" y="-633650"/>
            <a:ext cx="6094562" cy="8125301"/>
          </a:xfrm>
          <a:prstGeom prst="rect">
            <a:avLst/>
          </a:prstGeom>
          <a:noFill/>
        </p:spPr>
        <p:txBody>
          <a:bodyPr wrap="square">
            <a:spAutoFit/>
          </a:bodyPr>
          <a:lstStyle/>
          <a:p>
            <a:pPr>
              <a:buNone/>
            </a:pPr>
            <a:r>
              <a:rPr lang="en-US" b="1" dirty="0"/>
              <a:t>Cities Are Non-Equilibrium Dynamical Systems</a:t>
            </a:r>
          </a:p>
          <a:p>
            <a:pPr>
              <a:buNone/>
            </a:pPr>
            <a:r>
              <a:rPr lang="en-US" dirty="0"/>
              <a:t>West and Bettencourt emphasize that cities do NOT converge to equilibrium; they must grow or they stagnate.</a:t>
            </a:r>
          </a:p>
          <a:p>
            <a:pPr>
              <a:buNone/>
            </a:pPr>
            <a:r>
              <a:rPr lang="en-US" b="1" dirty="0"/>
              <a:t>Implications:</a:t>
            </a:r>
          </a:p>
          <a:p>
            <a:pPr>
              <a:buFont typeface="Arial" panose="020B0604020202020204" pitchFamily="34" charset="0"/>
              <a:buChar char="•"/>
            </a:pPr>
            <a:r>
              <a:rPr lang="en-US" dirty="0"/>
              <a:t>Cities require continuous </a:t>
            </a:r>
            <a:r>
              <a:rPr lang="en-US" b="1" dirty="0"/>
              <a:t>innovation</a:t>
            </a:r>
            <a:r>
              <a:rPr lang="en-US" dirty="0"/>
              <a:t> to avoid collapse (“Red Queen effect”).</a:t>
            </a:r>
          </a:p>
          <a:p>
            <a:pPr>
              <a:buFont typeface="Arial" panose="020B0604020202020204" pitchFamily="34" charset="0"/>
              <a:buChar char="•"/>
            </a:pPr>
            <a:r>
              <a:rPr lang="en-US" dirty="0"/>
              <a:t>They behave like </a:t>
            </a:r>
            <a:r>
              <a:rPr lang="en-US" b="1" dirty="0"/>
              <a:t>open systems</a:t>
            </a:r>
            <a:r>
              <a:rPr lang="en-US" dirty="0"/>
              <a:t> with constant energy, material, and information throughput.</a:t>
            </a:r>
          </a:p>
          <a:p>
            <a:pPr>
              <a:buFont typeface="Arial" panose="020B0604020202020204" pitchFamily="34" charset="0"/>
              <a:buChar char="•"/>
            </a:pPr>
            <a:r>
              <a:rPr lang="en-US" dirty="0"/>
              <a:t>Economic growth is tied to sustaining socially-driven </a:t>
            </a:r>
            <a:r>
              <a:rPr lang="en-US" dirty="0" err="1"/>
              <a:t>superlinear</a:t>
            </a:r>
            <a:r>
              <a:rPr lang="en-US" dirty="0"/>
              <a:t> returns.</a:t>
            </a:r>
          </a:p>
          <a:p>
            <a:pPr>
              <a:buNone/>
            </a:pPr>
            <a:r>
              <a:rPr lang="en-US" b="1" dirty="0"/>
              <a:t>Insight:</a:t>
            </a:r>
            <a:br>
              <a:rPr lang="en-US" dirty="0"/>
            </a:br>
            <a:r>
              <a:rPr lang="en-US" dirty="0"/>
              <a:t>Urban systems survive by maintaining a pace of innovation that matches the accelerating growth of their social networks.</a:t>
            </a:r>
          </a:p>
          <a:p>
            <a:pPr>
              <a:buNone/>
            </a:pPr>
            <a:br>
              <a:rPr lang="en-US" dirty="0"/>
            </a:br>
            <a:endParaRPr lang="en-US" dirty="0"/>
          </a:p>
          <a:p>
            <a:pPr>
              <a:buNone/>
            </a:pPr>
            <a:r>
              <a:rPr lang="en-US" b="1" dirty="0"/>
              <a:t>6. Failures and Crises Are Predictable Features of Scaling</a:t>
            </a:r>
          </a:p>
          <a:p>
            <a:pPr>
              <a:buNone/>
            </a:pPr>
            <a:r>
              <a:rPr lang="en-US" dirty="0"/>
              <a:t>Bettencourt West argue that scaling predicts </a:t>
            </a:r>
            <a:r>
              <a:rPr lang="en-US" b="1" dirty="0"/>
              <a:t>increasingly frequent crises</a:t>
            </a:r>
            <a:r>
              <a:rPr lang="en-US" dirty="0"/>
              <a:t> unless innovation offsets them.</a:t>
            </a:r>
          </a:p>
          <a:p>
            <a:pPr>
              <a:buNone/>
            </a:pPr>
            <a:r>
              <a:rPr lang="en-US" dirty="0"/>
              <a:t>Examples:</a:t>
            </a:r>
          </a:p>
          <a:p>
            <a:pPr>
              <a:buFont typeface="Arial" panose="020B0604020202020204" pitchFamily="34" charset="0"/>
              <a:buChar char="•"/>
            </a:pPr>
            <a:r>
              <a:rPr lang="en-US" dirty="0"/>
              <a:t>Housing affordability crises</a:t>
            </a:r>
          </a:p>
          <a:p>
            <a:pPr>
              <a:buFont typeface="Arial" panose="020B0604020202020204" pitchFamily="34" charset="0"/>
              <a:buChar char="•"/>
            </a:pPr>
            <a:r>
              <a:rPr lang="en-US" dirty="0"/>
              <a:t>Infrastructure congestion</a:t>
            </a:r>
          </a:p>
          <a:p>
            <a:pPr>
              <a:buFont typeface="Arial" panose="020B0604020202020204" pitchFamily="34" charset="0"/>
              <a:buChar char="•"/>
            </a:pPr>
            <a:r>
              <a:rPr lang="en-US" dirty="0"/>
              <a:t>Epidemics</a:t>
            </a:r>
          </a:p>
          <a:p>
            <a:pPr>
              <a:buFont typeface="Arial" panose="020B0604020202020204" pitchFamily="34" charset="0"/>
              <a:buChar char="•"/>
            </a:pPr>
            <a:r>
              <a:rPr lang="en-US" dirty="0"/>
              <a:t>Crime spikes</a:t>
            </a:r>
          </a:p>
          <a:p>
            <a:pPr>
              <a:buFont typeface="Arial" panose="020B0604020202020204" pitchFamily="34" charset="0"/>
              <a:buChar char="•"/>
            </a:pPr>
            <a:r>
              <a:rPr lang="en-US" dirty="0"/>
              <a:t>Energy demands</a:t>
            </a:r>
          </a:p>
          <a:p>
            <a:pPr>
              <a:buNone/>
            </a:pPr>
            <a:r>
              <a:rPr lang="en-US" dirty="0"/>
              <a:t>Cities must innovate </a:t>
            </a:r>
            <a:r>
              <a:rPr lang="en-US" b="1" dirty="0"/>
              <a:t>faster</a:t>
            </a:r>
            <a:r>
              <a:rPr lang="en-US" dirty="0"/>
              <a:t> the larger they get to stay ahead of systemic pressures.</a:t>
            </a:r>
          </a:p>
          <a:p>
            <a:pPr>
              <a:buNone/>
            </a:pPr>
            <a:r>
              <a:rPr lang="en-US" b="1" dirty="0"/>
              <a:t>Insight:</a:t>
            </a:r>
            <a:br>
              <a:rPr lang="en-US" dirty="0"/>
            </a:br>
            <a:r>
              <a:rPr lang="en-US" dirty="0"/>
              <a:t>Urban crises are </a:t>
            </a:r>
            <a:r>
              <a:rPr lang="en-US" b="1" dirty="0"/>
              <a:t>structural</a:t>
            </a:r>
            <a:r>
              <a:rPr lang="en-US" dirty="0"/>
              <a:t> and predictable, not random—they stem from the mathematics of scaling.</a:t>
            </a:r>
          </a:p>
        </p:txBody>
      </p:sp>
    </p:spTree>
    <p:extLst>
      <p:ext uri="{BB962C8B-B14F-4D97-AF65-F5344CB8AC3E}">
        <p14:creationId xmlns:p14="http://schemas.microsoft.com/office/powerpoint/2010/main" val="555279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E83A8C-FA75-8804-2A75-B08AE412A97D}"/>
              </a:ext>
            </a:extLst>
          </p:cNvPr>
          <p:cNvSpPr>
            <a:spLocks noGrp="1"/>
          </p:cNvSpPr>
          <p:nvPr>
            <p:ph type="sldNum" sz="quarter" idx="12"/>
          </p:nvPr>
        </p:nvSpPr>
        <p:spPr/>
        <p:txBody>
          <a:bodyPr/>
          <a:lstStyle/>
          <a:p>
            <a:fld id="{F3963908-5577-44A4-91B0-79992FE49834}" type="slidenum">
              <a:rPr lang="en-US" smtClean="0"/>
              <a:t>34</a:t>
            </a:fld>
            <a:endParaRPr lang="en-US"/>
          </a:p>
        </p:txBody>
      </p:sp>
      <p:sp>
        <p:nvSpPr>
          <p:cNvPr id="4" name="TextBox 3">
            <a:extLst>
              <a:ext uri="{FF2B5EF4-FFF2-40B4-BE49-F238E27FC236}">
                <a16:creationId xmlns:a16="http://schemas.microsoft.com/office/drawing/2014/main" id="{F38F354C-6E2F-FCBA-1D04-E7C912B721C1}"/>
              </a:ext>
            </a:extLst>
          </p:cNvPr>
          <p:cNvSpPr txBox="1"/>
          <p:nvPr/>
        </p:nvSpPr>
        <p:spPr>
          <a:xfrm>
            <a:off x="3047281" y="1720840"/>
            <a:ext cx="6094562" cy="3416320"/>
          </a:xfrm>
          <a:prstGeom prst="rect">
            <a:avLst/>
          </a:prstGeom>
          <a:noFill/>
        </p:spPr>
        <p:txBody>
          <a:bodyPr wrap="square">
            <a:spAutoFit/>
          </a:bodyPr>
          <a:lstStyle/>
          <a:p>
            <a:pPr>
              <a:buNone/>
            </a:pPr>
            <a:r>
              <a:rPr lang="en-US" b="1" dirty="0"/>
              <a:t>7. Urban Growth, Pace of Life, and Tempo Accelerate with Size</a:t>
            </a:r>
          </a:p>
          <a:p>
            <a:pPr>
              <a:buNone/>
            </a:pPr>
            <a:r>
              <a:rPr lang="en-US" dirty="0"/>
              <a:t>Empirical data show larger cities:</a:t>
            </a:r>
          </a:p>
          <a:p>
            <a:pPr>
              <a:buFont typeface="Arial" panose="020B0604020202020204" pitchFamily="34" charset="0"/>
              <a:buChar char="•"/>
            </a:pPr>
            <a:r>
              <a:rPr lang="en-US" dirty="0"/>
              <a:t>Move faster</a:t>
            </a:r>
          </a:p>
          <a:p>
            <a:pPr>
              <a:buFont typeface="Arial" panose="020B0604020202020204" pitchFamily="34" charset="0"/>
              <a:buChar char="•"/>
            </a:pPr>
            <a:r>
              <a:rPr lang="en-US" dirty="0"/>
              <a:t>Innovate faster</a:t>
            </a:r>
          </a:p>
          <a:p>
            <a:pPr>
              <a:buFont typeface="Arial" panose="020B0604020202020204" pitchFamily="34" charset="0"/>
              <a:buChar char="•"/>
            </a:pPr>
            <a:r>
              <a:rPr lang="en-US" dirty="0"/>
              <a:t>See higher pace of daily rhythms</a:t>
            </a:r>
          </a:p>
          <a:p>
            <a:pPr>
              <a:buFont typeface="Arial" panose="020B0604020202020204" pitchFamily="34" charset="0"/>
              <a:buChar char="•"/>
            </a:pPr>
            <a:r>
              <a:rPr lang="en-US" dirty="0"/>
              <a:t>Exhibit faster turnover in cultural trends</a:t>
            </a:r>
          </a:p>
          <a:p>
            <a:pPr>
              <a:buNone/>
            </a:pPr>
            <a:r>
              <a:rPr lang="en-US" b="1" dirty="0"/>
              <a:t>Quantitative finding:</a:t>
            </a:r>
            <a:br>
              <a:rPr lang="en-US" dirty="0"/>
            </a:br>
            <a:r>
              <a:rPr lang="en-US" dirty="0"/>
              <a:t>Choreographed aspects of life (walking speed, tempo of interactions) scale </a:t>
            </a:r>
            <a:r>
              <a:rPr lang="en-US" dirty="0" err="1"/>
              <a:t>superlinearly</a:t>
            </a:r>
            <a:r>
              <a:rPr lang="en-US" dirty="0"/>
              <a:t>.</a:t>
            </a:r>
          </a:p>
          <a:p>
            <a:pPr>
              <a:buNone/>
            </a:pPr>
            <a:r>
              <a:rPr lang="en-US" b="1" dirty="0"/>
              <a:t>Insight:</a:t>
            </a:r>
            <a:br>
              <a:rPr lang="en-US" dirty="0"/>
            </a:br>
            <a:r>
              <a:rPr lang="en-US" dirty="0"/>
              <a:t>The “pace of life” empirically increases with city size — a measurable acceleration of human activity.</a:t>
            </a:r>
          </a:p>
        </p:txBody>
      </p:sp>
    </p:spTree>
    <p:extLst>
      <p:ext uri="{BB962C8B-B14F-4D97-AF65-F5344CB8AC3E}">
        <p14:creationId xmlns:p14="http://schemas.microsoft.com/office/powerpoint/2010/main" val="3546599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A33066F-0664-ECCD-FE62-87638EE37FC2}"/>
              </a:ext>
            </a:extLst>
          </p:cNvPr>
          <p:cNvPicPr>
            <a:picLocks noChangeAspect="1"/>
          </p:cNvPicPr>
          <p:nvPr/>
        </p:nvPicPr>
        <p:blipFill>
          <a:blip r:embed="rId2"/>
          <a:stretch>
            <a:fillRect/>
          </a:stretch>
        </p:blipFill>
        <p:spPr>
          <a:xfrm>
            <a:off x="967865" y="2875943"/>
            <a:ext cx="4215105" cy="3556016"/>
          </a:xfrm>
          <a:prstGeom prst="rect">
            <a:avLst/>
          </a:prstGeom>
        </p:spPr>
      </p:pic>
      <p:sp>
        <p:nvSpPr>
          <p:cNvPr id="2" name="Slide Number Placeholder 1">
            <a:extLst>
              <a:ext uri="{FF2B5EF4-FFF2-40B4-BE49-F238E27FC236}">
                <a16:creationId xmlns:a16="http://schemas.microsoft.com/office/drawing/2014/main" id="{445F4D1C-9A53-80B0-74BE-4395BF95F06B}"/>
              </a:ext>
            </a:extLst>
          </p:cNvPr>
          <p:cNvSpPr>
            <a:spLocks noGrp="1"/>
          </p:cNvSpPr>
          <p:nvPr>
            <p:ph type="sldNum" sz="quarter" idx="12"/>
          </p:nvPr>
        </p:nvSpPr>
        <p:spPr/>
        <p:txBody>
          <a:bodyPr/>
          <a:lstStyle/>
          <a:p>
            <a:fld id="{F3963908-5577-44A4-91B0-79992FE49834}" type="slidenum">
              <a:rPr lang="en-US" smtClean="0"/>
              <a:t>35</a:t>
            </a:fld>
            <a:endParaRPr lang="en-US"/>
          </a:p>
        </p:txBody>
      </p:sp>
      <p:pic>
        <p:nvPicPr>
          <p:cNvPr id="4" name="Picture 3">
            <a:extLst>
              <a:ext uri="{FF2B5EF4-FFF2-40B4-BE49-F238E27FC236}">
                <a16:creationId xmlns:a16="http://schemas.microsoft.com/office/drawing/2014/main" id="{59BCFBF6-2382-9106-CD51-FF43DB48721B}"/>
              </a:ext>
            </a:extLst>
          </p:cNvPr>
          <p:cNvPicPr>
            <a:picLocks noChangeAspect="1"/>
          </p:cNvPicPr>
          <p:nvPr/>
        </p:nvPicPr>
        <p:blipFill>
          <a:blip r:embed="rId3">
            <a:grayscl/>
          </a:blip>
          <a:stretch>
            <a:fillRect/>
          </a:stretch>
        </p:blipFill>
        <p:spPr>
          <a:xfrm>
            <a:off x="6560017" y="2527284"/>
            <a:ext cx="5050497" cy="3556016"/>
          </a:xfrm>
          <a:prstGeom prst="rect">
            <a:avLst/>
          </a:prstGeom>
        </p:spPr>
      </p:pic>
      <p:sp>
        <p:nvSpPr>
          <p:cNvPr id="7" name="Oval 6">
            <a:extLst>
              <a:ext uri="{FF2B5EF4-FFF2-40B4-BE49-F238E27FC236}">
                <a16:creationId xmlns:a16="http://schemas.microsoft.com/office/drawing/2014/main" id="{D3414B88-EC7C-9772-2F84-6E248BC76D68}"/>
              </a:ext>
            </a:extLst>
          </p:cNvPr>
          <p:cNvSpPr/>
          <p:nvPr/>
        </p:nvSpPr>
        <p:spPr>
          <a:xfrm>
            <a:off x="3006405" y="3933645"/>
            <a:ext cx="138023" cy="15527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A58FD51-5280-5A62-2164-C3AF09CF7F92}"/>
              </a:ext>
            </a:extLst>
          </p:cNvPr>
          <p:cNvSpPr/>
          <p:nvPr/>
        </p:nvSpPr>
        <p:spPr>
          <a:xfrm>
            <a:off x="3006404" y="4974145"/>
            <a:ext cx="138023" cy="155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53DAF5F-DB98-479E-BDE3-60D459FEE1FF}"/>
              </a:ext>
            </a:extLst>
          </p:cNvPr>
          <p:cNvSpPr txBox="1"/>
          <p:nvPr/>
        </p:nvSpPr>
        <p:spPr>
          <a:xfrm>
            <a:off x="889503" y="119303"/>
            <a:ext cx="8451730" cy="2123658"/>
          </a:xfrm>
          <a:prstGeom prst="rect">
            <a:avLst/>
          </a:prstGeom>
          <a:noFill/>
        </p:spPr>
        <p:txBody>
          <a:bodyPr wrap="square">
            <a:spAutoFit/>
          </a:bodyPr>
          <a:lstStyle/>
          <a:p>
            <a:r>
              <a:rPr lang="en-US" sz="1600" b="1" dirty="0">
                <a:latin typeface="Source Code Pro" panose="020B0509030403020204" pitchFamily="49" charset="0"/>
                <a:ea typeface="Source Code Pro" panose="020B0509030403020204" pitchFamily="49" charset="0"/>
              </a:rPr>
              <a:t>   </a:t>
            </a:r>
            <a:r>
              <a:rPr lang="en-US" sz="1600" b="1" dirty="0" err="1">
                <a:latin typeface="Source Code Pro" panose="020B0509030403020204" pitchFamily="49" charset="0"/>
                <a:ea typeface="Source Code Pro" panose="020B0509030403020204" pitchFamily="49" charset="0"/>
              </a:rPr>
              <a:t>popM</a:t>
            </a:r>
            <a:r>
              <a:rPr lang="en-US" sz="1600" b="1" dirty="0">
                <a:latin typeface="Source Code Pro" panose="020B0509030403020204" pitchFamily="49" charset="0"/>
                <a:ea typeface="Source Code Pro" panose="020B0509030403020204" pitchFamily="49" charset="0"/>
              </a:rPr>
              <a:t>    low    </a:t>
            </a:r>
            <a:r>
              <a:rPr lang="en-US" sz="1600" b="1" dirty="0" err="1">
                <a:latin typeface="Source Code Pro" panose="020B0509030403020204" pitchFamily="49" charset="0"/>
                <a:ea typeface="Source Code Pro" panose="020B0509030403020204" pitchFamily="49" charset="0"/>
              </a:rPr>
              <a:t>ave</a:t>
            </a:r>
            <a:r>
              <a:rPr lang="en-US" sz="1600" b="1" dirty="0">
                <a:latin typeface="Source Code Pro" panose="020B0509030403020204" pitchFamily="49" charset="0"/>
                <a:ea typeface="Source Code Pro" panose="020B0509030403020204" pitchFamily="49" charset="0"/>
              </a:rPr>
              <a:t>    high </a:t>
            </a:r>
            <a:r>
              <a:rPr lang="en-US" sz="1600" b="1" dirty="0" err="1">
                <a:latin typeface="Source Code Pro" panose="020B0509030403020204" pitchFamily="49" charset="0"/>
                <a:ea typeface="Source Code Pro" panose="020B0509030403020204" pitchFamily="49" charset="0"/>
              </a:rPr>
              <a:t>low.ratio</a:t>
            </a:r>
            <a:r>
              <a:rPr lang="en-US" sz="1600" b="1" dirty="0">
                <a:latin typeface="Source Code Pro" panose="020B0509030403020204" pitchFamily="49" charset="0"/>
                <a:ea typeface="Source Code Pro" panose="020B0509030403020204" pitchFamily="49" charset="0"/>
              </a:rPr>
              <a:t> </a:t>
            </a:r>
            <a:r>
              <a:rPr lang="en-US" sz="1600" b="1" dirty="0" err="1">
                <a:latin typeface="Source Code Pro" panose="020B0509030403020204" pitchFamily="49" charset="0"/>
                <a:ea typeface="Source Code Pro" panose="020B0509030403020204" pitchFamily="49" charset="0"/>
              </a:rPr>
              <a:t>high.ratio</a:t>
            </a:r>
            <a:endParaRPr lang="en-US" sz="1600" b="1" dirty="0">
              <a:latin typeface="Source Code Pro" panose="020B0509030403020204" pitchFamily="49" charset="0"/>
              <a:ea typeface="Source Code Pro" panose="020B0509030403020204" pitchFamily="49" charset="0"/>
            </a:endParaRP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1  0.01      4      6       9      0.67       1.50</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2  0.03     14     20      28      0.70       1.40</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3  0.10     44     64      93      0.69       1.45</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4  0.32    144    209     302      0.69       1.44</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5  1.00    470    679     982      0.69       1.45</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6  3.16   1529   2211    3195      0.69       1.45</a:t>
            </a:r>
          </a:p>
          <a:p>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7 10.00   </a:t>
            </a:r>
            <a:r>
              <a:rPr lang="en-US" sz="1600" dirty="0">
                <a:solidFill>
                  <a:schemeClr val="accent1">
                    <a:lumMod val="75000"/>
                  </a:schemeClr>
                </a:solidFill>
                <a:latin typeface="Source Code Pro" panose="020B0509030403020204" pitchFamily="49" charset="0"/>
                <a:ea typeface="Source Code Pro" panose="020B0509030403020204" pitchFamily="49" charset="0"/>
              </a:rPr>
              <a:t>4977</a:t>
            </a:r>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   </a:t>
            </a:r>
            <a:r>
              <a:rPr lang="en-US" sz="1600" dirty="0">
                <a:solidFill>
                  <a:srgbClr val="FF0000"/>
                </a:solidFill>
                <a:latin typeface="Source Code Pro" panose="020B0509030403020204" pitchFamily="49" charset="0"/>
                <a:ea typeface="Source Code Pro" panose="020B0509030403020204" pitchFamily="49" charset="0"/>
              </a:rPr>
              <a:t>7194</a:t>
            </a:r>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   </a:t>
            </a:r>
            <a:r>
              <a:rPr lang="en-US" sz="1600" dirty="0">
                <a:solidFill>
                  <a:schemeClr val="accent6"/>
                </a:solidFill>
                <a:latin typeface="Source Code Pro" panose="020B0509030403020204" pitchFamily="49" charset="0"/>
                <a:ea typeface="Source Code Pro" panose="020B0509030403020204" pitchFamily="49" charset="0"/>
              </a:rPr>
              <a:t>10399</a:t>
            </a:r>
            <a:r>
              <a:rPr lang="en-US" sz="1600" dirty="0">
                <a:solidFill>
                  <a:schemeClr val="tx1">
                    <a:lumMod val="50000"/>
                    <a:lumOff val="50000"/>
                  </a:schemeClr>
                </a:solidFill>
                <a:latin typeface="Source Code Pro" panose="020B0509030403020204" pitchFamily="49" charset="0"/>
                <a:ea typeface="Source Code Pro" panose="020B0509030403020204" pitchFamily="49" charset="0"/>
              </a:rPr>
              <a:t>      0.69       1.45</a:t>
            </a:r>
          </a:p>
        </p:txBody>
      </p:sp>
      <p:sp>
        <p:nvSpPr>
          <p:cNvPr id="15" name="TextBox 14">
            <a:extLst>
              <a:ext uri="{FF2B5EF4-FFF2-40B4-BE49-F238E27FC236}">
                <a16:creationId xmlns:a16="http://schemas.microsoft.com/office/drawing/2014/main" id="{294060CA-5165-CE5B-9BAD-80D8C5FA1AE5}"/>
              </a:ext>
            </a:extLst>
          </p:cNvPr>
          <p:cNvSpPr txBox="1"/>
          <p:nvPr/>
        </p:nvSpPr>
        <p:spPr>
          <a:xfrm>
            <a:off x="1558244" y="3775598"/>
            <a:ext cx="593122" cy="276999"/>
          </a:xfrm>
          <a:prstGeom prst="rect">
            <a:avLst/>
          </a:prstGeom>
          <a:solidFill>
            <a:schemeClr val="bg1"/>
          </a:solidFill>
        </p:spPr>
        <p:txBody>
          <a:bodyPr wrap="square" rtlCol="0">
            <a:spAutoFit/>
          </a:bodyPr>
          <a:lstStyle/>
          <a:p>
            <a:r>
              <a:rPr lang="en-US" sz="1200" dirty="0">
                <a:solidFill>
                  <a:schemeClr val="tx1">
                    <a:lumMod val="50000"/>
                    <a:lumOff val="50000"/>
                  </a:schemeClr>
                </a:solidFill>
                <a:latin typeface="Aptos Mono" panose="020F0502020204030204" pitchFamily="49" charset="0"/>
                <a:cs typeface="Aharoni" panose="02010803020104030203" pitchFamily="2" charset="-79"/>
              </a:rPr>
              <a:t>1 </a:t>
            </a:r>
            <a:r>
              <a:rPr lang="en-US" sz="1200" dirty="0" err="1">
                <a:solidFill>
                  <a:schemeClr val="tx1">
                    <a:lumMod val="50000"/>
                    <a:lumOff val="50000"/>
                  </a:schemeClr>
                </a:solidFill>
                <a:latin typeface="Aptos Mono" panose="020F0502020204030204" pitchFamily="49" charset="0"/>
                <a:cs typeface="Aharoni" panose="02010803020104030203" pitchFamily="2" charset="-79"/>
              </a:rPr>
              <a:t>sd</a:t>
            </a:r>
            <a:endParaRPr lang="en-US" sz="1200" dirty="0">
              <a:solidFill>
                <a:schemeClr val="tx1">
                  <a:lumMod val="50000"/>
                  <a:lumOff val="50000"/>
                </a:schemeClr>
              </a:solidFill>
              <a:latin typeface="Aptos Mono" panose="020F0502020204030204" pitchFamily="49" charset="0"/>
              <a:cs typeface="Aharoni" panose="02010803020104030203" pitchFamily="2" charset="-79"/>
            </a:endParaRPr>
          </a:p>
        </p:txBody>
      </p:sp>
      <p:cxnSp>
        <p:nvCxnSpPr>
          <p:cNvPr id="14" name="Straight Arrow Connector 13">
            <a:extLst>
              <a:ext uri="{FF2B5EF4-FFF2-40B4-BE49-F238E27FC236}">
                <a16:creationId xmlns:a16="http://schemas.microsoft.com/office/drawing/2014/main" id="{8E83D0B7-9097-BDD0-AABE-52CA2F9B15CD}"/>
              </a:ext>
            </a:extLst>
          </p:cNvPr>
          <p:cNvCxnSpPr>
            <a:cxnSpLocks/>
          </p:cNvCxnSpPr>
          <p:nvPr/>
        </p:nvCxnSpPr>
        <p:spPr>
          <a:xfrm>
            <a:off x="3084040" y="414592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AF011A-4524-0E5C-5201-5DAABBE529A4}"/>
              </a:ext>
            </a:extLst>
          </p:cNvPr>
          <p:cNvCxnSpPr/>
          <p:nvPr/>
        </p:nvCxnSpPr>
        <p:spPr>
          <a:xfrm flipH="1">
            <a:off x="3144427" y="3588589"/>
            <a:ext cx="436974" cy="345056"/>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B2CD706-8AE1-8D0A-18E0-B1C4CDE329E6}"/>
              </a:ext>
            </a:extLst>
          </p:cNvPr>
          <p:cNvSpPr txBox="1"/>
          <p:nvPr/>
        </p:nvSpPr>
        <p:spPr>
          <a:xfrm>
            <a:off x="2694708" y="3028536"/>
            <a:ext cx="2225289" cy="523220"/>
          </a:xfrm>
          <a:prstGeom prst="rect">
            <a:avLst/>
          </a:prstGeom>
          <a:noFill/>
        </p:spPr>
        <p:txBody>
          <a:bodyPr wrap="none" rtlCol="0">
            <a:spAutoFit/>
          </a:bodyPr>
          <a:lstStyle/>
          <a:p>
            <a:r>
              <a:rPr lang="en-US" sz="1400" dirty="0">
                <a:solidFill>
                  <a:schemeClr val="accent6"/>
                </a:solidFill>
                <a:latin typeface="Source Code Pro" panose="020B0509030403020204" pitchFamily="49" charset="0"/>
                <a:ea typeface="Source Code Pro" panose="020B0509030403020204" pitchFamily="49" charset="0"/>
              </a:rPr>
              <a:t>45% more nonprofits</a:t>
            </a:r>
          </a:p>
          <a:p>
            <a:r>
              <a:rPr lang="en-US" sz="1400" dirty="0">
                <a:solidFill>
                  <a:schemeClr val="accent6"/>
                </a:solidFill>
                <a:latin typeface="Source Code Pro" panose="020B0509030403020204" pitchFamily="49" charset="0"/>
                <a:ea typeface="Source Code Pro" panose="020B0509030403020204" pitchFamily="49" charset="0"/>
              </a:rPr>
              <a:t>than typical city</a:t>
            </a:r>
          </a:p>
        </p:txBody>
      </p:sp>
      <p:sp>
        <p:nvSpPr>
          <p:cNvPr id="19" name="Oval 18">
            <a:extLst>
              <a:ext uri="{FF2B5EF4-FFF2-40B4-BE49-F238E27FC236}">
                <a16:creationId xmlns:a16="http://schemas.microsoft.com/office/drawing/2014/main" id="{099465EA-E414-C22A-C49B-A92BAB4132A0}"/>
              </a:ext>
            </a:extLst>
          </p:cNvPr>
          <p:cNvSpPr/>
          <p:nvPr/>
        </p:nvSpPr>
        <p:spPr>
          <a:xfrm>
            <a:off x="3006403" y="4503961"/>
            <a:ext cx="138023" cy="155276"/>
          </a:xfrm>
          <a:prstGeom prst="ellipse">
            <a:avLst/>
          </a:prstGeom>
          <a:solidFill>
            <a:srgbClr val="FF0000"/>
          </a:solidFill>
          <a:ln w="222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4C034759-8429-0A43-71AF-448238EB8A24}"/>
              </a:ext>
            </a:extLst>
          </p:cNvPr>
          <p:cNvCxnSpPr>
            <a:cxnSpLocks/>
          </p:cNvCxnSpPr>
          <p:nvPr/>
        </p:nvCxnSpPr>
        <p:spPr>
          <a:xfrm flipH="1" flipV="1">
            <a:off x="3256124" y="4621741"/>
            <a:ext cx="790683" cy="31154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C8E1973-E2BA-4826-69BD-AE80E791B2E4}"/>
              </a:ext>
            </a:extLst>
          </p:cNvPr>
          <p:cNvCxnSpPr>
            <a:cxnSpLocks/>
          </p:cNvCxnSpPr>
          <p:nvPr/>
        </p:nvCxnSpPr>
        <p:spPr>
          <a:xfrm flipH="1" flipV="1">
            <a:off x="3256124" y="5129421"/>
            <a:ext cx="790682" cy="397429"/>
          </a:xfrm>
          <a:prstGeom prst="straightConnector1">
            <a:avLst/>
          </a:prstGeom>
          <a:ln w="158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A8478F6-AACA-4E88-5906-6062C4778755}"/>
              </a:ext>
            </a:extLst>
          </p:cNvPr>
          <p:cNvSpPr txBox="1"/>
          <p:nvPr/>
        </p:nvSpPr>
        <p:spPr>
          <a:xfrm>
            <a:off x="4046806" y="5299526"/>
            <a:ext cx="2137124" cy="461665"/>
          </a:xfrm>
          <a:prstGeom prst="rect">
            <a:avLst/>
          </a:prstGeom>
          <a:noFill/>
        </p:spPr>
        <p:txBody>
          <a:bodyPr wrap="none" rtlCol="0">
            <a:spAutoFit/>
          </a:bodyPr>
          <a:lstStyle/>
          <a:p>
            <a:r>
              <a:rPr lang="en-US" sz="1200" dirty="0">
                <a:solidFill>
                  <a:schemeClr val="accent1">
                    <a:lumMod val="75000"/>
                  </a:schemeClr>
                </a:solidFill>
                <a:latin typeface="Source Code Pro" panose="020B0509030403020204" pitchFamily="49" charset="0"/>
                <a:ea typeface="Source Code Pro" panose="020B0509030403020204" pitchFamily="49" charset="0"/>
              </a:rPr>
              <a:t>31% fewer nonprofits </a:t>
            </a:r>
          </a:p>
          <a:p>
            <a:r>
              <a:rPr lang="en-US" sz="1200" dirty="0">
                <a:solidFill>
                  <a:schemeClr val="accent1">
                    <a:lumMod val="75000"/>
                  </a:schemeClr>
                </a:solidFill>
                <a:latin typeface="Source Code Pro" panose="020B0509030403020204" pitchFamily="49" charset="0"/>
                <a:ea typeface="Source Code Pro" panose="020B0509030403020204" pitchFamily="49" charset="0"/>
              </a:rPr>
              <a:t>than typical city</a:t>
            </a:r>
          </a:p>
        </p:txBody>
      </p:sp>
      <p:sp>
        <p:nvSpPr>
          <p:cNvPr id="29" name="TextBox 28">
            <a:extLst>
              <a:ext uri="{FF2B5EF4-FFF2-40B4-BE49-F238E27FC236}">
                <a16:creationId xmlns:a16="http://schemas.microsoft.com/office/drawing/2014/main" id="{EE00A4B6-531B-B449-1027-6FD1EC058243}"/>
              </a:ext>
            </a:extLst>
          </p:cNvPr>
          <p:cNvSpPr txBox="1"/>
          <p:nvPr/>
        </p:nvSpPr>
        <p:spPr>
          <a:xfrm>
            <a:off x="4158505" y="4787093"/>
            <a:ext cx="1473480" cy="307777"/>
          </a:xfrm>
          <a:prstGeom prst="rect">
            <a:avLst/>
          </a:prstGeom>
          <a:noFill/>
        </p:spPr>
        <p:txBody>
          <a:bodyPr wrap="none" rtlCol="0">
            <a:spAutoFit/>
          </a:bodyPr>
          <a:lstStyle/>
          <a:p>
            <a:r>
              <a:rPr lang="en-US" sz="1400" dirty="0">
                <a:solidFill>
                  <a:srgbClr val="FF0000"/>
                </a:solidFill>
                <a:latin typeface="Source Code Pro" panose="020B0509030403020204" pitchFamily="49" charset="0"/>
                <a:ea typeface="Source Code Pro" panose="020B0509030403020204" pitchFamily="49" charset="0"/>
              </a:rPr>
              <a:t>typical city</a:t>
            </a:r>
          </a:p>
        </p:txBody>
      </p:sp>
      <p:cxnSp>
        <p:nvCxnSpPr>
          <p:cNvPr id="30" name="Straight Arrow Connector 29">
            <a:extLst>
              <a:ext uri="{FF2B5EF4-FFF2-40B4-BE49-F238E27FC236}">
                <a16:creationId xmlns:a16="http://schemas.microsoft.com/office/drawing/2014/main" id="{F2B79F1B-18D8-2464-4B53-9607F7468E61}"/>
              </a:ext>
            </a:extLst>
          </p:cNvPr>
          <p:cNvCxnSpPr>
            <a:cxnSpLocks/>
          </p:cNvCxnSpPr>
          <p:nvPr/>
        </p:nvCxnSpPr>
        <p:spPr>
          <a:xfrm>
            <a:off x="3075417" y="4662983"/>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C752752-8C77-58BF-1181-4125DFF11404}"/>
              </a:ext>
            </a:extLst>
          </p:cNvPr>
          <p:cNvCxnSpPr>
            <a:cxnSpLocks/>
          </p:cNvCxnSpPr>
          <p:nvPr/>
        </p:nvCxnSpPr>
        <p:spPr>
          <a:xfrm>
            <a:off x="2144274" y="3761117"/>
            <a:ext cx="0" cy="311162"/>
          </a:xfrm>
          <a:prstGeom prst="straightConnector1">
            <a:avLst/>
          </a:prstGeom>
          <a:ln w="1905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834A1B4-008F-EB95-0C22-6FB88FF166EE}"/>
              </a:ext>
            </a:extLst>
          </p:cNvPr>
          <p:cNvSpPr txBox="1"/>
          <p:nvPr/>
        </p:nvSpPr>
        <p:spPr>
          <a:xfrm>
            <a:off x="7702670" y="811800"/>
            <a:ext cx="4193157" cy="646331"/>
          </a:xfrm>
          <a:prstGeom prst="rect">
            <a:avLst/>
          </a:prstGeom>
          <a:noFill/>
        </p:spPr>
        <p:txBody>
          <a:bodyPr wrap="square">
            <a:spAutoFit/>
          </a:bodyPr>
          <a:lstStyle/>
          <a:p>
            <a:r>
              <a:rPr lang="en-US" sz="1200" b="1" dirty="0">
                <a:solidFill>
                  <a:schemeClr val="accent2">
                    <a:lumMod val="75000"/>
                  </a:schemeClr>
                </a:solidFill>
                <a:latin typeface="Source Code Pro" panose="020B0509030403020204" pitchFamily="49" charset="0"/>
                <a:ea typeface="Source Code Pro" panose="020B0509030403020204" pitchFamily="49" charset="0"/>
                <a:cs typeface="Courier New" panose="02070309020205020404" pitchFamily="49" charset="0"/>
              </a:rPr>
              <a:t>log10(Num NPO) = -3.318 + 1.025·log10(pop)</a:t>
            </a:r>
          </a:p>
          <a:p>
            <a:endParaRPr lang="en-US" sz="1200" b="1" dirty="0">
              <a:solidFill>
                <a:schemeClr val="accent2">
                  <a:lumMod val="75000"/>
                </a:schemeClr>
              </a:solidFill>
              <a:latin typeface="Source Code Pro" panose="020B0509030403020204" pitchFamily="49" charset="0"/>
              <a:ea typeface="Source Code Pro" panose="020B0509030403020204" pitchFamily="49" charset="0"/>
              <a:cs typeface="Courier New" panose="02070309020205020404" pitchFamily="49" charset="0"/>
            </a:endParaRPr>
          </a:p>
          <a:p>
            <a:r>
              <a:rPr lang="en-US" sz="1200" b="1" dirty="0" err="1">
                <a:solidFill>
                  <a:schemeClr val="accent2">
                    <a:lumMod val="75000"/>
                  </a:schemeClr>
                </a:solidFill>
                <a:latin typeface="Source Code Pro" panose="020B0509030403020204" pitchFamily="49" charset="0"/>
                <a:ea typeface="Source Code Pro" panose="020B0509030403020204" pitchFamily="49" charset="0"/>
                <a:cs typeface="Courier New" panose="02070309020205020404" pitchFamily="49" charset="0"/>
              </a:rPr>
              <a:t>sd</a:t>
            </a:r>
            <a:r>
              <a:rPr lang="en-US" sz="1200" b="1" dirty="0">
                <a:solidFill>
                  <a:schemeClr val="accent2">
                    <a:lumMod val="75000"/>
                  </a:schemeClr>
                </a:solidFill>
                <a:latin typeface="Source Code Pro" panose="020B0509030403020204" pitchFamily="49" charset="0"/>
                <a:ea typeface="Source Code Pro" panose="020B0509030403020204" pitchFamily="49" charset="0"/>
                <a:cs typeface="Courier New" panose="02070309020205020404" pitchFamily="49" charset="0"/>
              </a:rPr>
              <a:t>( residual ) = 0.15 </a:t>
            </a:r>
            <a:endParaRPr lang="en-US" sz="1200" b="1" dirty="0">
              <a:solidFill>
                <a:schemeClr val="accent2">
                  <a:lumMod val="75000"/>
                </a:schemeClr>
              </a:solidFill>
              <a:latin typeface="Source Code Pro" panose="020B0509030403020204" pitchFamily="49" charset="0"/>
              <a:ea typeface="Source Code Pro" panose="020B0509030403020204" pitchFamily="49" charset="0"/>
            </a:endParaRPr>
          </a:p>
        </p:txBody>
      </p:sp>
      <p:sp>
        <p:nvSpPr>
          <p:cNvPr id="35" name="TextBox 34">
            <a:extLst>
              <a:ext uri="{FF2B5EF4-FFF2-40B4-BE49-F238E27FC236}">
                <a16:creationId xmlns:a16="http://schemas.microsoft.com/office/drawing/2014/main" id="{3273F7E5-71CD-3759-84BF-ADFEEADFFA53}"/>
              </a:ext>
            </a:extLst>
          </p:cNvPr>
          <p:cNvSpPr txBox="1"/>
          <p:nvPr/>
        </p:nvSpPr>
        <p:spPr>
          <a:xfrm>
            <a:off x="6751967" y="6143418"/>
            <a:ext cx="6094562" cy="577081"/>
          </a:xfrm>
          <a:prstGeom prst="rect">
            <a:avLst/>
          </a:prstGeom>
          <a:noFill/>
        </p:spPr>
        <p:txBody>
          <a:bodyPr wrap="square">
            <a:spAutoFit/>
          </a:bodyPr>
          <a:lstStyle/>
          <a:p>
            <a:r>
              <a:rPr lang="en-US" sz="1050" dirty="0">
                <a:solidFill>
                  <a:schemeClr val="bg1">
                    <a:lumMod val="75000"/>
                  </a:schemeClr>
                </a:solidFill>
                <a:latin typeface="Source Code Pro" panose="020B0509030403020204" pitchFamily="49" charset="0"/>
                <a:ea typeface="Source Code Pro" panose="020B0509030403020204" pitchFamily="49" charset="0"/>
              </a:rPr>
              <a:t>&gt; summary( dd2$residuals )</a:t>
            </a:r>
          </a:p>
          <a:p>
            <a:r>
              <a:rPr lang="en-US" sz="1050" dirty="0">
                <a:solidFill>
                  <a:schemeClr val="bg1">
                    <a:lumMod val="75000"/>
                  </a:schemeClr>
                </a:solidFill>
                <a:latin typeface="Source Code Pro" panose="020B0509030403020204" pitchFamily="49" charset="0"/>
                <a:ea typeface="Source Code Pro" panose="020B0509030403020204" pitchFamily="49" charset="0"/>
              </a:rPr>
              <a:t>     Min.   1st Qu.    Median      Mean   3rd Qu.      Max. </a:t>
            </a:r>
          </a:p>
          <a:p>
            <a:r>
              <a:rPr lang="en-US" sz="1050" dirty="0">
                <a:solidFill>
                  <a:schemeClr val="bg1">
                    <a:lumMod val="75000"/>
                  </a:schemeClr>
                </a:solidFill>
                <a:latin typeface="Source Code Pro" panose="020B0509030403020204" pitchFamily="49" charset="0"/>
                <a:ea typeface="Source Code Pro" panose="020B0509030403020204" pitchFamily="49" charset="0"/>
              </a:rPr>
              <a:t>-1.252324 -0.086992  0.008122  0.000000  0.095839  0.495278</a:t>
            </a:r>
          </a:p>
        </p:txBody>
      </p:sp>
    </p:spTree>
    <p:extLst>
      <p:ext uri="{BB962C8B-B14F-4D97-AF65-F5344CB8AC3E}">
        <p14:creationId xmlns:p14="http://schemas.microsoft.com/office/powerpoint/2010/main" val="282801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0B02DD-BA44-A134-4849-419F0B6F152D}"/>
              </a:ext>
            </a:extLst>
          </p:cNvPr>
          <p:cNvSpPr>
            <a:spLocks noGrp="1"/>
          </p:cNvSpPr>
          <p:nvPr>
            <p:ph type="sldNum" sz="quarter" idx="12"/>
          </p:nvPr>
        </p:nvSpPr>
        <p:spPr/>
        <p:txBody>
          <a:bodyPr/>
          <a:lstStyle/>
          <a:p>
            <a:fld id="{F3963908-5577-44A4-91B0-79992FE49834}" type="slidenum">
              <a:rPr lang="en-US" smtClean="0"/>
              <a:t>36</a:t>
            </a:fld>
            <a:endParaRPr lang="en-US"/>
          </a:p>
        </p:txBody>
      </p:sp>
      <p:pic>
        <p:nvPicPr>
          <p:cNvPr id="6" name="Picture 5">
            <a:extLst>
              <a:ext uri="{FF2B5EF4-FFF2-40B4-BE49-F238E27FC236}">
                <a16:creationId xmlns:a16="http://schemas.microsoft.com/office/drawing/2014/main" id="{4BC80320-D0F8-CDD5-23EC-371C58AB2990}"/>
              </a:ext>
            </a:extLst>
          </p:cNvPr>
          <p:cNvPicPr>
            <a:picLocks noChangeAspect="1"/>
          </p:cNvPicPr>
          <p:nvPr/>
        </p:nvPicPr>
        <p:blipFill rotWithShape="1">
          <a:blip r:embed="rId2"/>
          <a:srcRect t="51192"/>
          <a:stretch/>
        </p:blipFill>
        <p:spPr>
          <a:xfrm>
            <a:off x="688830" y="2495633"/>
            <a:ext cx="10507489" cy="3832074"/>
          </a:xfrm>
          <a:prstGeom prst="rect">
            <a:avLst/>
          </a:prstGeom>
        </p:spPr>
      </p:pic>
      <p:sp>
        <p:nvSpPr>
          <p:cNvPr id="7" name="TextBox 6">
            <a:extLst>
              <a:ext uri="{FF2B5EF4-FFF2-40B4-BE49-F238E27FC236}">
                <a16:creationId xmlns:a16="http://schemas.microsoft.com/office/drawing/2014/main" id="{BA554813-CD27-8E51-EA39-5E707CA28B63}"/>
              </a:ext>
            </a:extLst>
          </p:cNvPr>
          <p:cNvSpPr txBox="1"/>
          <p:nvPr/>
        </p:nvSpPr>
        <p:spPr>
          <a:xfrm>
            <a:off x="1215744" y="1214416"/>
            <a:ext cx="3894736" cy="1077218"/>
          </a:xfrm>
          <a:prstGeom prst="rect">
            <a:avLst/>
          </a:prstGeom>
          <a:noFill/>
        </p:spPr>
        <p:txBody>
          <a:bodyPr wrap="square" rtlCol="0">
            <a:spAutoFit/>
          </a:bodyPr>
          <a:lstStyle/>
          <a:p>
            <a:pPr algn="ctr"/>
            <a:r>
              <a:rPr lang="en-US" sz="1600" dirty="0">
                <a:solidFill>
                  <a:schemeClr val="accent1">
                    <a:lumMod val="75000"/>
                  </a:schemeClr>
                </a:solidFill>
                <a:latin typeface="Roboto Mono" panose="00000009000000000000" pitchFamily="49" charset="0"/>
                <a:ea typeface="Roboto Mono" panose="00000009000000000000" pitchFamily="49" charset="0"/>
              </a:rPr>
              <a:t>since the metric is not independent from population we cannot compare rates across cities of different sizes  </a:t>
            </a:r>
          </a:p>
        </p:txBody>
      </p:sp>
      <p:sp>
        <p:nvSpPr>
          <p:cNvPr id="8" name="TextBox 7">
            <a:extLst>
              <a:ext uri="{FF2B5EF4-FFF2-40B4-BE49-F238E27FC236}">
                <a16:creationId xmlns:a16="http://schemas.microsoft.com/office/drawing/2014/main" id="{D492ED29-FF7D-8EC2-3D94-DCA233B11566}"/>
              </a:ext>
            </a:extLst>
          </p:cNvPr>
          <p:cNvSpPr txBox="1"/>
          <p:nvPr/>
        </p:nvSpPr>
        <p:spPr>
          <a:xfrm>
            <a:off x="6435396" y="1214416"/>
            <a:ext cx="4185260" cy="1077218"/>
          </a:xfrm>
          <a:prstGeom prst="rect">
            <a:avLst/>
          </a:prstGeom>
          <a:noFill/>
        </p:spPr>
        <p:txBody>
          <a:bodyPr wrap="square" rtlCol="0">
            <a:spAutoFit/>
          </a:bodyPr>
          <a:lstStyle/>
          <a:p>
            <a:pPr algn="ctr"/>
            <a:r>
              <a:rPr lang="en-US" sz="1600" dirty="0">
                <a:solidFill>
                  <a:schemeClr val="accent1">
                    <a:lumMod val="75000"/>
                  </a:schemeClr>
                </a:solidFill>
                <a:latin typeface="Roboto Mono" panose="00000009000000000000" pitchFamily="49" charset="0"/>
                <a:ea typeface="Roboto Mono" panose="00000009000000000000" pitchFamily="49" charset="0"/>
              </a:rPr>
              <a:t>population size and the density metric are uncorrelated: cleaner measure of relative density independent of population</a:t>
            </a:r>
          </a:p>
        </p:txBody>
      </p:sp>
      <p:sp>
        <p:nvSpPr>
          <p:cNvPr id="2" name="TextBox 1">
            <a:extLst>
              <a:ext uri="{FF2B5EF4-FFF2-40B4-BE49-F238E27FC236}">
                <a16:creationId xmlns:a16="http://schemas.microsoft.com/office/drawing/2014/main" id="{BD605A98-2C32-B364-3EA3-ACC90532FA2B}"/>
              </a:ext>
            </a:extLst>
          </p:cNvPr>
          <p:cNvSpPr txBox="1"/>
          <p:nvPr/>
        </p:nvSpPr>
        <p:spPr>
          <a:xfrm>
            <a:off x="2087336" y="553329"/>
            <a:ext cx="2151551" cy="461665"/>
          </a:xfrm>
          <a:prstGeom prst="rect">
            <a:avLst/>
          </a:prstGeom>
          <a:noFill/>
        </p:spPr>
        <p:txBody>
          <a:bodyPr wrap="none" rtlCol="0">
            <a:spAutoFit/>
          </a:bodyPr>
          <a:lstStyle/>
          <a:p>
            <a:r>
              <a:rPr lang="en-US" sz="2400" dirty="0">
                <a:solidFill>
                  <a:schemeClr val="accent1">
                    <a:lumMod val="50000"/>
                  </a:schemeClr>
                </a:solidFill>
                <a:latin typeface="Oswald" panose="00000500000000000000" pitchFamily="2" charset="0"/>
              </a:rPr>
              <a:t>Per Capita Metric</a:t>
            </a:r>
          </a:p>
        </p:txBody>
      </p:sp>
      <p:sp>
        <p:nvSpPr>
          <p:cNvPr id="3" name="TextBox 2">
            <a:extLst>
              <a:ext uri="{FF2B5EF4-FFF2-40B4-BE49-F238E27FC236}">
                <a16:creationId xmlns:a16="http://schemas.microsoft.com/office/drawing/2014/main" id="{9E90B5C2-1923-FEDB-B601-0C61F4405316}"/>
              </a:ext>
            </a:extLst>
          </p:cNvPr>
          <p:cNvSpPr txBox="1"/>
          <p:nvPr/>
        </p:nvSpPr>
        <p:spPr>
          <a:xfrm>
            <a:off x="6920053" y="530293"/>
            <a:ext cx="3215945" cy="461665"/>
          </a:xfrm>
          <a:prstGeom prst="rect">
            <a:avLst/>
          </a:prstGeom>
          <a:noFill/>
        </p:spPr>
        <p:txBody>
          <a:bodyPr wrap="none" rtlCol="0">
            <a:spAutoFit/>
          </a:bodyPr>
          <a:lstStyle/>
          <a:p>
            <a:r>
              <a:rPr lang="en-US" sz="2400" dirty="0" err="1">
                <a:solidFill>
                  <a:schemeClr val="accent1">
                    <a:lumMod val="50000"/>
                  </a:schemeClr>
                </a:solidFill>
                <a:latin typeface="Oswald" panose="00000500000000000000" pitchFamily="2" charset="0"/>
              </a:rPr>
              <a:t>Residualized</a:t>
            </a:r>
            <a:r>
              <a:rPr lang="en-US" sz="2400" dirty="0">
                <a:solidFill>
                  <a:schemeClr val="accent1">
                    <a:lumMod val="50000"/>
                  </a:schemeClr>
                </a:solidFill>
                <a:latin typeface="Oswald" panose="00000500000000000000" pitchFamily="2" charset="0"/>
              </a:rPr>
              <a:t> log-log Metric</a:t>
            </a:r>
          </a:p>
        </p:txBody>
      </p:sp>
    </p:spTree>
    <p:extLst>
      <p:ext uri="{BB962C8B-B14F-4D97-AF65-F5344CB8AC3E}">
        <p14:creationId xmlns:p14="http://schemas.microsoft.com/office/powerpoint/2010/main" val="1521795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0B02DD-BA44-A134-4849-419F0B6F15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BC80320-D0F8-CDD5-23EC-371C58AB2990}"/>
              </a:ext>
            </a:extLst>
          </p:cNvPr>
          <p:cNvPicPr>
            <a:picLocks noChangeAspect="1"/>
          </p:cNvPicPr>
          <p:nvPr/>
        </p:nvPicPr>
        <p:blipFill rotWithShape="1">
          <a:blip r:embed="rId2"/>
          <a:srcRect t="51192"/>
          <a:stretch/>
        </p:blipFill>
        <p:spPr>
          <a:xfrm>
            <a:off x="688830" y="2495633"/>
            <a:ext cx="10507489" cy="3832074"/>
          </a:xfrm>
          <a:prstGeom prst="rect">
            <a:avLst/>
          </a:prstGeom>
        </p:spPr>
      </p:pic>
      <p:sp>
        <p:nvSpPr>
          <p:cNvPr id="7" name="TextBox 6">
            <a:extLst>
              <a:ext uri="{FF2B5EF4-FFF2-40B4-BE49-F238E27FC236}">
                <a16:creationId xmlns:a16="http://schemas.microsoft.com/office/drawing/2014/main" id="{BA554813-CD27-8E51-EA39-5E707CA28B63}"/>
              </a:ext>
            </a:extLst>
          </p:cNvPr>
          <p:cNvSpPr txBox="1"/>
          <p:nvPr/>
        </p:nvSpPr>
        <p:spPr>
          <a:xfrm>
            <a:off x="1215744" y="1214416"/>
            <a:ext cx="3894736"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9BD5">
                    <a:lumMod val="75000"/>
                  </a:srgbClr>
                </a:solidFill>
                <a:effectLst/>
                <a:uLnTx/>
                <a:uFillTx/>
                <a:latin typeface="Roboto Mono" panose="00000009000000000000" pitchFamily="49" charset="0"/>
                <a:ea typeface="Roboto Mono" panose="00000009000000000000" pitchFamily="49" charset="0"/>
                <a:cs typeface="+mn-cs"/>
              </a:rPr>
              <a:t>since the metric is not independent from population we cannot compare rates across cities of different sizes  </a:t>
            </a:r>
          </a:p>
        </p:txBody>
      </p:sp>
      <p:sp>
        <p:nvSpPr>
          <p:cNvPr id="8" name="TextBox 7">
            <a:extLst>
              <a:ext uri="{FF2B5EF4-FFF2-40B4-BE49-F238E27FC236}">
                <a16:creationId xmlns:a16="http://schemas.microsoft.com/office/drawing/2014/main" id="{D492ED29-FF7D-8EC2-3D94-DCA233B11566}"/>
              </a:ext>
            </a:extLst>
          </p:cNvPr>
          <p:cNvSpPr txBox="1"/>
          <p:nvPr/>
        </p:nvSpPr>
        <p:spPr>
          <a:xfrm>
            <a:off x="6435396" y="1214416"/>
            <a:ext cx="41852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9BD5">
                    <a:lumMod val="75000"/>
                  </a:srgbClr>
                </a:solidFill>
                <a:effectLst/>
                <a:uLnTx/>
                <a:uFillTx/>
                <a:latin typeface="Roboto Mono" panose="00000009000000000000" pitchFamily="49" charset="0"/>
                <a:ea typeface="Roboto Mono" panose="00000009000000000000" pitchFamily="49" charset="0"/>
                <a:cs typeface="+mn-cs"/>
              </a:rPr>
              <a:t>population size and the density metric are uncorrelated: cleaner measure of relative density independent of population</a:t>
            </a:r>
          </a:p>
        </p:txBody>
      </p:sp>
      <p:sp>
        <p:nvSpPr>
          <p:cNvPr id="2" name="TextBox 1">
            <a:extLst>
              <a:ext uri="{FF2B5EF4-FFF2-40B4-BE49-F238E27FC236}">
                <a16:creationId xmlns:a16="http://schemas.microsoft.com/office/drawing/2014/main" id="{BD605A98-2C32-B364-3EA3-ACC90532FA2B}"/>
              </a:ext>
            </a:extLst>
          </p:cNvPr>
          <p:cNvSpPr txBox="1"/>
          <p:nvPr/>
        </p:nvSpPr>
        <p:spPr>
          <a:xfrm>
            <a:off x="2087336" y="553329"/>
            <a:ext cx="21515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50000"/>
                  </a:srgbClr>
                </a:solidFill>
                <a:effectLst/>
                <a:uLnTx/>
                <a:uFillTx/>
                <a:latin typeface="Oswald" panose="00000500000000000000" pitchFamily="2" charset="0"/>
                <a:ea typeface="+mn-ea"/>
                <a:cs typeface="+mn-cs"/>
              </a:rPr>
              <a:t>Per Capita Metric</a:t>
            </a:r>
          </a:p>
        </p:txBody>
      </p:sp>
      <p:sp>
        <p:nvSpPr>
          <p:cNvPr id="3" name="TextBox 2">
            <a:extLst>
              <a:ext uri="{FF2B5EF4-FFF2-40B4-BE49-F238E27FC236}">
                <a16:creationId xmlns:a16="http://schemas.microsoft.com/office/drawing/2014/main" id="{9E90B5C2-1923-FEDB-B601-0C61F4405316}"/>
              </a:ext>
            </a:extLst>
          </p:cNvPr>
          <p:cNvSpPr txBox="1"/>
          <p:nvPr/>
        </p:nvSpPr>
        <p:spPr>
          <a:xfrm>
            <a:off x="6920053" y="530293"/>
            <a:ext cx="321594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5B9BD5">
                    <a:lumMod val="50000"/>
                  </a:srgbClr>
                </a:solidFill>
                <a:effectLst/>
                <a:uLnTx/>
                <a:uFillTx/>
                <a:latin typeface="Oswald" panose="00000500000000000000" pitchFamily="2" charset="0"/>
                <a:ea typeface="+mn-ea"/>
                <a:cs typeface="+mn-cs"/>
              </a:rPr>
              <a:t>Residualized</a:t>
            </a:r>
            <a:r>
              <a:rPr kumimoji="0" lang="en-US" sz="2400" b="0" i="0" u="none" strike="noStrike" kern="1200" cap="none" spc="0" normalizeH="0" baseline="0" noProof="0" dirty="0">
                <a:ln>
                  <a:noFill/>
                </a:ln>
                <a:solidFill>
                  <a:srgbClr val="5B9BD5">
                    <a:lumMod val="50000"/>
                  </a:srgbClr>
                </a:solidFill>
                <a:effectLst/>
                <a:uLnTx/>
                <a:uFillTx/>
                <a:latin typeface="Oswald" panose="00000500000000000000" pitchFamily="2" charset="0"/>
                <a:ea typeface="+mn-ea"/>
                <a:cs typeface="+mn-cs"/>
              </a:rPr>
              <a:t> log-log Metric</a:t>
            </a:r>
          </a:p>
        </p:txBody>
      </p:sp>
      <p:cxnSp>
        <p:nvCxnSpPr>
          <p:cNvPr id="10" name="Straight Arrow Connector 9">
            <a:extLst>
              <a:ext uri="{FF2B5EF4-FFF2-40B4-BE49-F238E27FC236}">
                <a16:creationId xmlns:a16="http://schemas.microsoft.com/office/drawing/2014/main" id="{C9B03BD1-8136-704E-9DFB-2EB7592F4E30}"/>
              </a:ext>
            </a:extLst>
          </p:cNvPr>
          <p:cNvCxnSpPr>
            <a:cxnSpLocks/>
          </p:cNvCxnSpPr>
          <p:nvPr/>
        </p:nvCxnSpPr>
        <p:spPr>
          <a:xfrm flipH="1">
            <a:off x="8723543" y="2750333"/>
            <a:ext cx="733016" cy="328565"/>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C7D820-EDB8-AF9B-5C57-4D3F589EA20D}"/>
              </a:ext>
            </a:extLst>
          </p:cNvPr>
          <p:cNvSpPr txBox="1"/>
          <p:nvPr/>
        </p:nvSpPr>
        <p:spPr>
          <a:xfrm>
            <a:off x="9456559" y="2466990"/>
            <a:ext cx="234410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50% more nonprofits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0AD47"/>
                </a:solidFill>
                <a:effectLst/>
                <a:uLnTx/>
                <a:uFillTx/>
                <a:latin typeface="Source Code Pro" panose="020B0509030403020204" pitchFamily="49" charset="0"/>
                <a:ea typeface="Source Code Pro" panose="020B0509030403020204" pitchFamily="49" charset="0"/>
                <a:cs typeface="+mn-cs"/>
              </a:rPr>
              <a:t>than typical city</a:t>
            </a:r>
          </a:p>
        </p:txBody>
      </p:sp>
      <p:cxnSp>
        <p:nvCxnSpPr>
          <p:cNvPr id="13" name="Straight Arrow Connector 12">
            <a:extLst>
              <a:ext uri="{FF2B5EF4-FFF2-40B4-BE49-F238E27FC236}">
                <a16:creationId xmlns:a16="http://schemas.microsoft.com/office/drawing/2014/main" id="{DC9FDF08-48BB-805F-FBF9-F0BCE86F344F}"/>
              </a:ext>
            </a:extLst>
          </p:cNvPr>
          <p:cNvCxnSpPr>
            <a:cxnSpLocks/>
          </p:cNvCxnSpPr>
          <p:nvPr/>
        </p:nvCxnSpPr>
        <p:spPr>
          <a:xfrm flipH="1" flipV="1">
            <a:off x="8692175" y="4545750"/>
            <a:ext cx="733016" cy="262088"/>
          </a:xfrm>
          <a:prstGeom prst="straightConnector1">
            <a:avLst/>
          </a:prstGeom>
          <a:ln w="158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78E986F-3D93-123C-64CF-D5808FDBA816}"/>
              </a:ext>
            </a:extLst>
          </p:cNvPr>
          <p:cNvSpPr txBox="1"/>
          <p:nvPr/>
        </p:nvSpPr>
        <p:spPr>
          <a:xfrm>
            <a:off x="10869154" y="3242119"/>
            <a:ext cx="1258678" cy="11695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t>typical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t>city: </a:t>
            </a:r>
            <a:b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br>
            <a:r>
              <a:rPr kumimoji="0" lang="en-US" sz="1400" b="0" i="0" u="none" strike="noStrike" kern="1200" cap="none" spc="0" normalizeH="0" baseline="0" noProof="0" dirty="0" err="1">
                <a:ln>
                  <a:noFill/>
                </a:ln>
                <a:solidFill>
                  <a:srgbClr val="FF0000"/>
                </a:solidFill>
                <a:effectLst/>
                <a:uLnTx/>
                <a:uFillTx/>
                <a:latin typeface="Source Code Pro" panose="020B0509030403020204" pitchFamily="49" charset="0"/>
                <a:ea typeface="Source Code Pro" panose="020B0509030403020204" pitchFamily="49" charset="0"/>
                <a:cs typeface="+mn-cs"/>
              </a:rPr>
              <a:t>ave</a:t>
            </a:r>
            <a:r>
              <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rPr>
              <a:t> = 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Source Code Pro" panose="020B0509030403020204" pitchFamily="49" charset="0"/>
                <a:ea typeface="Source Code Pro" panose="020B0509030403020204" pitchFamily="49" charset="0"/>
              </a:rPr>
              <a:t>across </a:t>
            </a:r>
            <a:br>
              <a:rPr lang="en-US" sz="1400" dirty="0">
                <a:solidFill>
                  <a:srgbClr val="FF0000"/>
                </a:solidFill>
                <a:latin typeface="Source Code Pro" panose="020B0509030403020204" pitchFamily="49" charset="0"/>
                <a:ea typeface="Source Code Pro" panose="020B0509030403020204" pitchFamily="49" charset="0"/>
              </a:rPr>
            </a:br>
            <a:r>
              <a:rPr lang="en-US" sz="1400" dirty="0">
                <a:solidFill>
                  <a:srgbClr val="FF0000"/>
                </a:solidFill>
                <a:latin typeface="Source Code Pro" panose="020B0509030403020204" pitchFamily="49" charset="0"/>
                <a:ea typeface="Source Code Pro" panose="020B0509030403020204" pitchFamily="49" charset="0"/>
              </a:rPr>
              <a:t>metro size</a:t>
            </a:r>
            <a:endParaRPr kumimoji="0" lang="en-US" sz="1400" b="0" i="0" u="none" strike="noStrike" kern="1200" cap="none" spc="0" normalizeH="0" baseline="0" noProof="0" dirty="0">
              <a:ln>
                <a:noFill/>
              </a:ln>
              <a:solidFill>
                <a:srgbClr val="FF0000"/>
              </a:solidFill>
              <a:effectLst/>
              <a:uLnTx/>
              <a:uFillTx/>
              <a:latin typeface="Source Code Pro" panose="020B0509030403020204" pitchFamily="49" charset="0"/>
              <a:ea typeface="Source Code Pro" panose="020B0509030403020204" pitchFamily="49" charset="0"/>
              <a:cs typeface="+mn-cs"/>
            </a:endParaRPr>
          </a:p>
        </p:txBody>
      </p:sp>
      <p:sp>
        <p:nvSpPr>
          <p:cNvPr id="17" name="TextBox 16">
            <a:extLst>
              <a:ext uri="{FF2B5EF4-FFF2-40B4-BE49-F238E27FC236}">
                <a16:creationId xmlns:a16="http://schemas.microsoft.com/office/drawing/2014/main" id="{29BEADE5-987E-FDC0-6247-D4583FFD37C2}"/>
              </a:ext>
            </a:extLst>
          </p:cNvPr>
          <p:cNvSpPr txBox="1"/>
          <p:nvPr/>
        </p:nvSpPr>
        <p:spPr>
          <a:xfrm>
            <a:off x="9472886" y="4676794"/>
            <a:ext cx="232778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50% fewer nonprofits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9BD5">
                    <a:lumMod val="75000"/>
                  </a:srgbClr>
                </a:solidFill>
                <a:effectLst/>
                <a:uLnTx/>
                <a:uFillTx/>
                <a:latin typeface="Source Code Pro" panose="020B0509030403020204" pitchFamily="49" charset="0"/>
                <a:ea typeface="Source Code Pro" panose="020B0509030403020204" pitchFamily="49" charset="0"/>
                <a:cs typeface="+mn-cs"/>
              </a:rPr>
              <a:t>than typical city</a:t>
            </a:r>
          </a:p>
        </p:txBody>
      </p:sp>
      <p:cxnSp>
        <p:nvCxnSpPr>
          <p:cNvPr id="22" name="Straight Connector 21">
            <a:extLst>
              <a:ext uri="{FF2B5EF4-FFF2-40B4-BE49-F238E27FC236}">
                <a16:creationId xmlns:a16="http://schemas.microsoft.com/office/drawing/2014/main" id="{965E3537-FFAF-512E-EE78-A44BD84DF453}"/>
              </a:ext>
            </a:extLst>
          </p:cNvPr>
          <p:cNvCxnSpPr>
            <a:cxnSpLocks/>
          </p:cNvCxnSpPr>
          <p:nvPr/>
        </p:nvCxnSpPr>
        <p:spPr>
          <a:xfrm>
            <a:off x="6768381" y="3242883"/>
            <a:ext cx="346419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124BB4F-B32E-17EA-0596-1717A594FDFE}"/>
              </a:ext>
            </a:extLst>
          </p:cNvPr>
          <p:cNvSpPr/>
          <p:nvPr/>
        </p:nvSpPr>
        <p:spPr>
          <a:xfrm>
            <a:off x="8326177" y="3108192"/>
            <a:ext cx="237208" cy="269383"/>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A4A5A1AF-5380-6247-D8DE-9F012F51461A}"/>
              </a:ext>
            </a:extLst>
          </p:cNvPr>
          <p:cNvCxnSpPr>
            <a:cxnSpLocks/>
          </p:cNvCxnSpPr>
          <p:nvPr/>
        </p:nvCxnSpPr>
        <p:spPr>
          <a:xfrm>
            <a:off x="6768381" y="4397520"/>
            <a:ext cx="346419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3FD02B9-2034-AAAE-56DE-C0AACCD38BCF}"/>
              </a:ext>
            </a:extLst>
          </p:cNvPr>
          <p:cNvSpPr/>
          <p:nvPr/>
        </p:nvSpPr>
        <p:spPr>
          <a:xfrm>
            <a:off x="8347947" y="4249291"/>
            <a:ext cx="237208" cy="269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603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121481-0C8E-F312-6B9E-0E7E106BB882}"/>
              </a:ext>
            </a:extLst>
          </p:cNvPr>
          <p:cNvSpPr>
            <a:spLocks noGrp="1"/>
          </p:cNvSpPr>
          <p:nvPr>
            <p:ph type="sldNum" sz="quarter" idx="12"/>
          </p:nvPr>
        </p:nvSpPr>
        <p:spPr/>
        <p:txBody>
          <a:bodyPr/>
          <a:lstStyle/>
          <a:p>
            <a:fld id="{F3963908-5577-44A4-91B0-79992FE49834}" type="slidenum">
              <a:rPr lang="en-US" smtClean="0"/>
              <a:t>38</a:t>
            </a:fld>
            <a:endParaRPr lang="en-US"/>
          </a:p>
        </p:txBody>
      </p:sp>
      <p:graphicFrame>
        <p:nvGraphicFramePr>
          <p:cNvPr id="3" name="Table 2">
            <a:extLst>
              <a:ext uri="{FF2B5EF4-FFF2-40B4-BE49-F238E27FC236}">
                <a16:creationId xmlns:a16="http://schemas.microsoft.com/office/drawing/2014/main" id="{9F913FE9-A8F2-0D19-B62C-944044BE48FB}"/>
              </a:ext>
            </a:extLst>
          </p:cNvPr>
          <p:cNvGraphicFramePr>
            <a:graphicFrameLocks noGrp="1"/>
          </p:cNvGraphicFramePr>
          <p:nvPr/>
        </p:nvGraphicFramePr>
        <p:xfrm>
          <a:off x="1373458" y="2501455"/>
          <a:ext cx="10515600" cy="2834640"/>
        </p:xfrm>
        <a:graphic>
          <a:graphicData uri="http://schemas.openxmlformats.org/drawingml/2006/table">
            <a:tbl>
              <a:tblPr/>
              <a:tblGrid>
                <a:gridCol w="3505200">
                  <a:extLst>
                    <a:ext uri="{9D8B030D-6E8A-4147-A177-3AD203B41FA5}">
                      <a16:colId xmlns:a16="http://schemas.microsoft.com/office/drawing/2014/main" val="2164845992"/>
                    </a:ext>
                  </a:extLst>
                </a:gridCol>
                <a:gridCol w="3505200">
                  <a:extLst>
                    <a:ext uri="{9D8B030D-6E8A-4147-A177-3AD203B41FA5}">
                      <a16:colId xmlns:a16="http://schemas.microsoft.com/office/drawing/2014/main" val="1135611651"/>
                    </a:ext>
                  </a:extLst>
                </a:gridCol>
                <a:gridCol w="3505200">
                  <a:extLst>
                    <a:ext uri="{9D8B030D-6E8A-4147-A177-3AD203B41FA5}">
                      <a16:colId xmlns:a16="http://schemas.microsoft.com/office/drawing/2014/main" val="1413787399"/>
                    </a:ext>
                  </a:extLst>
                </a:gridCol>
              </a:tblGrid>
              <a:tr h="0">
                <a:tc>
                  <a:txBody>
                    <a:bodyPr/>
                    <a:lstStyle/>
                    <a:p>
                      <a:pPr>
                        <a:buNone/>
                      </a:pPr>
                      <a:r>
                        <a:rPr lang="en-US" b="1"/>
                        <a:t>Type of Industry</a:t>
                      </a:r>
                    </a:p>
                  </a:txBody>
                  <a:tcPr anchor="ctr">
                    <a:lnL>
                      <a:noFill/>
                    </a:lnL>
                    <a:lnR>
                      <a:noFill/>
                    </a:lnR>
                    <a:lnT>
                      <a:noFill/>
                    </a:lnT>
                    <a:lnB>
                      <a:noFill/>
                    </a:lnB>
                    <a:noFill/>
                  </a:tcPr>
                </a:tc>
                <a:tc>
                  <a:txBody>
                    <a:bodyPr/>
                    <a:lstStyle/>
                    <a:p>
                      <a:pPr>
                        <a:buNone/>
                      </a:pPr>
                      <a:r>
                        <a:rPr lang="en-US" b="1"/>
                        <a:t>Scaling Exponent (</a:t>
                      </a:r>
                      <a:r>
                        <a:rPr lang="el-GR" b="1"/>
                        <a:t>β)</a:t>
                      </a:r>
                    </a:p>
                  </a:txBody>
                  <a:tcPr anchor="ctr">
                    <a:lnL>
                      <a:noFill/>
                    </a:lnL>
                    <a:lnR>
                      <a:noFill/>
                    </a:lnR>
                    <a:lnT>
                      <a:noFill/>
                    </a:lnT>
                    <a:lnB>
                      <a:noFill/>
                    </a:lnB>
                    <a:noFill/>
                  </a:tcPr>
                </a:tc>
                <a:tc>
                  <a:txBody>
                    <a:bodyPr/>
                    <a:lstStyle/>
                    <a:p>
                      <a:pPr>
                        <a:buNone/>
                      </a:pPr>
                      <a:r>
                        <a:rPr lang="en-US" b="1" dirty="0"/>
                        <a:t>Why?</a:t>
                      </a:r>
                    </a:p>
                  </a:txBody>
                  <a:tcPr anchor="ctr">
                    <a:lnL>
                      <a:noFill/>
                    </a:lnL>
                    <a:lnR>
                      <a:noFill/>
                    </a:lnR>
                    <a:lnT>
                      <a:noFill/>
                    </a:lnT>
                    <a:lnB>
                      <a:noFill/>
                    </a:lnB>
                    <a:noFill/>
                  </a:tcPr>
                </a:tc>
                <a:extLst>
                  <a:ext uri="{0D108BD9-81ED-4DB2-BD59-A6C34878D82A}">
                    <a16:rowId xmlns:a16="http://schemas.microsoft.com/office/drawing/2014/main" val="3749185243"/>
                  </a:ext>
                </a:extLst>
              </a:tr>
              <a:tr h="0">
                <a:tc>
                  <a:txBody>
                    <a:bodyPr/>
                    <a:lstStyle/>
                    <a:p>
                      <a:pPr>
                        <a:buNone/>
                      </a:pPr>
                      <a:endParaRPr lang="en-US" b="0" dirty="0"/>
                    </a:p>
                    <a:p>
                      <a:pPr>
                        <a:buNone/>
                      </a:pPr>
                      <a:r>
                        <a:rPr lang="en-US" b="0" dirty="0"/>
                        <a:t>Knowledge, innovation, professional services</a:t>
                      </a:r>
                    </a:p>
                  </a:txBody>
                  <a:tcPr anchor="ctr">
                    <a:lnL>
                      <a:noFill/>
                    </a:lnL>
                    <a:lnR>
                      <a:noFill/>
                    </a:lnR>
                    <a:lnT>
                      <a:noFill/>
                    </a:lnT>
                    <a:lnB>
                      <a:noFill/>
                    </a:lnB>
                    <a:noFill/>
                  </a:tcPr>
                </a:tc>
                <a:tc>
                  <a:txBody>
                    <a:bodyPr/>
                    <a:lstStyle/>
                    <a:p>
                      <a:pPr>
                        <a:buNone/>
                      </a:pPr>
                      <a:r>
                        <a:rPr lang="en-US" b="0"/>
                        <a:t>Superlinear (1.1–1.3)</a:t>
                      </a:r>
                    </a:p>
                  </a:txBody>
                  <a:tcPr anchor="ctr">
                    <a:lnL>
                      <a:noFill/>
                    </a:lnL>
                    <a:lnR>
                      <a:noFill/>
                    </a:lnR>
                    <a:lnT>
                      <a:noFill/>
                    </a:lnT>
                    <a:lnB>
                      <a:noFill/>
                    </a:lnB>
                    <a:noFill/>
                  </a:tcPr>
                </a:tc>
                <a:tc>
                  <a:txBody>
                    <a:bodyPr/>
                    <a:lstStyle/>
                    <a:p>
                      <a:pPr>
                        <a:buNone/>
                      </a:pPr>
                      <a:r>
                        <a:rPr lang="en-US" b="0"/>
                        <a:t>Productivity from social interactions</a:t>
                      </a:r>
                    </a:p>
                  </a:txBody>
                  <a:tcPr anchor="ctr">
                    <a:lnL>
                      <a:noFill/>
                    </a:lnL>
                    <a:lnR>
                      <a:noFill/>
                    </a:lnR>
                    <a:lnT>
                      <a:noFill/>
                    </a:lnT>
                    <a:lnB>
                      <a:noFill/>
                    </a:lnB>
                    <a:noFill/>
                  </a:tcPr>
                </a:tc>
                <a:extLst>
                  <a:ext uri="{0D108BD9-81ED-4DB2-BD59-A6C34878D82A}">
                    <a16:rowId xmlns:a16="http://schemas.microsoft.com/office/drawing/2014/main" val="1546024324"/>
                  </a:ext>
                </a:extLst>
              </a:tr>
              <a:tr h="0">
                <a:tc>
                  <a:txBody>
                    <a:bodyPr/>
                    <a:lstStyle/>
                    <a:p>
                      <a:pPr>
                        <a:buNone/>
                      </a:pPr>
                      <a:endParaRPr lang="en-US" b="0" dirty="0"/>
                    </a:p>
                    <a:p>
                      <a:pPr>
                        <a:buNone/>
                      </a:pPr>
                      <a:r>
                        <a:rPr lang="en-US" b="0" dirty="0"/>
                        <a:t>Consumption-based retail &amp; restaurants</a:t>
                      </a:r>
                    </a:p>
                  </a:txBody>
                  <a:tcPr anchor="ctr">
                    <a:lnL>
                      <a:noFill/>
                    </a:lnL>
                    <a:lnR>
                      <a:noFill/>
                    </a:lnR>
                    <a:lnT>
                      <a:noFill/>
                    </a:lnT>
                    <a:lnB>
                      <a:noFill/>
                    </a:lnB>
                    <a:noFill/>
                  </a:tcPr>
                </a:tc>
                <a:tc>
                  <a:txBody>
                    <a:bodyPr/>
                    <a:lstStyle/>
                    <a:p>
                      <a:pPr>
                        <a:buNone/>
                      </a:pPr>
                      <a:r>
                        <a:rPr lang="en-US" b="0"/>
                        <a:t>Linear (~1.0)</a:t>
                      </a:r>
                    </a:p>
                  </a:txBody>
                  <a:tcPr anchor="ctr">
                    <a:lnL>
                      <a:noFill/>
                    </a:lnL>
                    <a:lnR>
                      <a:noFill/>
                    </a:lnR>
                    <a:lnT>
                      <a:noFill/>
                    </a:lnT>
                    <a:lnB>
                      <a:noFill/>
                    </a:lnB>
                    <a:noFill/>
                  </a:tcPr>
                </a:tc>
                <a:tc>
                  <a:txBody>
                    <a:bodyPr/>
                    <a:lstStyle/>
                    <a:p>
                      <a:pPr>
                        <a:buNone/>
                      </a:pPr>
                      <a:r>
                        <a:rPr lang="en-US" b="0"/>
                        <a:t>Proportional to population</a:t>
                      </a:r>
                    </a:p>
                  </a:txBody>
                  <a:tcPr anchor="ctr">
                    <a:lnL>
                      <a:noFill/>
                    </a:lnL>
                    <a:lnR>
                      <a:noFill/>
                    </a:lnR>
                    <a:lnT>
                      <a:noFill/>
                    </a:lnT>
                    <a:lnB>
                      <a:noFill/>
                    </a:lnB>
                    <a:noFill/>
                  </a:tcPr>
                </a:tc>
                <a:extLst>
                  <a:ext uri="{0D108BD9-81ED-4DB2-BD59-A6C34878D82A}">
                    <a16:rowId xmlns:a16="http://schemas.microsoft.com/office/drawing/2014/main" val="748066860"/>
                  </a:ext>
                </a:extLst>
              </a:tr>
              <a:tr h="0">
                <a:tc>
                  <a:txBody>
                    <a:bodyPr/>
                    <a:lstStyle/>
                    <a:p>
                      <a:pPr>
                        <a:buNone/>
                      </a:pPr>
                      <a:r>
                        <a:rPr lang="en-US" b="0" dirty="0"/>
                        <a:t>Infrastructure &amp; spatial industries</a:t>
                      </a:r>
                    </a:p>
                  </a:txBody>
                  <a:tcPr anchor="ctr">
                    <a:lnL>
                      <a:noFill/>
                    </a:lnL>
                    <a:lnR>
                      <a:noFill/>
                    </a:lnR>
                    <a:lnT>
                      <a:noFill/>
                    </a:lnT>
                    <a:lnB>
                      <a:noFill/>
                    </a:lnB>
                    <a:noFill/>
                  </a:tcPr>
                </a:tc>
                <a:tc>
                  <a:txBody>
                    <a:bodyPr/>
                    <a:lstStyle/>
                    <a:p>
                      <a:pPr>
                        <a:buNone/>
                      </a:pPr>
                      <a:r>
                        <a:rPr lang="en-US" b="0"/>
                        <a:t>Sublinear (0.8–0.95)</a:t>
                      </a:r>
                    </a:p>
                  </a:txBody>
                  <a:tcPr anchor="ctr">
                    <a:lnL>
                      <a:noFill/>
                    </a:lnL>
                    <a:lnR>
                      <a:noFill/>
                    </a:lnR>
                    <a:lnT>
                      <a:noFill/>
                    </a:lnT>
                    <a:lnB>
                      <a:noFill/>
                    </a:lnB>
                    <a:noFill/>
                  </a:tcPr>
                </a:tc>
                <a:tc>
                  <a:txBody>
                    <a:bodyPr/>
                    <a:lstStyle/>
                    <a:p>
                      <a:pPr>
                        <a:buNone/>
                      </a:pPr>
                      <a:r>
                        <a:rPr lang="en-US" b="0" dirty="0"/>
                        <a:t>Economies of scale, shared networks</a:t>
                      </a:r>
                    </a:p>
                  </a:txBody>
                  <a:tcPr anchor="ctr">
                    <a:lnL>
                      <a:noFill/>
                    </a:lnL>
                    <a:lnR>
                      <a:noFill/>
                    </a:lnR>
                    <a:lnT>
                      <a:noFill/>
                    </a:lnT>
                    <a:lnB>
                      <a:noFill/>
                    </a:lnB>
                    <a:noFill/>
                  </a:tcPr>
                </a:tc>
                <a:extLst>
                  <a:ext uri="{0D108BD9-81ED-4DB2-BD59-A6C34878D82A}">
                    <a16:rowId xmlns:a16="http://schemas.microsoft.com/office/drawing/2014/main" val="1336861901"/>
                  </a:ext>
                </a:extLst>
              </a:tr>
            </a:tbl>
          </a:graphicData>
        </a:graphic>
      </p:graphicFrame>
      <p:sp>
        <p:nvSpPr>
          <p:cNvPr id="4" name="Rectangle 1">
            <a:extLst>
              <a:ext uri="{FF2B5EF4-FFF2-40B4-BE49-F238E27FC236}">
                <a16:creationId xmlns:a16="http://schemas.microsoft.com/office/drawing/2014/main" id="{28728FF6-1CEE-3690-D6A1-DAEFD239CC8E}"/>
              </a:ext>
            </a:extLst>
          </p:cNvPr>
          <p:cNvSpPr>
            <a:spLocks noChangeArrowheads="1"/>
          </p:cNvSpPr>
          <p:nvPr/>
        </p:nvSpPr>
        <p:spPr bwMode="auto">
          <a:xfrm>
            <a:off x="1373458" y="1068647"/>
            <a:ext cx="403828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all" normalizeH="0" dirty="0">
                <a:ln>
                  <a:noFill/>
                </a:ln>
                <a:solidFill>
                  <a:srgbClr val="F56928"/>
                </a:solidFill>
                <a:effectLst/>
                <a:latin typeface="Oswald" panose="00000500000000000000" pitchFamily="2" charset="0"/>
              </a:rPr>
              <a:t>HOW DO FIRMS SCALE?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all" normalizeH="0" dirty="0">
              <a:ln>
                <a:noFill/>
              </a:ln>
              <a:solidFill>
                <a:srgbClr val="F56928"/>
              </a:solidFill>
              <a:effectLst/>
              <a:latin typeface="Oswald" panose="00000500000000000000" pitchFamily="2" charset="0"/>
            </a:endParaRPr>
          </a:p>
        </p:txBody>
      </p:sp>
    </p:spTree>
    <p:extLst>
      <p:ext uri="{BB962C8B-B14F-4D97-AF65-F5344CB8AC3E}">
        <p14:creationId xmlns:p14="http://schemas.microsoft.com/office/powerpoint/2010/main" val="22717101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C3E95C-7B78-FC40-65D2-E1E5C6B8F7BB}"/>
              </a:ext>
            </a:extLst>
          </p:cNvPr>
          <p:cNvSpPr>
            <a:spLocks noGrp="1"/>
          </p:cNvSpPr>
          <p:nvPr>
            <p:ph type="sldNum" sz="quarter" idx="12"/>
          </p:nvPr>
        </p:nvSpPr>
        <p:spPr/>
        <p:txBody>
          <a:bodyPr/>
          <a:lstStyle/>
          <a:p>
            <a:fld id="{F3963908-5577-44A4-91B0-79992FE49834}" type="slidenum">
              <a:rPr lang="en-US" smtClean="0"/>
              <a:t>39</a:t>
            </a:fld>
            <a:endParaRPr lang="en-US"/>
          </a:p>
        </p:txBody>
      </p:sp>
      <p:sp>
        <p:nvSpPr>
          <p:cNvPr id="4" name="TextBox 3">
            <a:extLst>
              <a:ext uri="{FF2B5EF4-FFF2-40B4-BE49-F238E27FC236}">
                <a16:creationId xmlns:a16="http://schemas.microsoft.com/office/drawing/2014/main" id="{E129E7C2-261A-B27F-6053-2DC1B4E6280D}"/>
              </a:ext>
            </a:extLst>
          </p:cNvPr>
          <p:cNvSpPr txBox="1"/>
          <p:nvPr/>
        </p:nvSpPr>
        <p:spPr>
          <a:xfrm>
            <a:off x="958969" y="197346"/>
            <a:ext cx="10394831" cy="6740307"/>
          </a:xfrm>
          <a:prstGeom prst="rect">
            <a:avLst/>
          </a:prstGeom>
          <a:noFill/>
        </p:spPr>
        <p:txBody>
          <a:bodyPr wrap="square">
            <a:spAutoFit/>
          </a:bodyPr>
          <a:lstStyle/>
          <a:p>
            <a:pPr>
              <a:buNone/>
            </a:pPr>
            <a:r>
              <a:rPr lang="en-US" b="1" dirty="0"/>
              <a:t>Sectors That Scale </a:t>
            </a:r>
            <a:r>
              <a:rPr lang="en-US" b="1" i="1" dirty="0" err="1"/>
              <a:t>Superlinearly</a:t>
            </a:r>
            <a:r>
              <a:rPr lang="en-US" b="1" dirty="0"/>
              <a:t> (β &gt; 1)</a:t>
            </a:r>
          </a:p>
          <a:p>
            <a:pPr>
              <a:buNone/>
            </a:pPr>
            <a:r>
              <a:rPr lang="en-US" dirty="0"/>
              <a:t>These are sectors that benefit from dense social interaction, knowledge spillovers, agglomeration economies, and diverse networks.</a:t>
            </a:r>
          </a:p>
          <a:p>
            <a:pPr>
              <a:buNone/>
            </a:pPr>
            <a:endParaRPr lang="en-US" dirty="0"/>
          </a:p>
          <a:p>
            <a:pPr>
              <a:buNone/>
            </a:pPr>
            <a:r>
              <a:rPr lang="en-US" b="1" dirty="0"/>
              <a:t>Innovation &amp; Knowledge Industries (β ≈ 1.1–1.3)</a:t>
            </a:r>
          </a:p>
          <a:p>
            <a:pPr>
              <a:buFont typeface="Arial" panose="020B0604020202020204" pitchFamily="34" charset="0"/>
              <a:buChar char="•"/>
            </a:pPr>
            <a:r>
              <a:rPr lang="en-US" dirty="0"/>
              <a:t>R&amp;D firms</a:t>
            </a:r>
          </a:p>
          <a:p>
            <a:pPr>
              <a:buFont typeface="Arial" panose="020B0604020202020204" pitchFamily="34" charset="0"/>
              <a:buChar char="•"/>
            </a:pPr>
            <a:r>
              <a:rPr lang="en-US" dirty="0"/>
              <a:t>Software companies</a:t>
            </a:r>
          </a:p>
          <a:p>
            <a:pPr>
              <a:buFont typeface="Arial" panose="020B0604020202020204" pitchFamily="34" charset="0"/>
              <a:buChar char="•"/>
            </a:pPr>
            <a:r>
              <a:rPr lang="en-US" dirty="0"/>
              <a:t>Biotechnology</a:t>
            </a:r>
          </a:p>
          <a:p>
            <a:pPr>
              <a:buFont typeface="Arial" panose="020B0604020202020204" pitchFamily="34" charset="0"/>
              <a:buChar char="•"/>
            </a:pPr>
            <a:r>
              <a:rPr lang="en-US" dirty="0"/>
              <a:t>Semiconductors</a:t>
            </a:r>
          </a:p>
          <a:p>
            <a:pPr>
              <a:buFont typeface="Arial" panose="020B0604020202020204" pitchFamily="34" charset="0"/>
              <a:buChar char="•"/>
            </a:pPr>
            <a:r>
              <a:rPr lang="en-US" dirty="0"/>
              <a:t>Scientific services</a:t>
            </a:r>
          </a:p>
          <a:p>
            <a:pPr>
              <a:buFont typeface="Arial" panose="020B0604020202020204" pitchFamily="34" charset="0"/>
              <a:buChar char="•"/>
            </a:pPr>
            <a:r>
              <a:rPr lang="en-US" dirty="0"/>
              <a:t>Engineering consulting</a:t>
            </a:r>
          </a:p>
          <a:p>
            <a:pPr>
              <a:buFont typeface="Arial" panose="020B0604020202020204" pitchFamily="34" charset="0"/>
              <a:buChar char="•"/>
            </a:pPr>
            <a:r>
              <a:rPr lang="en-US" dirty="0"/>
              <a:t>Architecture &amp; design firms</a:t>
            </a:r>
          </a:p>
          <a:p>
            <a:pPr>
              <a:buFont typeface="Arial" panose="020B0604020202020204" pitchFamily="34" charset="0"/>
              <a:buChar char="•"/>
            </a:pPr>
            <a:r>
              <a:rPr lang="en-US" dirty="0"/>
              <a:t>Creative industries (film, music, arts)</a:t>
            </a:r>
          </a:p>
          <a:p>
            <a:pPr>
              <a:buFont typeface="Arial" panose="020B0604020202020204" pitchFamily="34" charset="0"/>
              <a:buChar char="•"/>
            </a:pPr>
            <a:r>
              <a:rPr lang="en-US" dirty="0"/>
              <a:t>Professional services (legal, finance, advertising)</a:t>
            </a:r>
          </a:p>
          <a:p>
            <a:pPr>
              <a:buFont typeface="Arial" panose="020B0604020202020204" pitchFamily="34" charset="0"/>
              <a:buChar char="•"/>
            </a:pPr>
            <a:endParaRPr lang="en-US" dirty="0"/>
          </a:p>
          <a:p>
            <a:pPr>
              <a:buNone/>
            </a:pPr>
            <a:r>
              <a:rPr lang="en-US" b="1" dirty="0"/>
              <a:t>Why </a:t>
            </a:r>
            <a:r>
              <a:rPr lang="en-US" b="1" dirty="0" err="1"/>
              <a:t>superlinear</a:t>
            </a:r>
            <a:r>
              <a:rPr lang="en-US" b="1" dirty="0"/>
              <a:t>?</a:t>
            </a:r>
            <a:br>
              <a:rPr lang="en-US" dirty="0"/>
            </a:br>
            <a:r>
              <a:rPr lang="en-US" dirty="0"/>
              <a:t>These sectors depend on </a:t>
            </a:r>
            <a:r>
              <a:rPr lang="en-US" b="1" dirty="0"/>
              <a:t>idea recombination</a:t>
            </a:r>
            <a:r>
              <a:rPr lang="en-US" dirty="0"/>
              <a:t>, talent pooling, and frequent face-to-face interactions—all of which accelerate with population.</a:t>
            </a:r>
          </a:p>
          <a:p>
            <a:pPr>
              <a:buNone/>
            </a:pPr>
            <a:endParaRPr lang="en-US" dirty="0"/>
          </a:p>
          <a:p>
            <a:pPr>
              <a:buNone/>
            </a:pPr>
            <a:r>
              <a:rPr lang="en-US" b="1" dirty="0"/>
              <a:t>Examples (empirical β values):</a:t>
            </a:r>
          </a:p>
          <a:p>
            <a:pPr>
              <a:buFont typeface="Arial" panose="020B0604020202020204" pitchFamily="34" charset="0"/>
              <a:buChar char="•"/>
            </a:pPr>
            <a:r>
              <a:rPr lang="en-US" dirty="0"/>
              <a:t>R&amp;D establishments: </a:t>
            </a:r>
            <a:r>
              <a:rPr lang="en-US" b="1" dirty="0"/>
              <a:t>β ≈ 1.25</a:t>
            </a:r>
            <a:endParaRPr lang="en-US" dirty="0"/>
          </a:p>
          <a:p>
            <a:pPr>
              <a:buFont typeface="Arial" panose="020B0604020202020204" pitchFamily="34" charset="0"/>
              <a:buChar char="•"/>
            </a:pPr>
            <a:r>
              <a:rPr lang="en-US" dirty="0"/>
              <a:t>High-tech firms: </a:t>
            </a:r>
            <a:r>
              <a:rPr lang="en-US" b="1" dirty="0"/>
              <a:t>β ≈ 1.20</a:t>
            </a:r>
            <a:endParaRPr lang="en-US" dirty="0"/>
          </a:p>
          <a:p>
            <a:pPr>
              <a:buFont typeface="Arial" panose="020B0604020202020204" pitchFamily="34" charset="0"/>
              <a:buChar char="•"/>
            </a:pPr>
            <a:r>
              <a:rPr lang="en-US" dirty="0"/>
              <a:t>Creative industries: </a:t>
            </a:r>
            <a:r>
              <a:rPr lang="en-US" b="1" dirty="0"/>
              <a:t>β ≈ 1.15–1.20</a:t>
            </a:r>
            <a:endParaRPr lang="en-US" dirty="0"/>
          </a:p>
          <a:p>
            <a:pPr>
              <a:buFont typeface="Arial" panose="020B0604020202020204" pitchFamily="34" charset="0"/>
              <a:buChar char="•"/>
            </a:pPr>
            <a:r>
              <a:rPr lang="en-US" dirty="0"/>
              <a:t>Finance/insurance: </a:t>
            </a:r>
            <a:r>
              <a:rPr lang="en-US" b="1" dirty="0"/>
              <a:t>β ≈ 1.10–1.15</a:t>
            </a:r>
            <a:endParaRPr lang="en-US" dirty="0"/>
          </a:p>
        </p:txBody>
      </p:sp>
    </p:spTree>
    <p:extLst>
      <p:ext uri="{BB962C8B-B14F-4D97-AF65-F5344CB8AC3E}">
        <p14:creationId xmlns:p14="http://schemas.microsoft.com/office/powerpoint/2010/main" val="3556069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ACBC7-76FC-F8E9-20E0-CA815313DA20}"/>
              </a:ext>
            </a:extLst>
          </p:cNvPr>
          <p:cNvSpPr>
            <a:spLocks noGrp="1"/>
          </p:cNvSpPr>
          <p:nvPr>
            <p:ph type="sldNum" sz="quarter" idx="12"/>
          </p:nvPr>
        </p:nvSpPr>
        <p:spPr/>
        <p:txBody>
          <a:bodyPr/>
          <a:lstStyle/>
          <a:p>
            <a:fld id="{F3963908-5577-44A4-91B0-79992FE49834}" type="slidenum">
              <a:rPr lang="en-US" smtClean="0"/>
              <a:t>40</a:t>
            </a:fld>
            <a:endParaRPr lang="en-US"/>
          </a:p>
        </p:txBody>
      </p:sp>
      <p:sp>
        <p:nvSpPr>
          <p:cNvPr id="4" name="TextBox 3">
            <a:extLst>
              <a:ext uri="{FF2B5EF4-FFF2-40B4-BE49-F238E27FC236}">
                <a16:creationId xmlns:a16="http://schemas.microsoft.com/office/drawing/2014/main" id="{1D486592-3B34-DDE7-336B-DAFA353CA34D}"/>
              </a:ext>
            </a:extLst>
          </p:cNvPr>
          <p:cNvSpPr txBox="1"/>
          <p:nvPr/>
        </p:nvSpPr>
        <p:spPr>
          <a:xfrm>
            <a:off x="1140843" y="233283"/>
            <a:ext cx="6094562" cy="6463308"/>
          </a:xfrm>
          <a:prstGeom prst="rect">
            <a:avLst/>
          </a:prstGeom>
          <a:noFill/>
        </p:spPr>
        <p:txBody>
          <a:bodyPr wrap="square">
            <a:spAutoFit/>
          </a:bodyPr>
          <a:lstStyle/>
          <a:p>
            <a:pPr>
              <a:buNone/>
            </a:pPr>
            <a:r>
              <a:rPr lang="en-US" b="1" dirty="0"/>
              <a:t>Sectors That Scale </a:t>
            </a:r>
            <a:r>
              <a:rPr lang="en-US" b="1" i="1" dirty="0" err="1"/>
              <a:t>Sublinearly</a:t>
            </a:r>
            <a:r>
              <a:rPr lang="en-US" b="1" dirty="0"/>
              <a:t> (β &lt; 1)</a:t>
            </a:r>
          </a:p>
          <a:p>
            <a:pPr>
              <a:buNone/>
            </a:pPr>
            <a:r>
              <a:rPr lang="en-US" dirty="0"/>
              <a:t>These industries rely heavily on </a:t>
            </a:r>
            <a:r>
              <a:rPr lang="en-US" b="1" dirty="0"/>
              <a:t>land</a:t>
            </a:r>
            <a:r>
              <a:rPr lang="en-US" dirty="0"/>
              <a:t>, </a:t>
            </a:r>
            <a:r>
              <a:rPr lang="en-US" b="1" dirty="0"/>
              <a:t>transport networks</a:t>
            </a:r>
            <a:r>
              <a:rPr lang="en-US" dirty="0"/>
              <a:t>, or </a:t>
            </a:r>
            <a:r>
              <a:rPr lang="en-US" b="1" dirty="0"/>
              <a:t>energy</a:t>
            </a:r>
            <a:r>
              <a:rPr lang="en-US" dirty="0"/>
              <a:t>, where large cities share infrastructure efficiently or reduce relative demand.</a:t>
            </a:r>
          </a:p>
          <a:p>
            <a:pPr>
              <a:buNone/>
            </a:pPr>
            <a:endParaRPr lang="en-US" dirty="0"/>
          </a:p>
          <a:p>
            <a:pPr>
              <a:buNone/>
            </a:pPr>
            <a:r>
              <a:rPr lang="en-US" b="1" dirty="0"/>
              <a:t>Infrastructure &amp; Utility-Intensive Sectors (β ≈ 0.8–0.95)</a:t>
            </a:r>
          </a:p>
          <a:p>
            <a:pPr>
              <a:buFont typeface="Arial" panose="020B0604020202020204" pitchFamily="34" charset="0"/>
              <a:buChar char="•"/>
            </a:pPr>
            <a:r>
              <a:rPr lang="en-US" dirty="0"/>
              <a:t>Warehouses</a:t>
            </a:r>
          </a:p>
          <a:p>
            <a:pPr>
              <a:buFont typeface="Arial" panose="020B0604020202020204" pitchFamily="34" charset="0"/>
              <a:buChar char="•"/>
            </a:pPr>
            <a:r>
              <a:rPr lang="en-US" dirty="0"/>
              <a:t>Logistics hubs</a:t>
            </a:r>
          </a:p>
          <a:p>
            <a:pPr>
              <a:buFont typeface="Arial" panose="020B0604020202020204" pitchFamily="34" charset="0"/>
              <a:buChar char="•"/>
            </a:pPr>
            <a:r>
              <a:rPr lang="en-US" dirty="0"/>
              <a:t>Manufacturing plants</a:t>
            </a:r>
          </a:p>
          <a:p>
            <a:pPr>
              <a:buFont typeface="Arial" panose="020B0604020202020204" pitchFamily="34" charset="0"/>
              <a:buChar char="•"/>
            </a:pPr>
            <a:r>
              <a:rPr lang="en-US" dirty="0"/>
              <a:t>Construction supply firms</a:t>
            </a:r>
          </a:p>
          <a:p>
            <a:pPr>
              <a:buFont typeface="Arial" panose="020B0604020202020204" pitchFamily="34" charset="0"/>
              <a:buChar char="•"/>
            </a:pPr>
            <a:r>
              <a:rPr lang="en-US" dirty="0"/>
              <a:t>Gas stations</a:t>
            </a:r>
          </a:p>
          <a:p>
            <a:pPr>
              <a:buFont typeface="Arial" panose="020B0604020202020204" pitchFamily="34" charset="0"/>
              <a:buChar char="•"/>
            </a:pPr>
            <a:r>
              <a:rPr lang="en-US" dirty="0"/>
              <a:t>Utilities (water, waste, power)</a:t>
            </a:r>
          </a:p>
          <a:p>
            <a:pPr>
              <a:buFont typeface="Arial" panose="020B0604020202020204" pitchFamily="34" charset="0"/>
              <a:buChar char="•"/>
            </a:pPr>
            <a:r>
              <a:rPr lang="en-US" dirty="0"/>
              <a:t>Mining, extraction, primary industries</a:t>
            </a:r>
          </a:p>
          <a:p>
            <a:pPr>
              <a:buFont typeface="Arial" panose="020B0604020202020204" pitchFamily="34" charset="0"/>
              <a:buChar char="•"/>
            </a:pPr>
            <a:endParaRPr lang="en-US" dirty="0"/>
          </a:p>
          <a:p>
            <a:pPr>
              <a:buNone/>
            </a:pPr>
            <a:r>
              <a:rPr lang="en-US" b="1" dirty="0"/>
              <a:t>Why sublinear?</a:t>
            </a:r>
            <a:br>
              <a:rPr lang="en-US" dirty="0"/>
            </a:br>
            <a:r>
              <a:rPr lang="en-US" dirty="0"/>
              <a:t>Bigger cities use infrastructure more efficiently and centralize activity, so you need </a:t>
            </a:r>
            <a:r>
              <a:rPr lang="en-US" b="1" dirty="0"/>
              <a:t>fewer establishments per capita</a:t>
            </a:r>
            <a:r>
              <a:rPr lang="en-US" dirty="0"/>
              <a:t>.</a:t>
            </a:r>
          </a:p>
          <a:p>
            <a:pPr>
              <a:buNone/>
            </a:pPr>
            <a:endParaRPr lang="en-US" dirty="0"/>
          </a:p>
          <a:p>
            <a:pPr>
              <a:buNone/>
            </a:pPr>
            <a:r>
              <a:rPr lang="en-US" b="1" dirty="0"/>
              <a:t>Examples (empirical β values):</a:t>
            </a:r>
          </a:p>
          <a:p>
            <a:pPr>
              <a:buFont typeface="Arial" panose="020B0604020202020204" pitchFamily="34" charset="0"/>
              <a:buChar char="•"/>
            </a:pPr>
            <a:r>
              <a:rPr lang="en-US" dirty="0"/>
              <a:t>Gas stations: </a:t>
            </a:r>
            <a:r>
              <a:rPr lang="en-US" b="1" dirty="0"/>
              <a:t>β ≈ 0.85</a:t>
            </a:r>
            <a:endParaRPr lang="en-US" dirty="0"/>
          </a:p>
          <a:p>
            <a:pPr>
              <a:buFont typeface="Arial" panose="020B0604020202020204" pitchFamily="34" charset="0"/>
              <a:buChar char="•"/>
            </a:pPr>
            <a:r>
              <a:rPr lang="en-US" dirty="0"/>
              <a:t>Manufacturing establishments: </a:t>
            </a:r>
            <a:r>
              <a:rPr lang="en-US" b="1" dirty="0"/>
              <a:t>β ≈ 0.92</a:t>
            </a:r>
            <a:endParaRPr lang="en-US" dirty="0"/>
          </a:p>
          <a:p>
            <a:pPr>
              <a:buFont typeface="Arial" panose="020B0604020202020204" pitchFamily="34" charset="0"/>
              <a:buChar char="•"/>
            </a:pPr>
            <a:r>
              <a:rPr lang="en-US" dirty="0"/>
              <a:t>Warehouses: </a:t>
            </a:r>
            <a:r>
              <a:rPr lang="en-US" b="1" dirty="0"/>
              <a:t>β ≈ 0.90</a:t>
            </a:r>
            <a:endParaRPr lang="en-US" dirty="0"/>
          </a:p>
          <a:p>
            <a:pPr>
              <a:buFont typeface="Arial" panose="020B0604020202020204" pitchFamily="34" charset="0"/>
              <a:buChar char="•"/>
            </a:pPr>
            <a:r>
              <a:rPr lang="en-US" dirty="0"/>
              <a:t>Electric/water utilities: </a:t>
            </a:r>
            <a:r>
              <a:rPr lang="en-US" b="1" dirty="0"/>
              <a:t>β ≈ 0.85</a:t>
            </a:r>
            <a:endParaRPr lang="en-US" dirty="0"/>
          </a:p>
        </p:txBody>
      </p:sp>
    </p:spTree>
    <p:extLst>
      <p:ext uri="{BB962C8B-B14F-4D97-AF65-F5344CB8AC3E}">
        <p14:creationId xmlns:p14="http://schemas.microsoft.com/office/powerpoint/2010/main" val="1219321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462BED-D260-08F0-FE43-5957D4F0F84A}"/>
              </a:ext>
            </a:extLst>
          </p:cNvPr>
          <p:cNvSpPr>
            <a:spLocks noGrp="1"/>
          </p:cNvSpPr>
          <p:nvPr>
            <p:ph type="sldNum" sz="quarter" idx="12"/>
          </p:nvPr>
        </p:nvSpPr>
        <p:spPr/>
        <p:txBody>
          <a:bodyPr/>
          <a:lstStyle/>
          <a:p>
            <a:fld id="{F3963908-5577-44A4-91B0-79992FE49834}" type="slidenum">
              <a:rPr lang="en-US" smtClean="0"/>
              <a:t>41</a:t>
            </a:fld>
            <a:endParaRPr lang="en-US"/>
          </a:p>
        </p:txBody>
      </p:sp>
      <p:sp>
        <p:nvSpPr>
          <p:cNvPr id="4" name="TextBox 3">
            <a:extLst>
              <a:ext uri="{FF2B5EF4-FFF2-40B4-BE49-F238E27FC236}">
                <a16:creationId xmlns:a16="http://schemas.microsoft.com/office/drawing/2014/main" id="{CCC24453-A388-1E2C-D75A-0259FD9B1422}"/>
              </a:ext>
            </a:extLst>
          </p:cNvPr>
          <p:cNvSpPr txBox="1"/>
          <p:nvPr/>
        </p:nvSpPr>
        <p:spPr>
          <a:xfrm>
            <a:off x="1580791" y="1046550"/>
            <a:ext cx="6094562" cy="5078313"/>
          </a:xfrm>
          <a:prstGeom prst="rect">
            <a:avLst/>
          </a:prstGeom>
          <a:noFill/>
        </p:spPr>
        <p:txBody>
          <a:bodyPr wrap="square">
            <a:spAutoFit/>
          </a:bodyPr>
          <a:lstStyle/>
          <a:p>
            <a:pPr>
              <a:buNone/>
            </a:pPr>
            <a:r>
              <a:rPr lang="en-US" b="1" dirty="0"/>
              <a:t>Sectors That Scale </a:t>
            </a:r>
            <a:r>
              <a:rPr lang="en-US" b="1" i="1" dirty="0"/>
              <a:t>Linearly</a:t>
            </a:r>
            <a:r>
              <a:rPr lang="en-US" b="1" dirty="0"/>
              <a:t> (β ≈ 1.0)</a:t>
            </a:r>
          </a:p>
          <a:p>
            <a:pPr>
              <a:buNone/>
            </a:pPr>
            <a:r>
              <a:rPr lang="en-US" dirty="0"/>
              <a:t>These depend on </a:t>
            </a:r>
            <a:r>
              <a:rPr lang="en-US" b="1" dirty="0"/>
              <a:t>per-capita consumption</a:t>
            </a:r>
            <a:r>
              <a:rPr lang="en-US" dirty="0"/>
              <a:t> and basic household demand rather than network effects.</a:t>
            </a:r>
          </a:p>
          <a:p>
            <a:pPr>
              <a:buNone/>
            </a:pPr>
            <a:endParaRPr lang="en-US" dirty="0"/>
          </a:p>
          <a:p>
            <a:pPr>
              <a:buNone/>
            </a:pPr>
            <a:r>
              <a:rPr lang="en-US" b="1" dirty="0"/>
              <a:t>Consumption Services (β ≈ 1.0)</a:t>
            </a:r>
          </a:p>
          <a:p>
            <a:pPr>
              <a:buFont typeface="Arial" panose="020B0604020202020204" pitchFamily="34" charset="0"/>
              <a:buChar char="•"/>
            </a:pPr>
            <a:r>
              <a:rPr lang="en-US" dirty="0"/>
              <a:t>Restaurants</a:t>
            </a:r>
          </a:p>
          <a:p>
            <a:pPr>
              <a:buFont typeface="Arial" panose="020B0604020202020204" pitchFamily="34" charset="0"/>
              <a:buChar char="•"/>
            </a:pPr>
            <a:r>
              <a:rPr lang="en-US" dirty="0"/>
              <a:t>Cafes, bars (sometimes slightly &gt; 1 due to nightlife)</a:t>
            </a:r>
          </a:p>
          <a:p>
            <a:pPr>
              <a:buFont typeface="Arial" panose="020B0604020202020204" pitchFamily="34" charset="0"/>
              <a:buChar char="•"/>
            </a:pPr>
            <a:r>
              <a:rPr lang="en-US" dirty="0"/>
              <a:t>Grocery stores</a:t>
            </a:r>
          </a:p>
          <a:p>
            <a:pPr>
              <a:buFont typeface="Arial" panose="020B0604020202020204" pitchFamily="34" charset="0"/>
              <a:buChar char="•"/>
            </a:pPr>
            <a:r>
              <a:rPr lang="en-US" dirty="0"/>
              <a:t>Pharmacies</a:t>
            </a:r>
          </a:p>
          <a:p>
            <a:pPr>
              <a:buFont typeface="Arial" panose="020B0604020202020204" pitchFamily="34" charset="0"/>
              <a:buChar char="•"/>
            </a:pPr>
            <a:r>
              <a:rPr lang="en-US" dirty="0"/>
              <a:t>Big-box retail</a:t>
            </a:r>
          </a:p>
          <a:p>
            <a:pPr>
              <a:buFont typeface="Arial" panose="020B0604020202020204" pitchFamily="34" charset="0"/>
              <a:buChar char="•"/>
            </a:pPr>
            <a:r>
              <a:rPr lang="en-US" dirty="0"/>
              <a:t>Personal services (salons, laundromats)</a:t>
            </a:r>
          </a:p>
          <a:p>
            <a:pPr>
              <a:buFont typeface="Arial" panose="020B0604020202020204" pitchFamily="34" charset="0"/>
              <a:buChar char="•"/>
            </a:pPr>
            <a:endParaRPr lang="en-US" dirty="0"/>
          </a:p>
          <a:p>
            <a:pPr>
              <a:buNone/>
            </a:pPr>
            <a:r>
              <a:rPr lang="en-US" dirty="0"/>
              <a:t>Restaurants scale </a:t>
            </a:r>
            <a:r>
              <a:rPr lang="en-US" b="1" dirty="0"/>
              <a:t>almost exactly linearly</a:t>
            </a:r>
            <a:r>
              <a:rPr lang="en-US" dirty="0"/>
              <a:t> because each person eats roughly the same amount regardless of city size.</a:t>
            </a:r>
          </a:p>
          <a:p>
            <a:pPr>
              <a:buNone/>
            </a:pPr>
            <a:endParaRPr lang="en-US" dirty="0"/>
          </a:p>
          <a:p>
            <a:pPr>
              <a:buNone/>
            </a:pPr>
            <a:r>
              <a:rPr lang="en-US" b="1" dirty="0"/>
              <a:t>Why linear?</a:t>
            </a:r>
          </a:p>
          <a:p>
            <a:pPr>
              <a:buNone/>
            </a:pPr>
            <a:r>
              <a:rPr lang="en-US" dirty="0"/>
              <a:t>These businesses serve </a:t>
            </a:r>
            <a:r>
              <a:rPr lang="en-US" b="1" dirty="0"/>
              <a:t>individual needs</a:t>
            </a:r>
            <a:r>
              <a:rPr lang="en-US" dirty="0"/>
              <a:t>, not social interaction networks.</a:t>
            </a:r>
          </a:p>
        </p:txBody>
      </p:sp>
    </p:spTree>
    <p:extLst>
      <p:ext uri="{BB962C8B-B14F-4D97-AF65-F5344CB8AC3E}">
        <p14:creationId xmlns:p14="http://schemas.microsoft.com/office/powerpoint/2010/main" val="7244906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DEA594-3BB9-443B-2717-22AE62C03A4C}"/>
              </a:ext>
            </a:extLst>
          </p:cNvPr>
          <p:cNvSpPr>
            <a:spLocks noGrp="1"/>
          </p:cNvSpPr>
          <p:nvPr>
            <p:ph type="sldNum" sz="quarter" idx="12"/>
          </p:nvPr>
        </p:nvSpPr>
        <p:spPr/>
        <p:txBody>
          <a:bodyPr/>
          <a:lstStyle/>
          <a:p>
            <a:fld id="{F3963908-5577-44A4-91B0-79992FE49834}" type="slidenum">
              <a:rPr lang="en-US" smtClean="0"/>
              <a:t>42</a:t>
            </a:fld>
            <a:endParaRPr lang="en-US"/>
          </a:p>
        </p:txBody>
      </p:sp>
      <p:pic>
        <p:nvPicPr>
          <p:cNvPr id="4" name="Picture 3">
            <a:extLst>
              <a:ext uri="{FF2B5EF4-FFF2-40B4-BE49-F238E27FC236}">
                <a16:creationId xmlns:a16="http://schemas.microsoft.com/office/drawing/2014/main" id="{454E2CE7-629D-C0A5-CFC1-CF263712C55B}"/>
              </a:ext>
            </a:extLst>
          </p:cNvPr>
          <p:cNvPicPr>
            <a:picLocks noChangeAspect="1"/>
          </p:cNvPicPr>
          <p:nvPr/>
        </p:nvPicPr>
        <p:blipFill>
          <a:blip r:embed="rId2"/>
          <a:stretch>
            <a:fillRect/>
          </a:stretch>
        </p:blipFill>
        <p:spPr>
          <a:xfrm>
            <a:off x="400050" y="590550"/>
            <a:ext cx="11391900" cy="5676900"/>
          </a:xfrm>
          <a:prstGeom prst="rect">
            <a:avLst/>
          </a:prstGeom>
        </p:spPr>
      </p:pic>
    </p:spTree>
    <p:extLst>
      <p:ext uri="{BB962C8B-B14F-4D97-AF65-F5344CB8AC3E}">
        <p14:creationId xmlns:p14="http://schemas.microsoft.com/office/powerpoint/2010/main" val="3935110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97CDDB-934C-5F79-E2B9-BC902C648E87}"/>
              </a:ext>
            </a:extLst>
          </p:cNvPr>
          <p:cNvPicPr>
            <a:picLocks noChangeAspect="1"/>
          </p:cNvPicPr>
          <p:nvPr/>
        </p:nvPicPr>
        <p:blipFill>
          <a:blip r:embed="rId2"/>
          <a:stretch>
            <a:fillRect/>
          </a:stretch>
        </p:blipFill>
        <p:spPr>
          <a:xfrm>
            <a:off x="1185862" y="233362"/>
            <a:ext cx="9820275" cy="6391275"/>
          </a:xfrm>
          <a:prstGeom prst="rect">
            <a:avLst/>
          </a:prstGeom>
        </p:spPr>
      </p:pic>
      <p:sp>
        <p:nvSpPr>
          <p:cNvPr id="2" name="Slide Number Placeholder 1">
            <a:extLst>
              <a:ext uri="{FF2B5EF4-FFF2-40B4-BE49-F238E27FC236}">
                <a16:creationId xmlns:a16="http://schemas.microsoft.com/office/drawing/2014/main" id="{9D139158-E0B1-FAE4-7BD5-251D3E658C08}"/>
              </a:ext>
            </a:extLst>
          </p:cNvPr>
          <p:cNvSpPr>
            <a:spLocks noGrp="1"/>
          </p:cNvSpPr>
          <p:nvPr>
            <p:ph type="sldNum" sz="quarter" idx="12"/>
          </p:nvPr>
        </p:nvSpPr>
        <p:spPr/>
        <p:txBody>
          <a:bodyPr/>
          <a:lstStyle/>
          <a:p>
            <a:fld id="{F3963908-5577-44A4-91B0-79992FE49834}" type="slidenum">
              <a:rPr lang="en-US" smtClean="0"/>
              <a:t>43</a:t>
            </a:fld>
            <a:endParaRPr lang="en-US"/>
          </a:p>
        </p:txBody>
      </p:sp>
      <p:sp>
        <p:nvSpPr>
          <p:cNvPr id="3" name="TextBox 2">
            <a:extLst>
              <a:ext uri="{FF2B5EF4-FFF2-40B4-BE49-F238E27FC236}">
                <a16:creationId xmlns:a16="http://schemas.microsoft.com/office/drawing/2014/main" id="{45A2F930-D661-3163-46D4-70658847D33E}"/>
              </a:ext>
            </a:extLst>
          </p:cNvPr>
          <p:cNvSpPr txBox="1"/>
          <p:nvPr/>
        </p:nvSpPr>
        <p:spPr>
          <a:xfrm>
            <a:off x="7107604" y="560718"/>
            <a:ext cx="2714910" cy="369332"/>
          </a:xfrm>
          <a:prstGeom prst="rect">
            <a:avLst/>
          </a:prstGeom>
          <a:noFill/>
        </p:spPr>
        <p:txBody>
          <a:bodyPr wrap="none" rtlCol="0">
            <a:spAutoFit/>
          </a:bodyPr>
          <a:lstStyle/>
          <a:p>
            <a:r>
              <a:rPr lang="en-US" dirty="0">
                <a:solidFill>
                  <a:srgbClr val="FF0000"/>
                </a:solidFill>
              </a:rPr>
              <a:t>BEST WAY TO NORMALIZE?</a:t>
            </a:r>
          </a:p>
        </p:txBody>
      </p:sp>
    </p:spTree>
    <p:extLst>
      <p:ext uri="{BB962C8B-B14F-4D97-AF65-F5344CB8AC3E}">
        <p14:creationId xmlns:p14="http://schemas.microsoft.com/office/powerpoint/2010/main" val="2683655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8C45E8-5757-5BF0-AB78-A9A624502F2A}"/>
              </a:ext>
            </a:extLst>
          </p:cNvPr>
          <p:cNvSpPr>
            <a:spLocks noGrp="1"/>
          </p:cNvSpPr>
          <p:nvPr>
            <p:ph type="sldNum" sz="quarter" idx="12"/>
          </p:nvPr>
        </p:nvSpPr>
        <p:spPr/>
        <p:txBody>
          <a:bodyPr/>
          <a:lstStyle/>
          <a:p>
            <a:fld id="{F3963908-5577-44A4-91B0-79992FE49834}" type="slidenum">
              <a:rPr lang="en-US" smtClean="0"/>
              <a:t>44</a:t>
            </a:fld>
            <a:endParaRPr lang="en-US"/>
          </a:p>
        </p:txBody>
      </p:sp>
    </p:spTree>
    <p:extLst>
      <p:ext uri="{BB962C8B-B14F-4D97-AF65-F5344CB8AC3E}">
        <p14:creationId xmlns:p14="http://schemas.microsoft.com/office/powerpoint/2010/main" val="9393542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7308EC-A906-E951-84C6-179BDDAB9463}"/>
              </a:ext>
            </a:extLst>
          </p:cNvPr>
          <p:cNvSpPr>
            <a:spLocks noGrp="1"/>
          </p:cNvSpPr>
          <p:nvPr>
            <p:ph type="sldNum" sz="quarter" idx="12"/>
          </p:nvPr>
        </p:nvSpPr>
        <p:spPr/>
        <p:txBody>
          <a:bodyPr/>
          <a:lstStyle/>
          <a:p>
            <a:fld id="{F3963908-5577-44A4-91B0-79992FE49834}" type="slidenum">
              <a:rPr lang="en-US" smtClean="0"/>
              <a:t>45</a:t>
            </a:fld>
            <a:endParaRPr lang="en-US"/>
          </a:p>
        </p:txBody>
      </p:sp>
    </p:spTree>
    <p:extLst>
      <p:ext uri="{BB962C8B-B14F-4D97-AF65-F5344CB8AC3E}">
        <p14:creationId xmlns:p14="http://schemas.microsoft.com/office/powerpoint/2010/main" val="3254572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1A6B-0DE7-48B3-A7F5-ECD2E6F69A95}"/>
              </a:ext>
            </a:extLst>
          </p:cNvPr>
          <p:cNvSpPr>
            <a:spLocks noGrp="1"/>
          </p:cNvSpPr>
          <p:nvPr>
            <p:ph type="title"/>
          </p:nvPr>
        </p:nvSpPr>
        <p:spPr/>
        <p:txBody>
          <a:bodyPr>
            <a:normAutofit/>
          </a:bodyPr>
          <a:lstStyle/>
          <a:p>
            <a:r>
              <a:rPr lang="en-US" sz="4800" dirty="0">
                <a:solidFill>
                  <a:schemeClr val="bg1"/>
                </a:solidFill>
              </a:rPr>
              <a:t>Market Competition Metrics </a:t>
            </a:r>
            <a:br>
              <a:rPr lang="en-US" sz="4800" dirty="0">
                <a:solidFill>
                  <a:schemeClr val="bg1"/>
                </a:solidFill>
              </a:rPr>
            </a:br>
            <a:r>
              <a:rPr lang="en-US" sz="4800" dirty="0">
                <a:solidFill>
                  <a:schemeClr val="bg1"/>
                </a:solidFill>
              </a:rPr>
              <a:t>Market = MSA + NTEE</a:t>
            </a:r>
          </a:p>
        </p:txBody>
      </p:sp>
      <p:sp>
        <p:nvSpPr>
          <p:cNvPr id="3" name="Text Placeholder 2">
            <a:extLst>
              <a:ext uri="{FF2B5EF4-FFF2-40B4-BE49-F238E27FC236}">
                <a16:creationId xmlns:a16="http://schemas.microsoft.com/office/drawing/2014/main" id="{C96E8882-3CD5-4EC8-AD5F-029FCAB81D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802457-4DA9-42D6-913D-EFB130917A6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8A6847-FF54-4997-9E64-663FA8B5A75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07441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BB87-952A-4BA7-9E71-B542B44D4A98}"/>
              </a:ext>
            </a:extLst>
          </p:cNvPr>
          <p:cNvSpPr>
            <a:spLocks noGrp="1"/>
          </p:cNvSpPr>
          <p:nvPr>
            <p:ph type="title"/>
          </p:nvPr>
        </p:nvSpPr>
        <p:spPr>
          <a:xfrm>
            <a:off x="838200" y="0"/>
            <a:ext cx="10515600" cy="1325563"/>
          </a:xfrm>
        </p:spPr>
        <p:txBody>
          <a:bodyPr/>
          <a:lstStyle/>
          <a:p>
            <a:r>
              <a:rPr lang="en-US" dirty="0"/>
              <a:t>Market Competition Metrics</a:t>
            </a:r>
          </a:p>
        </p:txBody>
      </p:sp>
      <p:sp>
        <p:nvSpPr>
          <p:cNvPr id="3" name="Content Placeholder 2">
            <a:extLst>
              <a:ext uri="{FF2B5EF4-FFF2-40B4-BE49-F238E27FC236}">
                <a16:creationId xmlns:a16="http://schemas.microsoft.com/office/drawing/2014/main" id="{AB8C7406-08AE-4B5C-9728-641206692F7C}"/>
              </a:ext>
            </a:extLst>
          </p:cNvPr>
          <p:cNvSpPr>
            <a:spLocks noGrp="1"/>
          </p:cNvSpPr>
          <p:nvPr>
            <p:ph idx="1"/>
          </p:nvPr>
        </p:nvSpPr>
        <p:spPr/>
        <p:txBody>
          <a:bodyPr>
            <a:normAutofit fontScale="25000" lnSpcReduction="20000"/>
          </a:bodyPr>
          <a:lstStyle/>
          <a:p>
            <a:pPr marL="514350" indent="-514350">
              <a:buFont typeface="+mj-lt"/>
              <a:buAutoNum type="arabicPeriod"/>
            </a:pPr>
            <a:r>
              <a:rPr lang="en-US" dirty="0"/>
              <a:t>HHI</a:t>
            </a:r>
          </a:p>
          <a:p>
            <a:pPr marL="514350" indent="-514350">
              <a:buFont typeface="+mj-lt"/>
              <a:buAutoNum type="arabicPeriod"/>
            </a:pPr>
            <a:r>
              <a:rPr lang="en-US" dirty="0"/>
              <a:t>CR4 – four-firm competition ratio </a:t>
            </a:r>
          </a:p>
          <a:p>
            <a:pPr marL="514350" indent="-514350">
              <a:buFont typeface="+mj-lt"/>
              <a:buAutoNum type="arabicPeriod"/>
            </a:pPr>
            <a:r>
              <a:rPr lang="en-US" dirty="0" err="1"/>
              <a:t>Kwoke</a:t>
            </a:r>
            <a:r>
              <a:rPr lang="en-US" dirty="0"/>
              <a:t> index – HHI of three largest firms in market</a:t>
            </a:r>
          </a:p>
          <a:p>
            <a:pPr marL="514350" indent="-514350">
              <a:buFont typeface="+mj-lt"/>
              <a:buAutoNum type="arabicPeriod"/>
            </a:pPr>
            <a:r>
              <a:rPr lang="en-US" dirty="0"/>
              <a:t>Gini coefficient </a:t>
            </a:r>
          </a:p>
          <a:p>
            <a:pPr marL="514350" indent="-514350">
              <a:buFont typeface="+mj-lt"/>
              <a:buAutoNum type="arabicPeriod"/>
            </a:pPr>
            <a:r>
              <a:rPr lang="en-US" dirty="0"/>
              <a:t>Density – number of nonprofits </a:t>
            </a:r>
          </a:p>
          <a:p>
            <a:pPr marL="514350" indent="-514350">
              <a:buFont typeface="+mj-lt"/>
              <a:buAutoNum type="arabicPeriod"/>
            </a:pPr>
            <a:r>
              <a:rPr lang="en-US" dirty="0"/>
              <a:t>Demand density – number of nonprofits / 10,000 people</a:t>
            </a:r>
          </a:p>
          <a:p>
            <a:pPr marL="514350" indent="-514350">
              <a:buFont typeface="+mj-lt"/>
              <a:buAutoNum type="arabicPeriod"/>
            </a:pPr>
            <a:r>
              <a:rPr lang="en-US" dirty="0"/>
              <a:t>Big Dog Ratio (# orgs rev &gt; $1m / # orgs)</a:t>
            </a:r>
          </a:p>
          <a:p>
            <a:pPr marL="514350" indent="-514350">
              <a:buFont typeface="+mj-lt"/>
              <a:buAutoNum type="arabicPeriod"/>
            </a:pPr>
            <a:r>
              <a:rPr lang="en-US" dirty="0"/>
              <a:t>Little Pup Ratio (# orgs rev &lt; $100k / # orgs)</a:t>
            </a:r>
          </a:p>
          <a:p>
            <a:pPr marL="514350" indent="-514350">
              <a:buFont typeface="+mj-lt"/>
              <a:buAutoNum type="arabicPeriod"/>
            </a:pPr>
            <a:r>
              <a:rPr lang="en-US" dirty="0"/>
              <a:t>Density of commercial nonprofits </a:t>
            </a:r>
          </a:p>
          <a:p>
            <a:pPr marL="514350" indent="-514350">
              <a:buFont typeface="+mj-lt"/>
              <a:buAutoNum type="arabicPeriod"/>
            </a:pPr>
            <a:r>
              <a:rPr lang="en-US" dirty="0"/>
              <a:t>Resource availability index (total rev / # orgs – </a:t>
            </a:r>
            <a:r>
              <a:rPr lang="en-US" dirty="0" err="1"/>
              <a:t>ave</a:t>
            </a:r>
            <a:r>
              <a:rPr lang="en-US" dirty="0"/>
              <a:t> size of org in market)</a:t>
            </a:r>
          </a:p>
          <a:p>
            <a:pPr marL="514350" indent="-514350">
              <a:buFont typeface="+mj-lt"/>
              <a:buAutoNum type="arabicPeriod"/>
            </a:pPr>
            <a:r>
              <a:rPr lang="en-US" dirty="0"/>
              <a:t>Fundraising efficiency for NPs with &gt; $1m in revenue</a:t>
            </a:r>
          </a:p>
          <a:p>
            <a:pPr marL="514350" indent="-514350">
              <a:buFont typeface="+mj-lt"/>
              <a:buAutoNum type="arabicPeriod"/>
            </a:pPr>
            <a:r>
              <a:rPr lang="en-US" dirty="0"/>
              <a:t>Ave fiscal health in market </a:t>
            </a:r>
          </a:p>
          <a:p>
            <a:pPr marL="514350" indent="-514350">
              <a:buFont typeface="+mj-lt"/>
              <a:buAutoNum type="arabicPeriod"/>
            </a:pPr>
            <a:r>
              <a:rPr lang="en-US" dirty="0"/>
              <a:t>Ave growth rate in market</a:t>
            </a:r>
          </a:p>
          <a:p>
            <a:pPr marL="514350" indent="-514350">
              <a:buFont typeface="+mj-lt"/>
              <a:buAutoNum type="arabicPeriod"/>
            </a:pPr>
            <a:r>
              <a:rPr lang="en-US" dirty="0"/>
              <a:t>Growth equity:  </a:t>
            </a:r>
            <a:r>
              <a:rPr lang="en-US" dirty="0" err="1"/>
              <a:t>ave</a:t>
            </a:r>
            <a:r>
              <a:rPr lang="en-US" dirty="0"/>
              <a:t> growth rate top quintile / </a:t>
            </a:r>
            <a:r>
              <a:rPr lang="en-US" dirty="0" err="1"/>
              <a:t>ave</a:t>
            </a:r>
            <a:r>
              <a:rPr lang="en-US" dirty="0"/>
              <a:t> growth rate smallest quintile </a:t>
            </a:r>
          </a:p>
          <a:p>
            <a:pPr marL="514350" indent="-514350">
              <a:buFont typeface="+mj-lt"/>
              <a:buAutoNum type="arabicPeriod"/>
            </a:pPr>
            <a:r>
              <a:rPr lang="en-US" dirty="0"/>
              <a:t>Birth rates (rate of new org formation) [should this be new orgs / current, or new orgs per 10k people? </a:t>
            </a:r>
          </a:p>
          <a:p>
            <a:pPr marL="514350" indent="-514350">
              <a:buFont typeface="+mj-lt"/>
              <a:buAutoNum type="arabicPeriod"/>
            </a:pPr>
            <a:r>
              <a:rPr lang="en-US" dirty="0"/>
              <a:t>Five-year “smallness” index</a:t>
            </a:r>
          </a:p>
          <a:p>
            <a:pPr marL="514350" indent="-514350">
              <a:buFont typeface="+mj-lt"/>
              <a:buAutoNum type="arabicPeriod"/>
            </a:pPr>
            <a:r>
              <a:rPr lang="en-US" dirty="0"/>
              <a:t>Death rate (rate of closure) [closures per 10k people? What is expected rate?]</a:t>
            </a:r>
          </a:p>
          <a:p>
            <a:pPr marL="514350" indent="-514350">
              <a:buFont typeface="+mj-lt"/>
              <a:buAutoNum type="arabicPeriod"/>
            </a:pPr>
            <a:r>
              <a:rPr lang="en-US" dirty="0"/>
              <a:t>Five-year closure rate</a:t>
            </a:r>
          </a:p>
          <a:p>
            <a:pPr marL="514350" indent="-514350">
              <a:buFont typeface="+mj-lt"/>
              <a:buAutoNum type="arabicPeriod"/>
            </a:pPr>
            <a:r>
              <a:rPr lang="en-US" dirty="0"/>
              <a:t>Philanthropic capital </a:t>
            </a:r>
          </a:p>
          <a:p>
            <a:pPr marL="514350" indent="-514350">
              <a:buFont typeface="+mj-lt"/>
              <a:buAutoNum type="arabicPeriod"/>
            </a:pPr>
            <a:r>
              <a:rPr lang="en-US" dirty="0"/>
              <a:t>Generosity index </a:t>
            </a:r>
          </a:p>
        </p:txBody>
      </p:sp>
      <p:sp>
        <p:nvSpPr>
          <p:cNvPr id="4" name="Slide Number Placeholder 3">
            <a:extLst>
              <a:ext uri="{FF2B5EF4-FFF2-40B4-BE49-F238E27FC236}">
                <a16:creationId xmlns:a16="http://schemas.microsoft.com/office/drawing/2014/main" id="{BBEEF449-CACF-48CB-B679-43E56E5C0C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extBox 4">
            <a:extLst>
              <a:ext uri="{FF2B5EF4-FFF2-40B4-BE49-F238E27FC236}">
                <a16:creationId xmlns:a16="http://schemas.microsoft.com/office/drawing/2014/main" id="{B0B91BBC-FEA2-8FCD-9862-879A4E9E57C6}"/>
              </a:ext>
            </a:extLst>
          </p:cNvPr>
          <p:cNvSpPr txBox="1"/>
          <p:nvPr/>
        </p:nvSpPr>
        <p:spPr>
          <a:xfrm>
            <a:off x="838200" y="1206262"/>
            <a:ext cx="58607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285 MSAs + 12 NTEE Categories = 2,979 “markets” examined </a:t>
            </a:r>
          </a:p>
        </p:txBody>
      </p:sp>
    </p:spTree>
    <p:extLst>
      <p:ext uri="{BB962C8B-B14F-4D97-AF65-F5344CB8AC3E}">
        <p14:creationId xmlns:p14="http://schemas.microsoft.com/office/powerpoint/2010/main" val="1344084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D61D3D-F0AF-487B-ACF5-9240B72580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3" name="圖片 2">
            <a:extLst>
              <a:ext uri="{FF2B5EF4-FFF2-40B4-BE49-F238E27FC236}">
                <a16:creationId xmlns:a16="http://schemas.microsoft.com/office/drawing/2014/main" id="{D1575015-17A5-4A27-8DBA-D2200525B496}"/>
              </a:ext>
            </a:extLst>
          </p:cNvPr>
          <p:cNvPicPr/>
          <p:nvPr/>
        </p:nvPicPr>
        <p:blipFill rotWithShape="1">
          <a:blip r:embed="rId2"/>
          <a:srcRect l="7073"/>
          <a:stretch/>
        </p:blipFill>
        <p:spPr>
          <a:xfrm>
            <a:off x="1380307" y="735615"/>
            <a:ext cx="9431386" cy="5853733"/>
          </a:xfrm>
          <a:prstGeom prst="rect">
            <a:avLst/>
          </a:prstGeom>
        </p:spPr>
      </p:pic>
      <p:sp>
        <p:nvSpPr>
          <p:cNvPr id="4" name="TextBox 3">
            <a:extLst>
              <a:ext uri="{FF2B5EF4-FFF2-40B4-BE49-F238E27FC236}">
                <a16:creationId xmlns:a16="http://schemas.microsoft.com/office/drawing/2014/main" id="{DCC7B042-40FE-40F5-A35E-6F29B92D867E}"/>
              </a:ext>
            </a:extLst>
          </p:cNvPr>
          <p:cNvSpPr txBox="1"/>
          <p:nvPr/>
        </p:nvSpPr>
        <p:spPr>
          <a:xfrm>
            <a:off x="2736276" y="213506"/>
            <a:ext cx="657276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Abadi Extra Light" panose="020B0204020104020204" pitchFamily="34" charset="0"/>
              </a:rPr>
              <a:t>Distribution of HHI Metrics Across 285 Metro Areas</a:t>
            </a:r>
          </a:p>
        </p:txBody>
      </p:sp>
      <p:sp>
        <p:nvSpPr>
          <p:cNvPr id="5" name="Rectangle 4">
            <a:extLst>
              <a:ext uri="{FF2B5EF4-FFF2-40B4-BE49-F238E27FC236}">
                <a16:creationId xmlns:a16="http://schemas.microsoft.com/office/drawing/2014/main" id="{DBD3DFA4-D718-4F0E-A525-1AD9B0D0323B}"/>
              </a:ext>
            </a:extLst>
          </p:cNvPr>
          <p:cNvSpPr/>
          <p:nvPr/>
        </p:nvSpPr>
        <p:spPr>
          <a:xfrm>
            <a:off x="1380308" y="829204"/>
            <a:ext cx="3643638" cy="4923226"/>
          </a:xfrm>
          <a:prstGeom prst="rect">
            <a:avLst/>
          </a:prstGeom>
          <a:solidFill>
            <a:schemeClr val="accent6">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DD17285E-3140-4FCE-A316-2B10C06DFBB0}"/>
              </a:ext>
            </a:extLst>
          </p:cNvPr>
          <p:cNvSpPr/>
          <p:nvPr/>
        </p:nvSpPr>
        <p:spPr>
          <a:xfrm>
            <a:off x="7616339" y="829204"/>
            <a:ext cx="3083191" cy="4923226"/>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9D674CC4-D256-8753-6060-B5D5431C8543}"/>
              </a:ext>
            </a:extLst>
          </p:cNvPr>
          <p:cNvSpPr txBox="1"/>
          <p:nvPr/>
        </p:nvSpPr>
        <p:spPr>
          <a:xfrm>
            <a:off x="8017636" y="5266466"/>
            <a:ext cx="207620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Monopolistic</a:t>
            </a:r>
          </a:p>
        </p:txBody>
      </p:sp>
      <p:sp>
        <p:nvSpPr>
          <p:cNvPr id="8" name="TextBox 7">
            <a:extLst>
              <a:ext uri="{FF2B5EF4-FFF2-40B4-BE49-F238E27FC236}">
                <a16:creationId xmlns:a16="http://schemas.microsoft.com/office/drawing/2014/main" id="{1C929813-7D89-D117-B727-524CABA93E70}"/>
              </a:ext>
            </a:extLst>
          </p:cNvPr>
          <p:cNvSpPr txBox="1"/>
          <p:nvPr/>
        </p:nvSpPr>
        <p:spPr>
          <a:xfrm>
            <a:off x="1779429" y="5266466"/>
            <a:ext cx="328487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Competitive Markets</a:t>
            </a:r>
          </a:p>
        </p:txBody>
      </p:sp>
      <p:sp>
        <p:nvSpPr>
          <p:cNvPr id="9" name="Oval 8">
            <a:extLst>
              <a:ext uri="{FF2B5EF4-FFF2-40B4-BE49-F238E27FC236}">
                <a16:creationId xmlns:a16="http://schemas.microsoft.com/office/drawing/2014/main" id="{EFA27EEC-1AC0-6315-6B45-0F785B779500}"/>
              </a:ext>
            </a:extLst>
          </p:cNvPr>
          <p:cNvSpPr/>
          <p:nvPr/>
        </p:nvSpPr>
        <p:spPr>
          <a:xfrm>
            <a:off x="9094382" y="2769787"/>
            <a:ext cx="861848" cy="788276"/>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3D83234-77A9-C4E5-D323-D780D902D8E2}"/>
              </a:ext>
            </a:extLst>
          </p:cNvPr>
          <p:cNvSpPr/>
          <p:nvPr/>
        </p:nvSpPr>
        <p:spPr>
          <a:xfrm>
            <a:off x="8253418" y="3386445"/>
            <a:ext cx="152400" cy="15240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6D8B553-3402-7A19-D719-2D9BDF017C56}"/>
              </a:ext>
            </a:extLst>
          </p:cNvPr>
          <p:cNvSpPr/>
          <p:nvPr/>
        </p:nvSpPr>
        <p:spPr>
          <a:xfrm>
            <a:off x="8493991" y="3355965"/>
            <a:ext cx="182880" cy="18288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D38C297-A5BE-6734-6822-5AA07D30934A}"/>
              </a:ext>
            </a:extLst>
          </p:cNvPr>
          <p:cNvSpPr/>
          <p:nvPr/>
        </p:nvSpPr>
        <p:spPr>
          <a:xfrm>
            <a:off x="8765044" y="3264525"/>
            <a:ext cx="274320" cy="27432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1810901-3A91-5D4B-B3B5-B03EC566ABFC}"/>
              </a:ext>
            </a:extLst>
          </p:cNvPr>
          <p:cNvSpPr/>
          <p:nvPr/>
        </p:nvSpPr>
        <p:spPr>
          <a:xfrm>
            <a:off x="2096734" y="3131298"/>
            <a:ext cx="365760" cy="36576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 name="Oval 13">
            <a:extLst>
              <a:ext uri="{FF2B5EF4-FFF2-40B4-BE49-F238E27FC236}">
                <a16:creationId xmlns:a16="http://schemas.microsoft.com/office/drawing/2014/main" id="{64B84C78-49A7-7C76-25C6-7DE2221621C4}"/>
              </a:ext>
            </a:extLst>
          </p:cNvPr>
          <p:cNvSpPr/>
          <p:nvPr/>
        </p:nvSpPr>
        <p:spPr>
          <a:xfrm>
            <a:off x="2546364" y="3131298"/>
            <a:ext cx="365760" cy="36576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E870597-FEE6-1AE0-E628-1583C6F61873}"/>
              </a:ext>
            </a:extLst>
          </p:cNvPr>
          <p:cNvSpPr/>
          <p:nvPr/>
        </p:nvSpPr>
        <p:spPr>
          <a:xfrm>
            <a:off x="2995994" y="3131298"/>
            <a:ext cx="365760" cy="36576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E0DB9D1-475B-B5F8-9551-085F17FA103C}"/>
              </a:ext>
            </a:extLst>
          </p:cNvPr>
          <p:cNvSpPr/>
          <p:nvPr/>
        </p:nvSpPr>
        <p:spPr>
          <a:xfrm>
            <a:off x="3445624" y="3131298"/>
            <a:ext cx="365760" cy="365760"/>
          </a:xfrm>
          <a:prstGeom prst="ellipse">
            <a:avLst/>
          </a:prstGeom>
          <a:solidFill>
            <a:schemeClr val="bg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E067DE9-47D6-976F-ED7F-080DDBF9AC1F}"/>
              </a:ext>
            </a:extLst>
          </p:cNvPr>
          <p:cNvSpPr txBox="1"/>
          <p:nvPr/>
        </p:nvSpPr>
        <p:spPr>
          <a:xfrm>
            <a:off x="2066745" y="3183373"/>
            <a:ext cx="453970" cy="261610"/>
          </a:xfrm>
          <a:prstGeom prst="rect">
            <a:avLst/>
          </a:prstGeom>
          <a:noFill/>
        </p:spPr>
        <p:txBody>
          <a:bodyPr wrap="none" rtlCol="0">
            <a:spAutoFit/>
          </a:bodyPr>
          <a:lstStyle/>
          <a:p>
            <a:r>
              <a:rPr lang="en-US" sz="1100" dirty="0">
                <a:solidFill>
                  <a:schemeClr val="accent6">
                    <a:lumMod val="50000"/>
                  </a:schemeClr>
                </a:solidFill>
                <a:latin typeface="Abadi Extra Light" panose="020B0204020104020204" pitchFamily="34" charset="0"/>
              </a:rPr>
              <a:t>25%</a:t>
            </a:r>
          </a:p>
        </p:txBody>
      </p:sp>
      <p:sp>
        <p:nvSpPr>
          <p:cNvPr id="18" name="TextBox 17">
            <a:extLst>
              <a:ext uri="{FF2B5EF4-FFF2-40B4-BE49-F238E27FC236}">
                <a16:creationId xmlns:a16="http://schemas.microsoft.com/office/drawing/2014/main" id="{A5B86FDB-C83D-967B-9BD1-7D09EDFA45F2}"/>
              </a:ext>
            </a:extLst>
          </p:cNvPr>
          <p:cNvSpPr txBox="1"/>
          <p:nvPr/>
        </p:nvSpPr>
        <p:spPr>
          <a:xfrm>
            <a:off x="2512149" y="3183373"/>
            <a:ext cx="453970" cy="261610"/>
          </a:xfrm>
          <a:prstGeom prst="rect">
            <a:avLst/>
          </a:prstGeom>
          <a:noFill/>
        </p:spPr>
        <p:txBody>
          <a:bodyPr wrap="none" rtlCol="0">
            <a:spAutoFit/>
          </a:bodyPr>
          <a:lstStyle/>
          <a:p>
            <a:r>
              <a:rPr lang="en-US" sz="1100" dirty="0">
                <a:solidFill>
                  <a:schemeClr val="accent6">
                    <a:lumMod val="50000"/>
                  </a:schemeClr>
                </a:solidFill>
                <a:latin typeface="Abadi Extra Light" panose="020B0204020104020204" pitchFamily="34" charset="0"/>
              </a:rPr>
              <a:t>25%</a:t>
            </a:r>
          </a:p>
        </p:txBody>
      </p:sp>
      <p:sp>
        <p:nvSpPr>
          <p:cNvPr id="19" name="TextBox 18">
            <a:extLst>
              <a:ext uri="{FF2B5EF4-FFF2-40B4-BE49-F238E27FC236}">
                <a16:creationId xmlns:a16="http://schemas.microsoft.com/office/drawing/2014/main" id="{64DD49C1-FDC8-CD46-8423-D583ABBA61AA}"/>
              </a:ext>
            </a:extLst>
          </p:cNvPr>
          <p:cNvSpPr txBox="1"/>
          <p:nvPr/>
        </p:nvSpPr>
        <p:spPr>
          <a:xfrm>
            <a:off x="2985306" y="3183373"/>
            <a:ext cx="453970" cy="261610"/>
          </a:xfrm>
          <a:prstGeom prst="rect">
            <a:avLst/>
          </a:prstGeom>
          <a:noFill/>
        </p:spPr>
        <p:txBody>
          <a:bodyPr wrap="none" rtlCol="0">
            <a:spAutoFit/>
          </a:bodyPr>
          <a:lstStyle/>
          <a:p>
            <a:r>
              <a:rPr lang="en-US" sz="1100" dirty="0">
                <a:solidFill>
                  <a:schemeClr val="accent6">
                    <a:lumMod val="50000"/>
                  </a:schemeClr>
                </a:solidFill>
                <a:latin typeface="Abadi Extra Light" panose="020B0204020104020204" pitchFamily="34" charset="0"/>
              </a:rPr>
              <a:t>25%</a:t>
            </a:r>
          </a:p>
        </p:txBody>
      </p:sp>
      <p:sp>
        <p:nvSpPr>
          <p:cNvPr id="20" name="TextBox 19">
            <a:extLst>
              <a:ext uri="{FF2B5EF4-FFF2-40B4-BE49-F238E27FC236}">
                <a16:creationId xmlns:a16="http://schemas.microsoft.com/office/drawing/2014/main" id="{17D4F6AC-44A6-8552-E073-CE20D3714A54}"/>
              </a:ext>
            </a:extLst>
          </p:cNvPr>
          <p:cNvSpPr txBox="1"/>
          <p:nvPr/>
        </p:nvSpPr>
        <p:spPr>
          <a:xfrm>
            <a:off x="3427698" y="3183373"/>
            <a:ext cx="453970" cy="261610"/>
          </a:xfrm>
          <a:prstGeom prst="rect">
            <a:avLst/>
          </a:prstGeom>
          <a:noFill/>
        </p:spPr>
        <p:txBody>
          <a:bodyPr wrap="none" rtlCol="0">
            <a:spAutoFit/>
          </a:bodyPr>
          <a:lstStyle/>
          <a:p>
            <a:r>
              <a:rPr lang="en-US" sz="1100" dirty="0">
                <a:solidFill>
                  <a:schemeClr val="accent6">
                    <a:lumMod val="50000"/>
                  </a:schemeClr>
                </a:solidFill>
                <a:latin typeface="Abadi Extra Light" panose="020B0204020104020204" pitchFamily="34" charset="0"/>
              </a:rPr>
              <a:t>25%</a:t>
            </a:r>
          </a:p>
        </p:txBody>
      </p:sp>
      <p:sp>
        <p:nvSpPr>
          <p:cNvPr id="21" name="TextBox 20">
            <a:extLst>
              <a:ext uri="{FF2B5EF4-FFF2-40B4-BE49-F238E27FC236}">
                <a16:creationId xmlns:a16="http://schemas.microsoft.com/office/drawing/2014/main" id="{5E61B13D-2E06-886E-CF76-AEF5B2693086}"/>
              </a:ext>
            </a:extLst>
          </p:cNvPr>
          <p:cNvSpPr txBox="1"/>
          <p:nvPr/>
        </p:nvSpPr>
        <p:spPr>
          <a:xfrm>
            <a:off x="9179365" y="2949040"/>
            <a:ext cx="774571" cy="461665"/>
          </a:xfrm>
          <a:prstGeom prst="rect">
            <a:avLst/>
          </a:prstGeom>
          <a:noFill/>
        </p:spPr>
        <p:txBody>
          <a:bodyPr wrap="none" rtlCol="0">
            <a:spAutoFit/>
          </a:bodyPr>
          <a:lstStyle/>
          <a:p>
            <a:r>
              <a:rPr lang="en-US" sz="2400" dirty="0">
                <a:solidFill>
                  <a:schemeClr val="accent2">
                    <a:lumMod val="50000"/>
                  </a:schemeClr>
                </a:solidFill>
                <a:latin typeface="Abadi Extra Light" panose="020B0204020104020204" pitchFamily="34" charset="0"/>
              </a:rPr>
              <a:t>80%</a:t>
            </a:r>
          </a:p>
        </p:txBody>
      </p:sp>
      <p:sp>
        <p:nvSpPr>
          <p:cNvPr id="22" name="TextBox 21">
            <a:extLst>
              <a:ext uri="{FF2B5EF4-FFF2-40B4-BE49-F238E27FC236}">
                <a16:creationId xmlns:a16="http://schemas.microsoft.com/office/drawing/2014/main" id="{13AC3E6A-DD01-3360-FCDA-9AD40EB4AAD0}"/>
              </a:ext>
            </a:extLst>
          </p:cNvPr>
          <p:cNvSpPr txBox="1"/>
          <p:nvPr/>
        </p:nvSpPr>
        <p:spPr>
          <a:xfrm>
            <a:off x="8698203" y="3286948"/>
            <a:ext cx="404278" cy="230832"/>
          </a:xfrm>
          <a:prstGeom prst="rect">
            <a:avLst/>
          </a:prstGeom>
          <a:noFill/>
        </p:spPr>
        <p:txBody>
          <a:bodyPr wrap="none" rtlCol="0">
            <a:spAutoFit/>
          </a:bodyPr>
          <a:lstStyle/>
          <a:p>
            <a:r>
              <a:rPr lang="en-US" sz="900" dirty="0">
                <a:solidFill>
                  <a:schemeClr val="accent2">
                    <a:lumMod val="50000"/>
                  </a:schemeClr>
                </a:solidFill>
                <a:latin typeface="Abadi Extra Light" panose="020B0204020104020204" pitchFamily="34" charset="0"/>
              </a:rPr>
              <a:t>10%</a:t>
            </a:r>
          </a:p>
        </p:txBody>
      </p:sp>
      <p:sp>
        <p:nvSpPr>
          <p:cNvPr id="23" name="TextBox 22">
            <a:extLst>
              <a:ext uri="{FF2B5EF4-FFF2-40B4-BE49-F238E27FC236}">
                <a16:creationId xmlns:a16="http://schemas.microsoft.com/office/drawing/2014/main" id="{121117F8-C6A5-C019-8AB6-952F0A0AA3B8}"/>
              </a:ext>
            </a:extLst>
          </p:cNvPr>
          <p:cNvSpPr txBox="1"/>
          <p:nvPr/>
        </p:nvSpPr>
        <p:spPr>
          <a:xfrm>
            <a:off x="8035696" y="3649515"/>
            <a:ext cx="2094932" cy="338554"/>
          </a:xfrm>
          <a:prstGeom prst="rect">
            <a:avLst/>
          </a:prstGeom>
          <a:solidFill>
            <a:srgbClr val="F1A4A4"/>
          </a:solidFill>
        </p:spPr>
        <p:txBody>
          <a:bodyPr wrap="none" rtlCol="0">
            <a:spAutoFit/>
          </a:bodyPr>
          <a:lstStyle/>
          <a:p>
            <a:r>
              <a:rPr lang="en-US" sz="1600" dirty="0">
                <a:solidFill>
                  <a:schemeClr val="accent2">
                    <a:lumMod val="50000"/>
                  </a:schemeClr>
                </a:solidFill>
                <a:latin typeface="Abadi Extra Light" panose="020B0204020104020204" pitchFamily="34" charset="0"/>
              </a:rPr>
              <a:t>(Market Share by NPO)</a:t>
            </a:r>
          </a:p>
        </p:txBody>
      </p:sp>
      <p:sp>
        <p:nvSpPr>
          <p:cNvPr id="24" name="TextBox 23">
            <a:extLst>
              <a:ext uri="{FF2B5EF4-FFF2-40B4-BE49-F238E27FC236}">
                <a16:creationId xmlns:a16="http://schemas.microsoft.com/office/drawing/2014/main" id="{CA145586-F302-87A7-C023-3946F7743D4E}"/>
              </a:ext>
            </a:extLst>
          </p:cNvPr>
          <p:cNvSpPr txBox="1"/>
          <p:nvPr/>
        </p:nvSpPr>
        <p:spPr>
          <a:xfrm>
            <a:off x="1967583" y="3605232"/>
            <a:ext cx="2094932" cy="338554"/>
          </a:xfrm>
          <a:prstGeom prst="rect">
            <a:avLst/>
          </a:prstGeom>
          <a:noFill/>
        </p:spPr>
        <p:txBody>
          <a:bodyPr wrap="none" rtlCol="0">
            <a:spAutoFit/>
          </a:bodyPr>
          <a:lstStyle/>
          <a:p>
            <a:r>
              <a:rPr lang="en-US" sz="1600" dirty="0">
                <a:solidFill>
                  <a:schemeClr val="bg1"/>
                </a:solidFill>
                <a:latin typeface="Abadi Extra Light" panose="020B0204020104020204" pitchFamily="34" charset="0"/>
              </a:rPr>
              <a:t>(Market Share by NPO)</a:t>
            </a:r>
          </a:p>
        </p:txBody>
      </p:sp>
      <p:sp>
        <p:nvSpPr>
          <p:cNvPr id="25" name="TextBox 24">
            <a:extLst>
              <a:ext uri="{FF2B5EF4-FFF2-40B4-BE49-F238E27FC236}">
                <a16:creationId xmlns:a16="http://schemas.microsoft.com/office/drawing/2014/main" id="{9DA14237-095A-682A-A52F-FF7439AC0561}"/>
              </a:ext>
            </a:extLst>
          </p:cNvPr>
          <p:cNvSpPr txBox="1"/>
          <p:nvPr/>
        </p:nvSpPr>
        <p:spPr>
          <a:xfrm>
            <a:off x="2234182" y="1879711"/>
            <a:ext cx="1355884" cy="830997"/>
          </a:xfrm>
          <a:prstGeom prst="rect">
            <a:avLst/>
          </a:prstGeom>
          <a:noFill/>
        </p:spPr>
        <p:txBody>
          <a:bodyPr wrap="none" rtlCol="0">
            <a:spAutoFit/>
          </a:bodyPr>
          <a:lstStyle/>
          <a:p>
            <a:pPr algn="ctr"/>
            <a:r>
              <a:rPr lang="en-US" sz="1600" b="1" dirty="0">
                <a:solidFill>
                  <a:schemeClr val="bg1"/>
                </a:solidFill>
                <a:latin typeface="Abadi Extra Light" panose="020B0204020104020204" pitchFamily="34" charset="0"/>
              </a:rPr>
              <a:t>In these Cities </a:t>
            </a:r>
            <a:br>
              <a:rPr lang="en-US" sz="1600" b="1" dirty="0">
                <a:solidFill>
                  <a:schemeClr val="bg1"/>
                </a:solidFill>
                <a:latin typeface="Abadi Extra Light" panose="020B0204020104020204" pitchFamily="34" charset="0"/>
              </a:rPr>
            </a:br>
            <a:r>
              <a:rPr lang="en-US" sz="1600" b="1" dirty="0">
                <a:solidFill>
                  <a:schemeClr val="bg1"/>
                </a:solidFill>
                <a:latin typeface="Abadi Extra Light" panose="020B0204020104020204" pitchFamily="34" charset="0"/>
              </a:rPr>
              <a:t>Nonprofits are </a:t>
            </a:r>
          </a:p>
          <a:p>
            <a:pPr algn="ctr"/>
            <a:r>
              <a:rPr lang="en-US" sz="1600" b="1" dirty="0">
                <a:solidFill>
                  <a:schemeClr val="bg1"/>
                </a:solidFill>
                <a:latin typeface="Abadi Extra Light" panose="020B0204020104020204" pitchFamily="34" charset="0"/>
              </a:rPr>
              <a:t>Similar Sizes</a:t>
            </a:r>
          </a:p>
        </p:txBody>
      </p:sp>
      <p:sp>
        <p:nvSpPr>
          <p:cNvPr id="26" name="TextBox 25">
            <a:extLst>
              <a:ext uri="{FF2B5EF4-FFF2-40B4-BE49-F238E27FC236}">
                <a16:creationId xmlns:a16="http://schemas.microsoft.com/office/drawing/2014/main" id="{4C321EA0-C940-2C7F-D0B5-0400C9B71690}"/>
              </a:ext>
            </a:extLst>
          </p:cNvPr>
          <p:cNvSpPr txBox="1"/>
          <p:nvPr/>
        </p:nvSpPr>
        <p:spPr>
          <a:xfrm>
            <a:off x="9157934" y="1024885"/>
            <a:ext cx="1189749" cy="1077218"/>
          </a:xfrm>
          <a:prstGeom prst="rect">
            <a:avLst/>
          </a:prstGeom>
          <a:solidFill>
            <a:srgbClr val="F1A4A4"/>
          </a:solidFill>
        </p:spPr>
        <p:txBody>
          <a:bodyPr wrap="none" rtlCol="0">
            <a:spAutoFit/>
          </a:bodyPr>
          <a:lstStyle/>
          <a:p>
            <a:pPr algn="ctr"/>
            <a:r>
              <a:rPr lang="en-US" sz="1600" b="1" dirty="0">
                <a:solidFill>
                  <a:schemeClr val="bg1"/>
                </a:solidFill>
                <a:latin typeface="Abadi Extra Light" panose="020B0204020104020204" pitchFamily="34" charset="0"/>
              </a:rPr>
              <a:t>These Cities </a:t>
            </a:r>
            <a:br>
              <a:rPr lang="en-US" sz="1600" b="1" dirty="0">
                <a:solidFill>
                  <a:schemeClr val="bg1"/>
                </a:solidFill>
                <a:latin typeface="Abadi Extra Light" panose="020B0204020104020204" pitchFamily="34" charset="0"/>
              </a:rPr>
            </a:br>
            <a:r>
              <a:rPr lang="en-US" sz="1600" b="1" dirty="0">
                <a:solidFill>
                  <a:schemeClr val="bg1"/>
                </a:solidFill>
                <a:latin typeface="Abadi Extra Light" panose="020B0204020104020204" pitchFamily="34" charset="0"/>
              </a:rPr>
              <a:t>Have A </a:t>
            </a:r>
          </a:p>
          <a:p>
            <a:pPr algn="ctr"/>
            <a:r>
              <a:rPr lang="en-US" sz="1600" b="1" dirty="0">
                <a:solidFill>
                  <a:schemeClr val="bg1"/>
                </a:solidFill>
                <a:latin typeface="Abadi Extra Light" panose="020B0204020104020204" pitchFamily="34" charset="0"/>
              </a:rPr>
              <a:t>Dominant</a:t>
            </a:r>
            <a:br>
              <a:rPr lang="en-US" sz="1600" b="1" dirty="0">
                <a:solidFill>
                  <a:schemeClr val="bg1"/>
                </a:solidFill>
                <a:latin typeface="Abadi Extra Light" panose="020B0204020104020204" pitchFamily="34" charset="0"/>
              </a:rPr>
            </a:br>
            <a:r>
              <a:rPr lang="en-US" sz="1600" b="1" dirty="0">
                <a:solidFill>
                  <a:schemeClr val="bg1"/>
                </a:solidFill>
                <a:latin typeface="Abadi Extra Light" panose="020B0204020104020204" pitchFamily="34" charset="0"/>
              </a:rPr>
              <a:t>Nonprofit</a:t>
            </a:r>
          </a:p>
        </p:txBody>
      </p:sp>
      <p:cxnSp>
        <p:nvCxnSpPr>
          <p:cNvPr id="28" name="Straight Arrow Connector 27">
            <a:extLst>
              <a:ext uri="{FF2B5EF4-FFF2-40B4-BE49-F238E27FC236}">
                <a16:creationId xmlns:a16="http://schemas.microsoft.com/office/drawing/2014/main" id="{DCB734C6-9B75-75E6-CEA9-BD01A0A62587}"/>
              </a:ext>
            </a:extLst>
          </p:cNvPr>
          <p:cNvCxnSpPr/>
          <p:nvPr/>
        </p:nvCxnSpPr>
        <p:spPr>
          <a:xfrm>
            <a:off x="3046725" y="2744697"/>
            <a:ext cx="80788" cy="314385"/>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2210A6-7A33-784B-D720-1A5093809398}"/>
              </a:ext>
            </a:extLst>
          </p:cNvPr>
          <p:cNvCxnSpPr>
            <a:cxnSpLocks/>
          </p:cNvCxnSpPr>
          <p:nvPr/>
        </p:nvCxnSpPr>
        <p:spPr>
          <a:xfrm flipH="1">
            <a:off x="2754472" y="2736874"/>
            <a:ext cx="76864" cy="342349"/>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D53EA22-BDA9-EA74-7E5D-FB9E1A7CF93B}"/>
              </a:ext>
            </a:extLst>
          </p:cNvPr>
          <p:cNvCxnSpPr>
            <a:cxnSpLocks/>
          </p:cNvCxnSpPr>
          <p:nvPr/>
        </p:nvCxnSpPr>
        <p:spPr>
          <a:xfrm flipH="1">
            <a:off x="9659007" y="2256136"/>
            <a:ext cx="108832" cy="381524"/>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714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8CA1AB-A17D-405C-9590-F72D59D0BC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7029EC5C-6011-40A8-B8E5-F785BCC47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D0B3A570-7277-4779-A555-475E6A8B6C2A}"/>
              </a:ext>
            </a:extLst>
          </p:cNvPr>
          <p:cNvSpPr/>
          <p:nvPr/>
        </p:nvSpPr>
        <p:spPr>
          <a:xfrm>
            <a:off x="2304663" y="3335695"/>
            <a:ext cx="933060" cy="737118"/>
          </a:xfrm>
          <a:prstGeom prst="ellipse">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5ACE39DC-CBBF-461C-A5B9-D3129843846C}"/>
              </a:ext>
            </a:extLst>
          </p:cNvPr>
          <p:cNvSpPr/>
          <p:nvPr/>
        </p:nvSpPr>
        <p:spPr>
          <a:xfrm>
            <a:off x="8144070" y="3308644"/>
            <a:ext cx="933060" cy="737118"/>
          </a:xfrm>
          <a:prstGeom prst="ellipse">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26F62135-1F5D-44BB-9480-7CAB93529B3D}"/>
              </a:ext>
            </a:extLst>
          </p:cNvPr>
          <p:cNvSpPr/>
          <p:nvPr/>
        </p:nvSpPr>
        <p:spPr>
          <a:xfrm>
            <a:off x="11059890" y="3283926"/>
            <a:ext cx="933060" cy="737118"/>
          </a:xfrm>
          <a:prstGeom prst="ellipse">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6F168D93-52A3-4473-925C-FE0A1B9EBDB1}"/>
              </a:ext>
            </a:extLst>
          </p:cNvPr>
          <p:cNvSpPr/>
          <p:nvPr/>
        </p:nvSpPr>
        <p:spPr>
          <a:xfrm>
            <a:off x="8214051" y="5176936"/>
            <a:ext cx="933060" cy="737118"/>
          </a:xfrm>
          <a:prstGeom prst="ellipse">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524D472A-2AC7-4789-9011-6EB71D2C1824}"/>
              </a:ext>
            </a:extLst>
          </p:cNvPr>
          <p:cNvSpPr/>
          <p:nvPr/>
        </p:nvSpPr>
        <p:spPr>
          <a:xfrm>
            <a:off x="556728" y="5109812"/>
            <a:ext cx="1477344" cy="737118"/>
          </a:xfrm>
          <a:prstGeom prst="ellips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BBA95388-1D04-4875-BCFC-BB0086FA9AFF}"/>
              </a:ext>
            </a:extLst>
          </p:cNvPr>
          <p:cNvSpPr/>
          <p:nvPr/>
        </p:nvSpPr>
        <p:spPr>
          <a:xfrm>
            <a:off x="3368354" y="1505338"/>
            <a:ext cx="1477344" cy="737118"/>
          </a:xfrm>
          <a:prstGeom prst="ellips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19F22FEA-E561-4F72-8ADD-B410F67343B7}"/>
              </a:ext>
            </a:extLst>
          </p:cNvPr>
          <p:cNvSpPr/>
          <p:nvPr/>
        </p:nvSpPr>
        <p:spPr>
          <a:xfrm>
            <a:off x="6368146" y="1424573"/>
            <a:ext cx="1477344" cy="737118"/>
          </a:xfrm>
          <a:prstGeom prst="ellips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CA9CE1C-B71E-469B-A9FF-42143F4DF96C}"/>
              </a:ext>
            </a:extLst>
          </p:cNvPr>
          <p:cNvSpPr/>
          <p:nvPr/>
        </p:nvSpPr>
        <p:spPr>
          <a:xfrm>
            <a:off x="9280073" y="1408923"/>
            <a:ext cx="1477344" cy="737118"/>
          </a:xfrm>
          <a:prstGeom prst="ellips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C4BEBE2E-658E-4CA5-B76A-341474A831DB}"/>
              </a:ext>
            </a:extLst>
          </p:cNvPr>
          <p:cNvSpPr/>
          <p:nvPr/>
        </p:nvSpPr>
        <p:spPr>
          <a:xfrm>
            <a:off x="3368354" y="5136504"/>
            <a:ext cx="1477344" cy="737118"/>
          </a:xfrm>
          <a:prstGeom prst="ellips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5E693486-0357-462F-B7FB-A01FCD67A6F7}"/>
              </a:ext>
            </a:extLst>
          </p:cNvPr>
          <p:cNvSpPr/>
          <p:nvPr/>
        </p:nvSpPr>
        <p:spPr>
          <a:xfrm>
            <a:off x="556729" y="695129"/>
            <a:ext cx="1147662" cy="1450912"/>
          </a:xfrm>
          <a:prstGeom prst="ellipse">
            <a:avLst/>
          </a:prstGeom>
          <a:solidFill>
            <a:schemeClr val="accent6">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712802D-27C6-4799-92E9-50C3ADDE2CB2}"/>
              </a:ext>
            </a:extLst>
          </p:cNvPr>
          <p:cNvSpPr/>
          <p:nvPr/>
        </p:nvSpPr>
        <p:spPr>
          <a:xfrm>
            <a:off x="3368354" y="2557528"/>
            <a:ext cx="1147662" cy="1450912"/>
          </a:xfrm>
          <a:prstGeom prst="ellipse">
            <a:avLst/>
          </a:prstGeom>
          <a:solidFill>
            <a:schemeClr val="accent6">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3ABD1359-23B6-4982-8FDB-92274A459A92}"/>
              </a:ext>
            </a:extLst>
          </p:cNvPr>
          <p:cNvSpPr/>
          <p:nvPr/>
        </p:nvSpPr>
        <p:spPr>
          <a:xfrm>
            <a:off x="11059890" y="5178492"/>
            <a:ext cx="933060" cy="737118"/>
          </a:xfrm>
          <a:prstGeom prst="ellipse">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1662040-3407-4204-AFB4-379B0FEFFD0F}"/>
              </a:ext>
            </a:extLst>
          </p:cNvPr>
          <p:cNvSpPr txBox="1"/>
          <p:nvPr/>
        </p:nvSpPr>
        <p:spPr>
          <a:xfrm>
            <a:off x="995968" y="2698853"/>
            <a:ext cx="207620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Monopolistic</a:t>
            </a:r>
          </a:p>
        </p:txBody>
      </p:sp>
      <p:sp>
        <p:nvSpPr>
          <p:cNvPr id="20" name="TextBox 19">
            <a:extLst>
              <a:ext uri="{FF2B5EF4-FFF2-40B4-BE49-F238E27FC236}">
                <a16:creationId xmlns:a16="http://schemas.microsoft.com/office/drawing/2014/main" id="{4ED9E630-8A22-48BF-A241-5E6C5B6F9C5A}"/>
              </a:ext>
            </a:extLst>
          </p:cNvPr>
          <p:cNvSpPr txBox="1"/>
          <p:nvPr/>
        </p:nvSpPr>
        <p:spPr>
          <a:xfrm>
            <a:off x="2120905" y="847429"/>
            <a:ext cx="20361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AD47"/>
                </a:solidFill>
                <a:effectLst/>
                <a:uLnTx/>
                <a:uFillTx/>
                <a:latin typeface="Century Gothic" panose="020B0502020202020204" pitchFamily="34" charset="0"/>
                <a:ea typeface="+mn-ea"/>
                <a:cs typeface="+mn-cs"/>
              </a:rPr>
              <a:t>Competitive</a:t>
            </a:r>
          </a:p>
        </p:txBody>
      </p:sp>
    </p:spTree>
    <p:extLst>
      <p:ext uri="{BB962C8B-B14F-4D97-AF65-F5344CB8AC3E}">
        <p14:creationId xmlns:p14="http://schemas.microsoft.com/office/powerpoint/2010/main" val="3234356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A707C7-4CD3-4F43-BE57-D24C74AAE4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A643762F-057D-4650-8D4B-CF4BFF26A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383BB50-CBF1-4C4A-9F1C-BEEABB3B1A9E}"/>
              </a:ext>
            </a:extLst>
          </p:cNvPr>
          <p:cNvSpPr/>
          <p:nvPr/>
        </p:nvSpPr>
        <p:spPr>
          <a:xfrm>
            <a:off x="695648" y="2628007"/>
            <a:ext cx="2691363" cy="376450"/>
          </a:xfrm>
          <a:prstGeom prst="rect">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B3130125-CC01-49DB-8448-40F77F5C6741}"/>
              </a:ext>
            </a:extLst>
          </p:cNvPr>
          <p:cNvSpPr/>
          <p:nvPr/>
        </p:nvSpPr>
        <p:spPr>
          <a:xfrm>
            <a:off x="6443824" y="2571908"/>
            <a:ext cx="2691363" cy="376450"/>
          </a:xfrm>
          <a:prstGeom prst="rect">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98179FD6-BE85-47DB-9650-5F7F8883E172}"/>
              </a:ext>
            </a:extLst>
          </p:cNvPr>
          <p:cNvSpPr/>
          <p:nvPr/>
        </p:nvSpPr>
        <p:spPr>
          <a:xfrm>
            <a:off x="9317912" y="2571908"/>
            <a:ext cx="2691363" cy="376450"/>
          </a:xfrm>
          <a:prstGeom prst="rect">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67C89A0-9C22-4E34-8ADA-481CBB53ECAD}"/>
              </a:ext>
            </a:extLst>
          </p:cNvPr>
          <p:cNvSpPr/>
          <p:nvPr/>
        </p:nvSpPr>
        <p:spPr>
          <a:xfrm>
            <a:off x="6443823" y="4464129"/>
            <a:ext cx="2691363" cy="376450"/>
          </a:xfrm>
          <a:prstGeom prst="rect">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D05778F-2A1A-4676-B92F-30A4108FC7CB}"/>
              </a:ext>
            </a:extLst>
          </p:cNvPr>
          <p:cNvSpPr/>
          <p:nvPr/>
        </p:nvSpPr>
        <p:spPr>
          <a:xfrm>
            <a:off x="9317912" y="4464129"/>
            <a:ext cx="2691363" cy="376450"/>
          </a:xfrm>
          <a:prstGeom prst="rect">
            <a:avLst/>
          </a:prstGeom>
          <a:solidFill>
            <a:schemeClr val="accent2">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F443C20-6920-4E82-9FB4-00D71C22ED77}"/>
              </a:ext>
            </a:extLst>
          </p:cNvPr>
          <p:cNvSpPr txBox="1"/>
          <p:nvPr/>
        </p:nvSpPr>
        <p:spPr>
          <a:xfrm>
            <a:off x="5571127" y="6399183"/>
            <a:ext cx="1579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Market Size</a:t>
            </a:r>
          </a:p>
        </p:txBody>
      </p:sp>
      <p:sp>
        <p:nvSpPr>
          <p:cNvPr id="11" name="Rectangle 10">
            <a:extLst>
              <a:ext uri="{FF2B5EF4-FFF2-40B4-BE49-F238E27FC236}">
                <a16:creationId xmlns:a16="http://schemas.microsoft.com/office/drawing/2014/main" id="{7237C921-18E8-4832-B396-EDEF14F18855}"/>
              </a:ext>
            </a:extLst>
          </p:cNvPr>
          <p:cNvSpPr/>
          <p:nvPr/>
        </p:nvSpPr>
        <p:spPr>
          <a:xfrm>
            <a:off x="801395" y="1502229"/>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C82C4BC-B369-450C-A4B5-36FE6B2C0E13}"/>
              </a:ext>
            </a:extLst>
          </p:cNvPr>
          <p:cNvSpPr/>
          <p:nvPr/>
        </p:nvSpPr>
        <p:spPr>
          <a:xfrm>
            <a:off x="3669403" y="1502228"/>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A74C5A2-64A0-4BA7-B395-FAA9953A3199}"/>
              </a:ext>
            </a:extLst>
          </p:cNvPr>
          <p:cNvSpPr/>
          <p:nvPr/>
        </p:nvSpPr>
        <p:spPr>
          <a:xfrm>
            <a:off x="6537411" y="1502227"/>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A2C1C362-B240-4171-B7AF-3F5D161FF0F6}"/>
              </a:ext>
            </a:extLst>
          </p:cNvPr>
          <p:cNvSpPr/>
          <p:nvPr/>
        </p:nvSpPr>
        <p:spPr>
          <a:xfrm>
            <a:off x="9405419" y="1502226"/>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E6888BEC-FE69-4FE2-8542-A487D285C877}"/>
              </a:ext>
            </a:extLst>
          </p:cNvPr>
          <p:cNvSpPr/>
          <p:nvPr/>
        </p:nvSpPr>
        <p:spPr>
          <a:xfrm>
            <a:off x="3669402" y="3325583"/>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2E9998A-F4EB-45B8-9762-C8C8DB881A08}"/>
              </a:ext>
            </a:extLst>
          </p:cNvPr>
          <p:cNvSpPr/>
          <p:nvPr/>
        </p:nvSpPr>
        <p:spPr>
          <a:xfrm>
            <a:off x="801395" y="5162939"/>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80C5D726-26B5-481D-80D9-6B9B4D486457}"/>
              </a:ext>
            </a:extLst>
          </p:cNvPr>
          <p:cNvSpPr/>
          <p:nvPr/>
        </p:nvSpPr>
        <p:spPr>
          <a:xfrm>
            <a:off x="3669402" y="5162939"/>
            <a:ext cx="2691363" cy="674913"/>
          </a:xfrm>
          <a:prstGeom prst="rect">
            <a:avLst/>
          </a:prstGeom>
          <a:solidFill>
            <a:srgbClr val="92D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369127D8-573A-4E17-92CC-38E0F357D975}"/>
              </a:ext>
            </a:extLst>
          </p:cNvPr>
          <p:cNvSpPr txBox="1"/>
          <p:nvPr/>
        </p:nvSpPr>
        <p:spPr>
          <a:xfrm>
            <a:off x="2368943" y="1045885"/>
            <a:ext cx="20361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AD47"/>
                </a:solidFill>
                <a:effectLst/>
                <a:uLnTx/>
                <a:uFillTx/>
                <a:latin typeface="Century Gothic" panose="020B0502020202020204" pitchFamily="34" charset="0"/>
                <a:ea typeface="+mn-ea"/>
                <a:cs typeface="+mn-cs"/>
              </a:rPr>
              <a:t>Competitive</a:t>
            </a:r>
          </a:p>
        </p:txBody>
      </p:sp>
      <p:sp>
        <p:nvSpPr>
          <p:cNvPr id="19" name="TextBox 18">
            <a:extLst>
              <a:ext uri="{FF2B5EF4-FFF2-40B4-BE49-F238E27FC236}">
                <a16:creationId xmlns:a16="http://schemas.microsoft.com/office/drawing/2014/main" id="{AD9B8F1F-290C-457A-A2D5-CE2A47F7B6E1}"/>
              </a:ext>
            </a:extLst>
          </p:cNvPr>
          <p:cNvSpPr txBox="1"/>
          <p:nvPr/>
        </p:nvSpPr>
        <p:spPr>
          <a:xfrm>
            <a:off x="8238278" y="3911003"/>
            <a:ext cx="207620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Monopolistic</a:t>
            </a:r>
          </a:p>
        </p:txBody>
      </p:sp>
    </p:spTree>
    <p:extLst>
      <p:ext uri="{BB962C8B-B14F-4D97-AF65-F5344CB8AC3E}">
        <p14:creationId xmlns:p14="http://schemas.microsoft.com/office/powerpoint/2010/main" val="4270668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C5BF-478A-FD87-5935-F30DCD33FBD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586811E-1601-747D-A2AD-2AE160C5EB2B}"/>
              </a:ext>
            </a:extLst>
          </p:cNvPr>
          <p:cNvSpPr/>
          <p:nvPr/>
        </p:nvSpPr>
        <p:spPr>
          <a:xfrm>
            <a:off x="0" y="0"/>
            <a:ext cx="4371911" cy="6858000"/>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604A21C-DA6C-C31E-9B9E-7D64A8B527B9}"/>
              </a:ext>
            </a:extLst>
          </p:cNvPr>
          <p:cNvSpPr txBox="1"/>
          <p:nvPr/>
        </p:nvSpPr>
        <p:spPr>
          <a:xfrm>
            <a:off x="129562" y="1203173"/>
            <a:ext cx="4040299" cy="378565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t>MOTIVATION:</a:t>
            </a:r>
            <a:b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br>
            <a:b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br>
            <a: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t>Are we at a tipping p</a:t>
            </a:r>
            <a:r>
              <a:rPr kumimoji="0" lang="en-US" sz="4000" b="0" i="0" u="none" strike="noStrike" kern="1200" cap="none" spc="0" normalizeH="0" baseline="0" noProof="0" dirty="0" err="1">
                <a:ln>
                  <a:noFill/>
                </a:ln>
                <a:solidFill>
                  <a:prstClr val="white"/>
                </a:solidFill>
                <a:effectLst/>
                <a:uLnTx/>
                <a:uFillTx/>
                <a:latin typeface="Oswald" panose="00000500000000000000" pitchFamily="2" charset="0"/>
                <a:ea typeface="+mn-ea"/>
                <a:cs typeface="+mn-cs"/>
              </a:rPr>
              <a:t>oint</a:t>
            </a:r>
            <a: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t> in the growth of the US Nonprofit Sector?</a:t>
            </a:r>
          </a:p>
        </p:txBody>
      </p:sp>
      <p:pic>
        <p:nvPicPr>
          <p:cNvPr id="6" name="Picture 2" descr="A graph showing the growth of a profit&#10;&#10;Description automatically generated">
            <a:extLst>
              <a:ext uri="{FF2B5EF4-FFF2-40B4-BE49-F238E27FC236}">
                <a16:creationId xmlns:a16="http://schemas.microsoft.com/office/drawing/2014/main" id="{ADF1BF46-FA3C-449A-ACCC-94C830F387B3}"/>
              </a:ext>
            </a:extLst>
          </p:cNvPr>
          <p:cNvPicPr>
            <a:picLocks noChangeAspect="1" noChangeArrowheads="1"/>
          </p:cNvPicPr>
          <p:nvPr/>
        </p:nvPicPr>
        <p:blipFill rotWithShape="1">
          <a:blip r:embed="rId2">
            <a:biLevel thresh="75000"/>
            <a:extLst>
              <a:ext uri="{28A0092B-C50C-407E-A947-70E740481C1C}">
                <a14:useLocalDpi xmlns:a14="http://schemas.microsoft.com/office/drawing/2010/main" val="0"/>
              </a:ext>
            </a:extLst>
          </a:blip>
          <a:srcRect l="11290" t="4981" r="4579" b="11235"/>
          <a:stretch/>
        </p:blipFill>
        <p:spPr bwMode="auto">
          <a:xfrm>
            <a:off x="5869364" y="827376"/>
            <a:ext cx="4581459" cy="456252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11EE7B0-FB49-C974-3229-C9B5DDF752F4}"/>
              </a:ext>
            </a:extLst>
          </p:cNvPr>
          <p:cNvSpPr txBox="1"/>
          <p:nvPr/>
        </p:nvSpPr>
        <p:spPr>
          <a:xfrm>
            <a:off x="9459373" y="2117695"/>
            <a:ext cx="2165688" cy="1077218"/>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Oswald" panose="00000500000000000000" pitchFamily="2" charset="0"/>
                <a:ea typeface="+mn-ea"/>
                <a:cs typeface="Biome Light" panose="020B0303030204020804" pitchFamily="34" charset="0"/>
              </a:rPr>
              <a:t>entry</a:t>
            </a:r>
            <a:r>
              <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 </a:t>
            </a:r>
            <a:r>
              <a:rPr kumimoji="0" lang="en-US" sz="28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rates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are </a:t>
            </a:r>
            <a:r>
              <a:rPr kumimoji="0" lang="en-US" sz="32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falling</a:t>
            </a:r>
            <a:endPar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endParaRPr>
          </a:p>
        </p:txBody>
      </p:sp>
      <p:sp>
        <p:nvSpPr>
          <p:cNvPr id="16" name="TextBox 15">
            <a:extLst>
              <a:ext uri="{FF2B5EF4-FFF2-40B4-BE49-F238E27FC236}">
                <a16:creationId xmlns:a16="http://schemas.microsoft.com/office/drawing/2014/main" id="{BDA6EDA8-23DC-11E3-AA4A-C179C250DD40}"/>
              </a:ext>
            </a:extLst>
          </p:cNvPr>
          <p:cNvSpPr txBox="1"/>
          <p:nvPr/>
        </p:nvSpPr>
        <p:spPr>
          <a:xfrm>
            <a:off x="9594798" y="3807504"/>
            <a:ext cx="1894839" cy="1077218"/>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Oswald" panose="00000500000000000000" pitchFamily="2" charset="0"/>
                <a:ea typeface="+mn-ea"/>
                <a:cs typeface="Biome Light" panose="020B0303030204020804" pitchFamily="34" charset="0"/>
              </a:rPr>
              <a:t>exit</a:t>
            </a:r>
            <a:r>
              <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 </a:t>
            </a:r>
            <a:r>
              <a:rPr kumimoji="0" lang="en-US" sz="28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rates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are </a:t>
            </a:r>
            <a:r>
              <a:rPr kumimoji="0" lang="en-US" sz="32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rising</a:t>
            </a:r>
            <a:endPar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endParaRPr>
          </a:p>
        </p:txBody>
      </p:sp>
      <p:sp>
        <p:nvSpPr>
          <p:cNvPr id="18" name="TextBox 17">
            <a:extLst>
              <a:ext uri="{FF2B5EF4-FFF2-40B4-BE49-F238E27FC236}">
                <a16:creationId xmlns:a16="http://schemas.microsoft.com/office/drawing/2014/main" id="{5FEC5BDB-7F56-B551-0843-E3B6E71E1475}"/>
              </a:ext>
            </a:extLst>
          </p:cNvPr>
          <p:cNvSpPr txBox="1"/>
          <p:nvPr/>
        </p:nvSpPr>
        <p:spPr>
          <a:xfrm>
            <a:off x="5150284" y="1203173"/>
            <a:ext cx="108722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entry rate</a:t>
            </a:r>
          </a:p>
        </p:txBody>
      </p:sp>
      <p:sp>
        <p:nvSpPr>
          <p:cNvPr id="21" name="TextBox 20">
            <a:extLst>
              <a:ext uri="{FF2B5EF4-FFF2-40B4-BE49-F238E27FC236}">
                <a16:creationId xmlns:a16="http://schemas.microsoft.com/office/drawing/2014/main" id="{18E09192-6265-114F-075B-B669A9962209}"/>
              </a:ext>
            </a:extLst>
          </p:cNvPr>
          <p:cNvSpPr txBox="1"/>
          <p:nvPr/>
        </p:nvSpPr>
        <p:spPr>
          <a:xfrm>
            <a:off x="5260666" y="3809502"/>
            <a:ext cx="93678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exit rate</a:t>
            </a:r>
          </a:p>
        </p:txBody>
      </p:sp>
      <p:sp>
        <p:nvSpPr>
          <p:cNvPr id="22" name="TextBox 21">
            <a:extLst>
              <a:ext uri="{FF2B5EF4-FFF2-40B4-BE49-F238E27FC236}">
                <a16:creationId xmlns:a16="http://schemas.microsoft.com/office/drawing/2014/main" id="{BD622697-7403-0F26-2244-3325FEE1691A}"/>
              </a:ext>
            </a:extLst>
          </p:cNvPr>
          <p:cNvSpPr txBox="1"/>
          <p:nvPr/>
        </p:nvSpPr>
        <p:spPr>
          <a:xfrm>
            <a:off x="5014901" y="424535"/>
            <a:ext cx="235477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C5C5C"/>
                </a:solidFill>
                <a:effectLst/>
                <a:uLnTx/>
                <a:uFillTx/>
                <a:latin typeface="Biome Light" panose="020B0303030204020804" pitchFamily="34" charset="0"/>
                <a:ea typeface="Source Code Pro" panose="020B0509030403020204" pitchFamily="49" charset="0"/>
                <a:cs typeface="Biome Light" panose="020B0303030204020804" pitchFamily="34" charset="0"/>
              </a:rPr>
              <a:t>(new nonprofits created each year)</a:t>
            </a:r>
          </a:p>
        </p:txBody>
      </p:sp>
      <p:sp>
        <p:nvSpPr>
          <p:cNvPr id="23" name="TextBox 22">
            <a:extLst>
              <a:ext uri="{FF2B5EF4-FFF2-40B4-BE49-F238E27FC236}">
                <a16:creationId xmlns:a16="http://schemas.microsoft.com/office/drawing/2014/main" id="{51179FEF-1A82-75ED-4F3F-26F8C5204C30}"/>
              </a:ext>
            </a:extLst>
          </p:cNvPr>
          <p:cNvSpPr txBox="1"/>
          <p:nvPr/>
        </p:nvSpPr>
        <p:spPr>
          <a:xfrm>
            <a:off x="4643589" y="4599703"/>
            <a:ext cx="158783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C5C5C"/>
                </a:solidFill>
                <a:effectLst/>
                <a:uLnTx/>
                <a:uFillTx/>
                <a:latin typeface="Biome Light" panose="020B0303030204020804" pitchFamily="34" charset="0"/>
                <a:ea typeface="Source Code Pro" panose="020B0509030403020204" pitchFamily="49" charset="0"/>
                <a:cs typeface="Biome Light" panose="020B0303030204020804" pitchFamily="34" charset="0"/>
              </a:rPr>
              <a:t>(nonprofit closures)</a:t>
            </a:r>
          </a:p>
        </p:txBody>
      </p:sp>
      <p:cxnSp>
        <p:nvCxnSpPr>
          <p:cNvPr id="24" name="Straight Connector 23">
            <a:extLst>
              <a:ext uri="{FF2B5EF4-FFF2-40B4-BE49-F238E27FC236}">
                <a16:creationId xmlns:a16="http://schemas.microsoft.com/office/drawing/2014/main" id="{B2CCFC2C-37C2-4154-1127-25CEF20C1C5B}"/>
              </a:ext>
            </a:extLst>
          </p:cNvPr>
          <p:cNvCxnSpPr>
            <a:cxnSpLocks/>
          </p:cNvCxnSpPr>
          <p:nvPr/>
        </p:nvCxnSpPr>
        <p:spPr>
          <a:xfrm>
            <a:off x="9594798" y="3622727"/>
            <a:ext cx="160774" cy="1847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2B2C40-FF52-353F-C6FF-669E7DBA4A7E}"/>
              </a:ext>
            </a:extLst>
          </p:cNvPr>
          <p:cNvCxnSpPr>
            <a:cxnSpLocks/>
          </p:cNvCxnSpPr>
          <p:nvPr/>
        </p:nvCxnSpPr>
        <p:spPr>
          <a:xfrm flipV="1">
            <a:off x="9671790" y="3265530"/>
            <a:ext cx="115783" cy="957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E8EB2AF-F18C-FA10-2FD2-01FD2362B2B0}"/>
              </a:ext>
            </a:extLst>
          </p:cNvPr>
          <p:cNvSpPr txBox="1"/>
          <p:nvPr/>
        </p:nvSpPr>
        <p:spPr>
          <a:xfrm>
            <a:off x="5237411" y="5976627"/>
            <a:ext cx="1535520" cy="58477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E7E6E6">
                    <a:lumMod val="90000"/>
                  </a:srgbClr>
                </a:solidFill>
                <a:effectLst/>
                <a:uLnTx/>
                <a:uFillTx/>
                <a:latin typeface="Biome Light" panose="020B0303030204020804" pitchFamily="34" charset="0"/>
                <a:ea typeface="+mn-ea"/>
                <a:cs typeface="Biome Light" panose="020B0303030204020804" pitchFamily="34" charset="0"/>
              </a:rPr>
              <a:t>1990</a:t>
            </a:r>
          </a:p>
        </p:txBody>
      </p:sp>
      <p:sp>
        <p:nvSpPr>
          <p:cNvPr id="27" name="TextBox 26">
            <a:extLst>
              <a:ext uri="{FF2B5EF4-FFF2-40B4-BE49-F238E27FC236}">
                <a16:creationId xmlns:a16="http://schemas.microsoft.com/office/drawing/2014/main" id="{028756CE-177F-B1B9-8357-2FCCD7A43DF0}"/>
              </a:ext>
            </a:extLst>
          </p:cNvPr>
          <p:cNvSpPr txBox="1"/>
          <p:nvPr/>
        </p:nvSpPr>
        <p:spPr>
          <a:xfrm>
            <a:off x="9081085" y="5944022"/>
            <a:ext cx="1535520" cy="58477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E7E6E6">
                    <a:lumMod val="90000"/>
                  </a:srgbClr>
                </a:solidFill>
                <a:effectLst/>
                <a:uLnTx/>
                <a:uFillTx/>
                <a:latin typeface="Biome Light" panose="020B0303030204020804" pitchFamily="34" charset="0"/>
                <a:ea typeface="+mn-ea"/>
                <a:cs typeface="Biome Light" panose="020B0303030204020804" pitchFamily="34" charset="0"/>
              </a:rPr>
              <a:t>2015</a:t>
            </a:r>
          </a:p>
        </p:txBody>
      </p:sp>
      <p:cxnSp>
        <p:nvCxnSpPr>
          <p:cNvPr id="28" name="Straight Arrow Connector 27">
            <a:extLst>
              <a:ext uri="{FF2B5EF4-FFF2-40B4-BE49-F238E27FC236}">
                <a16:creationId xmlns:a16="http://schemas.microsoft.com/office/drawing/2014/main" id="{9AD0711C-2269-2CD8-89B1-AB5BB684B0C0}"/>
              </a:ext>
            </a:extLst>
          </p:cNvPr>
          <p:cNvCxnSpPr>
            <a:cxnSpLocks/>
          </p:cNvCxnSpPr>
          <p:nvPr/>
        </p:nvCxnSpPr>
        <p:spPr>
          <a:xfrm>
            <a:off x="6757689" y="6269015"/>
            <a:ext cx="2338638" cy="0"/>
          </a:xfrm>
          <a:prstGeom prst="straightConnector1">
            <a:avLst/>
          </a:prstGeom>
          <a:ln w="22225">
            <a:solidFill>
              <a:schemeClr val="bg2">
                <a:lumMod val="90000"/>
              </a:schemeClr>
            </a:solidFill>
            <a:prstDash val="sysDash"/>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15470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1A4380C-74DE-8602-9862-803BC8AD8A8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5608064-D35D-BCB5-B760-5470E0278EB1}"/>
              </a:ext>
            </a:extLst>
          </p:cNvPr>
          <p:cNvSpPr/>
          <p:nvPr/>
        </p:nvSpPr>
        <p:spPr>
          <a:xfrm>
            <a:off x="0" y="0"/>
            <a:ext cx="4371911" cy="6858000"/>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423" name="Straight Connector 17422">
            <a:extLst>
              <a:ext uri="{FF2B5EF4-FFF2-40B4-BE49-F238E27FC236}">
                <a16:creationId xmlns:a16="http://schemas.microsoft.com/office/drawing/2014/main" id="{6D5315FF-0CFE-CEDF-6307-33AF4D6E77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573887"/>
            <a:ext cx="0" cy="3710227"/>
          </a:xfrm>
          <a:prstGeom prst="line">
            <a:avLst/>
          </a:prstGeom>
          <a:ln w="19050">
            <a:solidFill>
              <a:srgbClr val="0083FF"/>
            </a:solidFill>
          </a:ln>
        </p:spPr>
        <p:style>
          <a:lnRef idx="1">
            <a:schemeClr val="accent1"/>
          </a:lnRef>
          <a:fillRef idx="0">
            <a:schemeClr val="accent1"/>
          </a:fillRef>
          <a:effectRef idx="0">
            <a:schemeClr val="accent1"/>
          </a:effectRef>
          <a:fontRef idx="minor">
            <a:schemeClr val="tx1"/>
          </a:fontRef>
        </p:style>
      </p:cxnSp>
      <p:pic>
        <p:nvPicPr>
          <p:cNvPr id="17412" name="Picture 4" descr="A screenshot of a graph&#10;&#10;Description automatically generated">
            <a:extLst>
              <a:ext uri="{FF2B5EF4-FFF2-40B4-BE49-F238E27FC236}">
                <a16:creationId xmlns:a16="http://schemas.microsoft.com/office/drawing/2014/main" id="{3968F0FC-0ECC-9A8C-960C-DC2F8F5DFD9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bwMode="auto">
          <a:xfrm>
            <a:off x="4912496" y="1294977"/>
            <a:ext cx="4604800" cy="4604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3B649CE-775D-5F7E-BF01-6EA5F4196B73}"/>
              </a:ext>
            </a:extLst>
          </p:cNvPr>
          <p:cNvSpPr txBox="1"/>
          <p:nvPr/>
        </p:nvSpPr>
        <p:spPr>
          <a:xfrm>
            <a:off x="129562" y="1203173"/>
            <a:ext cx="4040299"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Oswald" panose="00000500000000000000" pitchFamily="2" charset="0"/>
                <a:ea typeface="+mn-ea"/>
                <a:cs typeface="+mn-cs"/>
              </a:rPr>
              <a:t>Tipping Point in the growth of the US Nonprofit Sector?</a:t>
            </a:r>
          </a:p>
        </p:txBody>
      </p:sp>
      <p:sp>
        <p:nvSpPr>
          <p:cNvPr id="4" name="Rectangle 3">
            <a:extLst>
              <a:ext uri="{FF2B5EF4-FFF2-40B4-BE49-F238E27FC236}">
                <a16:creationId xmlns:a16="http://schemas.microsoft.com/office/drawing/2014/main" id="{B85BEFD2-BCC5-EFFF-5F90-5EF762D666BC}"/>
              </a:ext>
            </a:extLst>
          </p:cNvPr>
          <p:cNvSpPr/>
          <p:nvPr/>
        </p:nvSpPr>
        <p:spPr>
          <a:xfrm>
            <a:off x="9374049" y="1607333"/>
            <a:ext cx="342168" cy="382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97B9146E-54D5-4CB3-2E6F-240CDE19A03F}"/>
              </a:ext>
            </a:extLst>
          </p:cNvPr>
          <p:cNvSpPr txBox="1"/>
          <p:nvPr/>
        </p:nvSpPr>
        <p:spPr>
          <a:xfrm>
            <a:off x="4875137" y="5804991"/>
            <a:ext cx="4852040" cy="80021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AEAEAE"/>
              </a:solidFill>
              <a:effectLst/>
              <a:uLnTx/>
              <a:uFillTx/>
              <a:latin typeface="Biome Light" panose="020B0303030204020804" pitchFamily="34" charset="0"/>
              <a:ea typeface="Source Code Pro" panose="020B0509030403020204" pitchFamily="49" charset="0"/>
              <a:cs typeface="Biome Light" panose="020B03030302040208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EAEAE"/>
                </a:solidFill>
                <a:effectLst/>
                <a:uLnTx/>
                <a:uFillTx/>
                <a:latin typeface="Biome Light" panose="020B0303030204020804" pitchFamily="34" charset="0"/>
                <a:ea typeface="Source Code Pro" panose="020B0509030403020204" pitchFamily="49" charset="0"/>
                <a:cs typeface="Biome Light" panose="020B0303030204020804" pitchFamily="34" charset="0"/>
              </a:rPr>
              <a:t>Vital rates across all US Metros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AEAEAE"/>
              </a:solidFill>
              <a:effectLst/>
              <a:uLnTx/>
              <a:uFillTx/>
              <a:latin typeface="Biome Light" panose="020B0303030204020804" pitchFamily="34" charset="0"/>
              <a:ea typeface="Source Code Pro" panose="020B0509030403020204" pitchFamily="49" charset="0"/>
              <a:cs typeface="Biome Light" panose="020B0303030204020804" pitchFamily="34" charset="0"/>
            </a:endParaRPr>
          </a:p>
        </p:txBody>
      </p:sp>
      <p:sp>
        <p:nvSpPr>
          <p:cNvPr id="8" name="TextBox 7">
            <a:extLst>
              <a:ext uri="{FF2B5EF4-FFF2-40B4-BE49-F238E27FC236}">
                <a16:creationId xmlns:a16="http://schemas.microsoft.com/office/drawing/2014/main" id="{AB6B4691-07E3-5F72-5C7F-5711FE052832}"/>
              </a:ext>
            </a:extLst>
          </p:cNvPr>
          <p:cNvSpPr txBox="1"/>
          <p:nvPr/>
        </p:nvSpPr>
        <p:spPr>
          <a:xfrm>
            <a:off x="5106741" y="1620601"/>
            <a:ext cx="1202573"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ADADAD"/>
                </a:solidFill>
                <a:effectLst/>
                <a:uLnTx/>
                <a:uFillTx/>
                <a:latin typeface="Britannic Bold" panose="020B0903060703020204" pitchFamily="34" charset="0"/>
                <a:ea typeface="+mn-ea"/>
                <a:cs typeface="Biome Light" panose="020B0303030204020804" pitchFamily="34" charset="0"/>
              </a:rPr>
              <a:t>12%</a:t>
            </a:r>
          </a:p>
        </p:txBody>
      </p:sp>
      <p:sp>
        <p:nvSpPr>
          <p:cNvPr id="9" name="TextBox 8">
            <a:extLst>
              <a:ext uri="{FF2B5EF4-FFF2-40B4-BE49-F238E27FC236}">
                <a16:creationId xmlns:a16="http://schemas.microsoft.com/office/drawing/2014/main" id="{D9E12A48-7A70-A3C4-532D-221B49E94882}"/>
              </a:ext>
            </a:extLst>
          </p:cNvPr>
          <p:cNvSpPr txBox="1"/>
          <p:nvPr/>
        </p:nvSpPr>
        <p:spPr>
          <a:xfrm>
            <a:off x="5235460" y="4371085"/>
            <a:ext cx="88998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ADADAD"/>
                </a:solidFill>
                <a:effectLst/>
                <a:uLnTx/>
                <a:uFillTx/>
                <a:latin typeface="Britannic Bold" panose="020B0903060703020204" pitchFamily="34" charset="0"/>
                <a:ea typeface="+mn-ea"/>
                <a:cs typeface="Biome Light" panose="020B0303030204020804" pitchFamily="34" charset="0"/>
              </a:rPr>
              <a:t>7%</a:t>
            </a:r>
          </a:p>
        </p:txBody>
      </p:sp>
      <p:sp>
        <p:nvSpPr>
          <p:cNvPr id="10" name="TextBox 9">
            <a:extLst>
              <a:ext uri="{FF2B5EF4-FFF2-40B4-BE49-F238E27FC236}">
                <a16:creationId xmlns:a16="http://schemas.microsoft.com/office/drawing/2014/main" id="{30D7FD3F-D712-372E-D5C1-967FD974BE47}"/>
              </a:ext>
            </a:extLst>
          </p:cNvPr>
          <p:cNvSpPr txBox="1"/>
          <p:nvPr/>
        </p:nvSpPr>
        <p:spPr>
          <a:xfrm>
            <a:off x="10111073" y="1652337"/>
            <a:ext cx="1535520" cy="707886"/>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7D31">
                    <a:lumMod val="75000"/>
                  </a:srgbClr>
                </a:solidFill>
                <a:effectLst/>
                <a:uLnTx/>
                <a:uFillTx/>
                <a:latin typeface="Biome Light" panose="020B0303030204020804" pitchFamily="34" charset="0"/>
                <a:ea typeface="+mn-ea"/>
                <a:cs typeface="Biome Light" panose="020B0303030204020804" pitchFamily="34" charset="0"/>
              </a:rPr>
              <a:t>1991</a:t>
            </a:r>
          </a:p>
        </p:txBody>
      </p:sp>
      <p:sp>
        <p:nvSpPr>
          <p:cNvPr id="12" name="TextBox 11">
            <a:extLst>
              <a:ext uri="{FF2B5EF4-FFF2-40B4-BE49-F238E27FC236}">
                <a16:creationId xmlns:a16="http://schemas.microsoft.com/office/drawing/2014/main" id="{A72C11F5-6C09-0F64-883E-80F2AB54B2C7}"/>
              </a:ext>
            </a:extLst>
          </p:cNvPr>
          <p:cNvSpPr txBox="1"/>
          <p:nvPr/>
        </p:nvSpPr>
        <p:spPr>
          <a:xfrm>
            <a:off x="10111073" y="4390854"/>
            <a:ext cx="1535520" cy="707886"/>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7D31">
                    <a:lumMod val="75000"/>
                  </a:srgbClr>
                </a:solidFill>
                <a:effectLst/>
                <a:uLnTx/>
                <a:uFillTx/>
                <a:latin typeface="Biome Light" panose="020B0303030204020804" pitchFamily="34" charset="0"/>
                <a:ea typeface="+mn-ea"/>
                <a:cs typeface="Biome Light" panose="020B0303030204020804" pitchFamily="34" charset="0"/>
              </a:rPr>
              <a:t>2010</a:t>
            </a:r>
          </a:p>
        </p:txBody>
      </p:sp>
      <p:sp>
        <p:nvSpPr>
          <p:cNvPr id="13" name="TextBox 12">
            <a:extLst>
              <a:ext uri="{FF2B5EF4-FFF2-40B4-BE49-F238E27FC236}">
                <a16:creationId xmlns:a16="http://schemas.microsoft.com/office/drawing/2014/main" id="{B7BAA37E-B22C-6B8D-C768-2CFF067328A7}"/>
              </a:ext>
            </a:extLst>
          </p:cNvPr>
          <p:cNvSpPr txBox="1"/>
          <p:nvPr/>
        </p:nvSpPr>
        <p:spPr>
          <a:xfrm>
            <a:off x="7116681" y="1607333"/>
            <a:ext cx="88998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ADADAD"/>
                </a:solidFill>
                <a:effectLst/>
                <a:uLnTx/>
                <a:uFillTx/>
                <a:latin typeface="Britannic Bold" panose="020B0903060703020204" pitchFamily="34" charset="0"/>
                <a:ea typeface="+mn-ea"/>
                <a:cs typeface="Biome Light" panose="020B0303030204020804" pitchFamily="34" charset="0"/>
              </a:rPr>
              <a:t>4%</a:t>
            </a:r>
          </a:p>
        </p:txBody>
      </p:sp>
      <p:sp>
        <p:nvSpPr>
          <p:cNvPr id="14" name="TextBox 13">
            <a:extLst>
              <a:ext uri="{FF2B5EF4-FFF2-40B4-BE49-F238E27FC236}">
                <a16:creationId xmlns:a16="http://schemas.microsoft.com/office/drawing/2014/main" id="{0BAE03C9-2198-F035-A81A-D250D2139BBE}"/>
              </a:ext>
            </a:extLst>
          </p:cNvPr>
          <p:cNvSpPr txBox="1"/>
          <p:nvPr/>
        </p:nvSpPr>
        <p:spPr>
          <a:xfrm>
            <a:off x="7111423" y="4342504"/>
            <a:ext cx="88998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ADADAD"/>
                </a:solidFill>
                <a:effectLst/>
                <a:uLnTx/>
                <a:uFillTx/>
                <a:latin typeface="Britannic Bold" panose="020B0903060703020204" pitchFamily="34" charset="0"/>
                <a:ea typeface="+mn-ea"/>
                <a:cs typeface="Biome Light" panose="020B0303030204020804" pitchFamily="34" charset="0"/>
              </a:rPr>
              <a:t>7%</a:t>
            </a:r>
          </a:p>
        </p:txBody>
      </p:sp>
      <p:sp>
        <p:nvSpPr>
          <p:cNvPr id="15" name="TextBox 14">
            <a:extLst>
              <a:ext uri="{FF2B5EF4-FFF2-40B4-BE49-F238E27FC236}">
                <a16:creationId xmlns:a16="http://schemas.microsoft.com/office/drawing/2014/main" id="{5DCF525F-131C-1AA5-9C3A-9EB857ECA378}"/>
              </a:ext>
            </a:extLst>
          </p:cNvPr>
          <p:cNvSpPr txBox="1"/>
          <p:nvPr/>
        </p:nvSpPr>
        <p:spPr>
          <a:xfrm>
            <a:off x="8500077" y="1607333"/>
            <a:ext cx="89159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7D31">
                    <a:lumMod val="75000"/>
                  </a:srgbClr>
                </a:solidFill>
                <a:effectLst/>
                <a:uLnTx/>
                <a:uFillTx/>
                <a:latin typeface="Britannic Bold" panose="020B0903060703020204" pitchFamily="34" charset="0"/>
                <a:ea typeface="+mn-ea"/>
                <a:cs typeface="Biome Light" panose="020B0303030204020804" pitchFamily="34" charset="0"/>
              </a:rPr>
              <a:t>8%</a:t>
            </a:r>
          </a:p>
        </p:txBody>
      </p:sp>
      <p:sp>
        <p:nvSpPr>
          <p:cNvPr id="17" name="TextBox 16">
            <a:extLst>
              <a:ext uri="{FF2B5EF4-FFF2-40B4-BE49-F238E27FC236}">
                <a16:creationId xmlns:a16="http://schemas.microsoft.com/office/drawing/2014/main" id="{BC9C1C68-713B-340A-8C2F-1D0BD258B37E}"/>
              </a:ext>
            </a:extLst>
          </p:cNvPr>
          <p:cNvSpPr txBox="1"/>
          <p:nvPr/>
        </p:nvSpPr>
        <p:spPr>
          <a:xfrm>
            <a:off x="8465382" y="4354801"/>
            <a:ext cx="88998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7D31">
                    <a:lumMod val="75000"/>
                  </a:srgbClr>
                </a:solidFill>
                <a:effectLst/>
                <a:uLnTx/>
                <a:uFillTx/>
                <a:latin typeface="Britannic Bold" panose="020B0903060703020204" pitchFamily="34" charset="0"/>
                <a:ea typeface="+mn-ea"/>
                <a:cs typeface="Biome Light" panose="020B0303030204020804" pitchFamily="34" charset="0"/>
              </a:rPr>
              <a:t>0%</a:t>
            </a:r>
          </a:p>
        </p:txBody>
      </p:sp>
      <p:sp>
        <p:nvSpPr>
          <p:cNvPr id="19" name="TextBox 18">
            <a:extLst>
              <a:ext uri="{FF2B5EF4-FFF2-40B4-BE49-F238E27FC236}">
                <a16:creationId xmlns:a16="http://schemas.microsoft.com/office/drawing/2014/main" id="{E0E64EB7-98D3-F031-88F1-49186355A878}"/>
              </a:ext>
            </a:extLst>
          </p:cNvPr>
          <p:cNvSpPr txBox="1"/>
          <p:nvPr/>
        </p:nvSpPr>
        <p:spPr>
          <a:xfrm>
            <a:off x="4966828" y="207172"/>
            <a:ext cx="1587833" cy="132343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a:t>
            </a:r>
            <a:r>
              <a:rPr kumimoji="0" lang="en-US" sz="3600" b="1"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entry</a:t>
            </a: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rates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endParaRPr>
          </a:p>
        </p:txBody>
      </p:sp>
      <p:sp>
        <p:nvSpPr>
          <p:cNvPr id="20" name="TextBox 19">
            <a:extLst>
              <a:ext uri="{FF2B5EF4-FFF2-40B4-BE49-F238E27FC236}">
                <a16:creationId xmlns:a16="http://schemas.microsoft.com/office/drawing/2014/main" id="{2DBCBE9D-84E8-7F8C-C483-BB7A29467537}"/>
              </a:ext>
            </a:extLst>
          </p:cNvPr>
          <p:cNvSpPr txBox="1"/>
          <p:nvPr/>
        </p:nvSpPr>
        <p:spPr>
          <a:xfrm>
            <a:off x="6693330" y="204752"/>
            <a:ext cx="1430847" cy="132343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a:t>
            </a:r>
            <a:r>
              <a:rPr kumimoji="0" lang="en-US" sz="3600" b="1"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exit</a:t>
            </a: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rates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endParaRPr>
          </a:p>
        </p:txBody>
      </p:sp>
      <p:cxnSp>
        <p:nvCxnSpPr>
          <p:cNvPr id="39" name="Straight Arrow Connector 38">
            <a:extLst>
              <a:ext uri="{FF2B5EF4-FFF2-40B4-BE49-F238E27FC236}">
                <a16:creationId xmlns:a16="http://schemas.microsoft.com/office/drawing/2014/main" id="{726F38D1-B4D2-BF6D-92A8-097103A6081C}"/>
              </a:ext>
            </a:extLst>
          </p:cNvPr>
          <p:cNvCxnSpPr>
            <a:cxnSpLocks/>
          </p:cNvCxnSpPr>
          <p:nvPr/>
        </p:nvCxnSpPr>
        <p:spPr>
          <a:xfrm>
            <a:off x="10912903" y="3717568"/>
            <a:ext cx="0" cy="561088"/>
          </a:xfrm>
          <a:prstGeom prst="straightConnector1">
            <a:avLst/>
          </a:prstGeom>
          <a:ln w="3492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82B65EE-C91A-2F52-FE22-194654EC59FD}"/>
              </a:ext>
            </a:extLst>
          </p:cNvPr>
          <p:cNvSpPr txBox="1"/>
          <p:nvPr/>
        </p:nvSpPr>
        <p:spPr>
          <a:xfrm>
            <a:off x="10103293" y="2394129"/>
            <a:ext cx="1551079"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err="1">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ave.</a:t>
            </a:r>
            <a:endPar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sector </a:t>
            </a:r>
            <a:br>
              <a:rPr kumimoji="0" lang="en-US" sz="20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br>
            <a:r>
              <a:rPr kumimoji="0" lang="en-US" sz="24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growth</a:t>
            </a:r>
            <a:r>
              <a:rPr kumimoji="0" lang="en-US" sz="2000" b="1"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Biome Light" panose="020B0303030204020804" pitchFamily="34" charset="0"/>
              </a:rPr>
              <a:t> </a:t>
            </a:r>
          </a:p>
        </p:txBody>
      </p:sp>
      <p:cxnSp>
        <p:nvCxnSpPr>
          <p:cNvPr id="2" name="Straight Arrow Connector 1">
            <a:extLst>
              <a:ext uri="{FF2B5EF4-FFF2-40B4-BE49-F238E27FC236}">
                <a16:creationId xmlns:a16="http://schemas.microsoft.com/office/drawing/2014/main" id="{9ABAE94E-81B9-6895-F820-7CBF6F9F67A0}"/>
              </a:ext>
            </a:extLst>
          </p:cNvPr>
          <p:cNvCxnSpPr>
            <a:cxnSpLocks/>
          </p:cNvCxnSpPr>
          <p:nvPr/>
        </p:nvCxnSpPr>
        <p:spPr>
          <a:xfrm>
            <a:off x="9103153" y="3073911"/>
            <a:ext cx="0" cy="863236"/>
          </a:xfrm>
          <a:prstGeom prst="straightConnector1">
            <a:avLst/>
          </a:prstGeom>
          <a:ln w="34925">
            <a:solidFill>
              <a:schemeClr val="accent2">
                <a:lumMod val="75000"/>
              </a:schemeClr>
            </a:solidFill>
            <a:prstDash val="sysDash"/>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A2CACC1-4214-CEE6-7A60-E44E9A05CEFD}"/>
              </a:ext>
            </a:extLst>
          </p:cNvPr>
          <p:cNvSpPr txBox="1"/>
          <p:nvPr/>
        </p:nvSpPr>
        <p:spPr>
          <a:xfrm>
            <a:off x="8114286" y="345347"/>
            <a:ext cx="1430847" cy="1169551"/>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sector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rPr>
              <a:t>growth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ADADAD"/>
              </a:solidFill>
              <a:effectLst/>
              <a:uLnTx/>
              <a:uFillTx/>
              <a:latin typeface="Oswald" panose="00000500000000000000" pitchFamily="2" charset="0"/>
              <a:ea typeface="+mn-ea"/>
              <a:cs typeface="Biome Light" panose="020B0303030204020804" pitchFamily="34" charset="0"/>
            </a:endParaRPr>
          </a:p>
        </p:txBody>
      </p:sp>
    </p:spTree>
    <p:extLst>
      <p:ext uri="{BB962C8B-B14F-4D97-AF65-F5344CB8AC3E}">
        <p14:creationId xmlns:p14="http://schemas.microsoft.com/office/powerpoint/2010/main" val="7077934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F5075D-123A-BB76-B4F4-E0F4D8DC7F8F}"/>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14238D69-D980-F788-F75C-D917116B4067}"/>
              </a:ext>
            </a:extLst>
          </p:cNvPr>
          <p:cNvSpPr/>
          <p:nvPr/>
        </p:nvSpPr>
        <p:spPr>
          <a:xfrm>
            <a:off x="0" y="0"/>
            <a:ext cx="6883484"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218" name="Picture 2">
            <a:extLst>
              <a:ext uri="{FF2B5EF4-FFF2-40B4-BE49-F238E27FC236}">
                <a16:creationId xmlns:a16="http://schemas.microsoft.com/office/drawing/2014/main" id="{FC730D7E-B175-342D-09CD-A10D13F36F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30"/>
          <a:stretch/>
        </p:blipFill>
        <p:spPr bwMode="auto">
          <a:xfrm>
            <a:off x="7180146" y="603941"/>
            <a:ext cx="4886325" cy="6130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E58CA340-AA97-94F1-15EB-B72B5DE2CCA2}"/>
              </a:ext>
            </a:extLst>
          </p:cNvPr>
          <p:cNvSpPr/>
          <p:nvPr/>
        </p:nvSpPr>
        <p:spPr>
          <a:xfrm>
            <a:off x="1410935" y="5358590"/>
            <a:ext cx="3902499"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Klepper</a:t>
            </a:r>
            <a:r>
              <a:rPr kumimoji="0" lang="en-US" sz="14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S., &amp; Simons, K. L. (2005). Industry shakeouts and technological change. </a:t>
            </a:r>
            <a:r>
              <a:rPr kumimoji="0" lang="en-US" sz="1400" b="0" i="1"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International Journal of Industrial Organization</a:t>
            </a:r>
            <a:r>
              <a:rPr kumimoji="0" lang="en-US" sz="14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US" sz="1400" b="0" i="1"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23</a:t>
            </a:r>
            <a:r>
              <a:rPr kumimoji="0" lang="en-US" sz="14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(1), 23-43.</a:t>
            </a:r>
          </a:p>
        </p:txBody>
      </p:sp>
      <p:sp>
        <p:nvSpPr>
          <p:cNvPr id="3" name="TextBox 2">
            <a:extLst>
              <a:ext uri="{FF2B5EF4-FFF2-40B4-BE49-F238E27FC236}">
                <a16:creationId xmlns:a16="http://schemas.microsoft.com/office/drawing/2014/main" id="{A7C9B951-33A4-7408-FAB0-30F1A455EBD7}"/>
              </a:ext>
            </a:extLst>
          </p:cNvPr>
          <p:cNvSpPr txBox="1"/>
          <p:nvPr/>
        </p:nvSpPr>
        <p:spPr>
          <a:xfrm>
            <a:off x="1451058" y="4181087"/>
            <a:ext cx="3770584"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Industry Shake-Out</a:t>
            </a:r>
          </a:p>
        </p:txBody>
      </p:sp>
      <p:sp>
        <p:nvSpPr>
          <p:cNvPr id="4" name="Slide Number Placeholder 3">
            <a:extLst>
              <a:ext uri="{FF2B5EF4-FFF2-40B4-BE49-F238E27FC236}">
                <a16:creationId xmlns:a16="http://schemas.microsoft.com/office/drawing/2014/main" id="{A58E11C1-7624-C22C-EF1F-2C53E4A7753A}"/>
              </a:ext>
            </a:extLst>
          </p:cNvPr>
          <p:cNvSpPr>
            <a:spLocks noGrp="1"/>
          </p:cNvSpPr>
          <p:nvPr>
            <p:ph type="sldNum" sz="quarter" idx="12"/>
          </p:nvPr>
        </p:nvSpPr>
        <p:spPr>
          <a:xfrm>
            <a:off x="8847582" y="623262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4399FF0-38C9-F161-A37A-68431C8A66F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9779"/>
          <a:stretch/>
        </p:blipFill>
        <p:spPr>
          <a:xfrm>
            <a:off x="1000786" y="1402028"/>
            <a:ext cx="5261167" cy="2217036"/>
          </a:xfrm>
          <a:prstGeom prst="rect">
            <a:avLst/>
          </a:prstGeom>
        </p:spPr>
      </p:pic>
      <p:sp>
        <p:nvSpPr>
          <p:cNvPr id="6" name="TextBox 5">
            <a:extLst>
              <a:ext uri="{FF2B5EF4-FFF2-40B4-BE49-F238E27FC236}">
                <a16:creationId xmlns:a16="http://schemas.microsoft.com/office/drawing/2014/main" id="{296C5D48-792E-D373-F93C-DFA84B85CDBA}"/>
              </a:ext>
            </a:extLst>
          </p:cNvPr>
          <p:cNvSpPr txBox="1"/>
          <p:nvPr/>
        </p:nvSpPr>
        <p:spPr>
          <a:xfrm>
            <a:off x="159760" y="1120078"/>
            <a:ext cx="2010487"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new industry,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few firms &amp; small</a:t>
            </a:r>
          </a:p>
        </p:txBody>
      </p:sp>
      <p:cxnSp>
        <p:nvCxnSpPr>
          <p:cNvPr id="8" name="Straight Arrow Connector 7">
            <a:extLst>
              <a:ext uri="{FF2B5EF4-FFF2-40B4-BE49-F238E27FC236}">
                <a16:creationId xmlns:a16="http://schemas.microsoft.com/office/drawing/2014/main" id="{C21787AE-4BD4-6F5C-F21A-2370A2C82B69}"/>
              </a:ext>
            </a:extLst>
          </p:cNvPr>
          <p:cNvCxnSpPr/>
          <p:nvPr/>
        </p:nvCxnSpPr>
        <p:spPr>
          <a:xfrm>
            <a:off x="1044559" y="1709411"/>
            <a:ext cx="175491" cy="618836"/>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46A3D7D-869F-2B61-CCEB-85112CDDECEC}"/>
              </a:ext>
            </a:extLst>
          </p:cNvPr>
          <p:cNvSpPr txBox="1"/>
          <p:nvPr/>
        </p:nvSpPr>
        <p:spPr>
          <a:xfrm>
            <a:off x="2644484" y="234609"/>
            <a:ext cx="147348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market peak</a:t>
            </a:r>
            <a:r>
              <a:rPr kumimoji="0" lang="en-US" sz="1400" b="0"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large number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of firms</a:t>
            </a:r>
          </a:p>
        </p:txBody>
      </p:sp>
      <p:sp>
        <p:nvSpPr>
          <p:cNvPr id="11" name="TextBox 10">
            <a:extLst>
              <a:ext uri="{FF2B5EF4-FFF2-40B4-BE49-F238E27FC236}">
                <a16:creationId xmlns:a16="http://schemas.microsoft.com/office/drawing/2014/main" id="{BDD406E6-A10A-5AB6-8F0C-EFC7EB2F24FB}"/>
              </a:ext>
            </a:extLst>
          </p:cNvPr>
          <p:cNvSpPr txBox="1"/>
          <p:nvPr/>
        </p:nvSpPr>
        <p:spPr>
          <a:xfrm>
            <a:off x="4614800" y="1120078"/>
            <a:ext cx="2010487"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consolidation,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few firms &amp; large</a:t>
            </a:r>
          </a:p>
        </p:txBody>
      </p:sp>
      <p:cxnSp>
        <p:nvCxnSpPr>
          <p:cNvPr id="12" name="Straight Arrow Connector 11">
            <a:extLst>
              <a:ext uri="{FF2B5EF4-FFF2-40B4-BE49-F238E27FC236}">
                <a16:creationId xmlns:a16="http://schemas.microsoft.com/office/drawing/2014/main" id="{B8F28863-9008-037D-8B9F-AED8C1C3A513}"/>
              </a:ext>
            </a:extLst>
          </p:cNvPr>
          <p:cNvCxnSpPr>
            <a:cxnSpLocks/>
          </p:cNvCxnSpPr>
          <p:nvPr/>
        </p:nvCxnSpPr>
        <p:spPr>
          <a:xfrm flipH="1">
            <a:off x="5421444" y="1736028"/>
            <a:ext cx="188910" cy="618836"/>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6651692-661B-0CB0-75DF-31D850F1E077}"/>
              </a:ext>
            </a:extLst>
          </p:cNvPr>
          <p:cNvSpPr txBox="1"/>
          <p:nvPr/>
        </p:nvSpPr>
        <p:spPr>
          <a:xfrm>
            <a:off x="7811933" y="603941"/>
            <a:ext cx="1498167"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DADAD"/>
                </a:solidFill>
                <a:effectLst/>
                <a:uLnTx/>
                <a:uFillTx/>
                <a:latin typeface="Oswald" panose="00000500000000000000" pitchFamily="2" charset="0"/>
                <a:ea typeface="+mn-ea"/>
                <a:cs typeface="+mn-cs"/>
              </a:rPr>
              <a:t>Automobiles</a:t>
            </a:r>
          </a:p>
        </p:txBody>
      </p:sp>
      <p:sp>
        <p:nvSpPr>
          <p:cNvPr id="16" name="TextBox 15">
            <a:extLst>
              <a:ext uri="{FF2B5EF4-FFF2-40B4-BE49-F238E27FC236}">
                <a16:creationId xmlns:a16="http://schemas.microsoft.com/office/drawing/2014/main" id="{299E074E-C0DC-60A3-4EEA-3DF28B70516B}"/>
              </a:ext>
            </a:extLst>
          </p:cNvPr>
          <p:cNvSpPr txBox="1"/>
          <p:nvPr/>
        </p:nvSpPr>
        <p:spPr>
          <a:xfrm>
            <a:off x="10502912" y="603941"/>
            <a:ext cx="693203"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DADAD"/>
                </a:solidFill>
                <a:effectLst/>
                <a:uLnTx/>
                <a:uFillTx/>
                <a:latin typeface="Oswald" panose="00000500000000000000" pitchFamily="2" charset="0"/>
                <a:ea typeface="+mn-ea"/>
                <a:cs typeface="+mn-cs"/>
              </a:rPr>
              <a:t>Tires</a:t>
            </a:r>
          </a:p>
        </p:txBody>
      </p:sp>
      <p:sp>
        <p:nvSpPr>
          <p:cNvPr id="17" name="TextBox 16">
            <a:extLst>
              <a:ext uri="{FF2B5EF4-FFF2-40B4-BE49-F238E27FC236}">
                <a16:creationId xmlns:a16="http://schemas.microsoft.com/office/drawing/2014/main" id="{05E182CC-902E-E9C9-2283-62A215D4D5C5}"/>
              </a:ext>
            </a:extLst>
          </p:cNvPr>
          <p:cNvSpPr txBox="1"/>
          <p:nvPr/>
        </p:nvSpPr>
        <p:spPr>
          <a:xfrm>
            <a:off x="7948188" y="3669108"/>
            <a:ext cx="1305870"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DADAD"/>
                </a:solidFill>
                <a:effectLst/>
                <a:uLnTx/>
                <a:uFillTx/>
                <a:latin typeface="Oswald" panose="00000500000000000000" pitchFamily="2" charset="0"/>
                <a:ea typeface="+mn-ea"/>
                <a:cs typeface="+mn-cs"/>
              </a:rPr>
              <a:t>Televisions</a:t>
            </a:r>
          </a:p>
        </p:txBody>
      </p:sp>
      <p:sp>
        <p:nvSpPr>
          <p:cNvPr id="18" name="TextBox 17">
            <a:extLst>
              <a:ext uri="{FF2B5EF4-FFF2-40B4-BE49-F238E27FC236}">
                <a16:creationId xmlns:a16="http://schemas.microsoft.com/office/drawing/2014/main" id="{2A9432DC-7C48-40BD-CCFB-344A518DDB60}"/>
              </a:ext>
            </a:extLst>
          </p:cNvPr>
          <p:cNvSpPr txBox="1"/>
          <p:nvPr/>
        </p:nvSpPr>
        <p:spPr>
          <a:xfrm>
            <a:off x="10299331" y="3669108"/>
            <a:ext cx="1163204"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DADAD"/>
                </a:solidFill>
                <a:effectLst/>
                <a:uLnTx/>
                <a:uFillTx/>
                <a:latin typeface="Oswald" panose="00000500000000000000" pitchFamily="2" charset="0"/>
                <a:ea typeface="+mn-ea"/>
                <a:cs typeface="+mn-cs"/>
              </a:rPr>
              <a:t>Penicillin</a:t>
            </a:r>
          </a:p>
        </p:txBody>
      </p:sp>
      <p:cxnSp>
        <p:nvCxnSpPr>
          <p:cNvPr id="19" name="Straight Arrow Connector 18">
            <a:extLst>
              <a:ext uri="{FF2B5EF4-FFF2-40B4-BE49-F238E27FC236}">
                <a16:creationId xmlns:a16="http://schemas.microsoft.com/office/drawing/2014/main" id="{4ACA0DE1-34E5-FFB3-B6C8-D8A7ACDCDF81}"/>
              </a:ext>
            </a:extLst>
          </p:cNvPr>
          <p:cNvCxnSpPr>
            <a:cxnSpLocks/>
          </p:cNvCxnSpPr>
          <p:nvPr/>
        </p:nvCxnSpPr>
        <p:spPr>
          <a:xfrm flipV="1">
            <a:off x="3317594" y="2354864"/>
            <a:ext cx="0" cy="591684"/>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F309EEE-A7F5-DAA5-1D56-504E70046D16}"/>
              </a:ext>
            </a:extLst>
          </p:cNvPr>
          <p:cNvSpPr txBox="1"/>
          <p:nvPr/>
        </p:nvSpPr>
        <p:spPr>
          <a:xfrm>
            <a:off x="2063905" y="2946548"/>
            <a:ext cx="2654894" cy="5539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Oswald" panose="00000500000000000000" pitchFamily="2" charset="0"/>
                <a:ea typeface="+mn-ea"/>
                <a:cs typeface="+mn-cs"/>
              </a:rPr>
              <a:t>tipping point: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Source Code Pro" panose="020B0509030403020204" pitchFamily="49" charset="0"/>
                <a:ea typeface="Source Code Pro" panose="020B0509030403020204" pitchFamily="49" charset="0"/>
                <a:cs typeface="+mn-cs"/>
              </a:rPr>
              <a:t>firm exits exceed entry</a:t>
            </a:r>
          </a:p>
        </p:txBody>
      </p:sp>
      <p:sp>
        <p:nvSpPr>
          <p:cNvPr id="23" name="TextBox 22">
            <a:extLst>
              <a:ext uri="{FF2B5EF4-FFF2-40B4-BE49-F238E27FC236}">
                <a16:creationId xmlns:a16="http://schemas.microsoft.com/office/drawing/2014/main" id="{3176D5D2-19EF-8354-6B87-0F934964A3F0}"/>
              </a:ext>
            </a:extLst>
          </p:cNvPr>
          <p:cNvSpPr txBox="1"/>
          <p:nvPr/>
        </p:nvSpPr>
        <p:spPr>
          <a:xfrm>
            <a:off x="199623" y="2216274"/>
            <a:ext cx="873957"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number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of active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firms</a:t>
            </a:r>
          </a:p>
        </p:txBody>
      </p:sp>
      <p:sp>
        <p:nvSpPr>
          <p:cNvPr id="24" name="TextBox 23">
            <a:extLst>
              <a:ext uri="{FF2B5EF4-FFF2-40B4-BE49-F238E27FC236}">
                <a16:creationId xmlns:a16="http://schemas.microsoft.com/office/drawing/2014/main" id="{6B3D38CF-735C-DB63-4BD6-8B9EE638DA9A}"/>
              </a:ext>
            </a:extLst>
          </p:cNvPr>
          <p:cNvSpPr txBox="1"/>
          <p:nvPr/>
        </p:nvSpPr>
        <p:spPr>
          <a:xfrm rot="19918659">
            <a:off x="1306309" y="2621827"/>
            <a:ext cx="1295547"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firm entry rate</a:t>
            </a:r>
          </a:p>
        </p:txBody>
      </p:sp>
      <p:sp>
        <p:nvSpPr>
          <p:cNvPr id="25" name="TextBox 24">
            <a:extLst>
              <a:ext uri="{FF2B5EF4-FFF2-40B4-BE49-F238E27FC236}">
                <a16:creationId xmlns:a16="http://schemas.microsoft.com/office/drawing/2014/main" id="{5D046855-7A99-4A07-88A4-A9343662F449}"/>
              </a:ext>
            </a:extLst>
          </p:cNvPr>
          <p:cNvSpPr txBox="1"/>
          <p:nvPr/>
        </p:nvSpPr>
        <p:spPr>
          <a:xfrm>
            <a:off x="3247374" y="1906946"/>
            <a:ext cx="81624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Biome Light" panose="020B0303030204020804" pitchFamily="34" charset="0"/>
                <a:ea typeface="+mn-ea"/>
                <a:cs typeface="Biome Light" panose="020B0303030204020804" pitchFamily="34" charset="0"/>
              </a:rPr>
              <a:t>exit rate</a:t>
            </a:r>
          </a:p>
        </p:txBody>
      </p:sp>
      <p:cxnSp>
        <p:nvCxnSpPr>
          <p:cNvPr id="26" name="Straight Arrow Connector 25">
            <a:extLst>
              <a:ext uri="{FF2B5EF4-FFF2-40B4-BE49-F238E27FC236}">
                <a16:creationId xmlns:a16="http://schemas.microsoft.com/office/drawing/2014/main" id="{2D3DF5DC-1527-4A74-5A96-2EBF528345A8}"/>
              </a:ext>
            </a:extLst>
          </p:cNvPr>
          <p:cNvCxnSpPr>
            <a:cxnSpLocks/>
          </p:cNvCxnSpPr>
          <p:nvPr/>
        </p:nvCxnSpPr>
        <p:spPr>
          <a:xfrm>
            <a:off x="3362185" y="1024428"/>
            <a:ext cx="0" cy="377600"/>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62857B1-A520-E13A-2404-B9A0DF44E84A}"/>
              </a:ext>
            </a:extLst>
          </p:cNvPr>
          <p:cNvSpPr txBox="1"/>
          <p:nvPr/>
        </p:nvSpPr>
        <p:spPr>
          <a:xfrm>
            <a:off x="7852054" y="1028562"/>
            <a:ext cx="748924"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275</a:t>
            </a:r>
          </a:p>
        </p:txBody>
      </p:sp>
      <p:sp>
        <p:nvSpPr>
          <p:cNvPr id="32" name="TextBox 31">
            <a:extLst>
              <a:ext uri="{FF2B5EF4-FFF2-40B4-BE49-F238E27FC236}">
                <a16:creationId xmlns:a16="http://schemas.microsoft.com/office/drawing/2014/main" id="{150853D0-B5CB-954D-2F2B-F70DC77A9311}"/>
              </a:ext>
            </a:extLst>
          </p:cNvPr>
          <p:cNvSpPr txBox="1"/>
          <p:nvPr/>
        </p:nvSpPr>
        <p:spPr>
          <a:xfrm>
            <a:off x="8996320" y="2474988"/>
            <a:ext cx="373821"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5</a:t>
            </a:r>
          </a:p>
        </p:txBody>
      </p:sp>
      <p:sp>
        <p:nvSpPr>
          <p:cNvPr id="33" name="TextBox 32">
            <a:extLst>
              <a:ext uri="{FF2B5EF4-FFF2-40B4-BE49-F238E27FC236}">
                <a16:creationId xmlns:a16="http://schemas.microsoft.com/office/drawing/2014/main" id="{F301C060-98A3-38F1-E68B-06112D79081F}"/>
              </a:ext>
            </a:extLst>
          </p:cNvPr>
          <p:cNvSpPr txBox="1"/>
          <p:nvPr/>
        </p:nvSpPr>
        <p:spPr>
          <a:xfrm>
            <a:off x="7742203" y="4165698"/>
            <a:ext cx="747320"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110</a:t>
            </a:r>
          </a:p>
        </p:txBody>
      </p:sp>
      <p:sp>
        <p:nvSpPr>
          <p:cNvPr id="34" name="TextBox 33">
            <a:extLst>
              <a:ext uri="{FF2B5EF4-FFF2-40B4-BE49-F238E27FC236}">
                <a16:creationId xmlns:a16="http://schemas.microsoft.com/office/drawing/2014/main" id="{4056A9C3-D960-9DE9-E141-62DD086EB7C1}"/>
              </a:ext>
            </a:extLst>
          </p:cNvPr>
          <p:cNvSpPr txBox="1"/>
          <p:nvPr/>
        </p:nvSpPr>
        <p:spPr>
          <a:xfrm>
            <a:off x="8894429" y="5362202"/>
            <a:ext cx="559770"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20</a:t>
            </a:r>
          </a:p>
        </p:txBody>
      </p:sp>
      <p:sp>
        <p:nvSpPr>
          <p:cNvPr id="35" name="TextBox 34">
            <a:extLst>
              <a:ext uri="{FF2B5EF4-FFF2-40B4-BE49-F238E27FC236}">
                <a16:creationId xmlns:a16="http://schemas.microsoft.com/office/drawing/2014/main" id="{00E9B38E-E5D0-AAD8-DFB5-D5E8A6B2EC3B}"/>
              </a:ext>
            </a:extLst>
          </p:cNvPr>
          <p:cNvSpPr txBox="1"/>
          <p:nvPr/>
        </p:nvSpPr>
        <p:spPr>
          <a:xfrm>
            <a:off x="10175137" y="987655"/>
            <a:ext cx="748924"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275</a:t>
            </a:r>
          </a:p>
        </p:txBody>
      </p:sp>
      <p:sp>
        <p:nvSpPr>
          <p:cNvPr id="36" name="TextBox 35">
            <a:extLst>
              <a:ext uri="{FF2B5EF4-FFF2-40B4-BE49-F238E27FC236}">
                <a16:creationId xmlns:a16="http://schemas.microsoft.com/office/drawing/2014/main" id="{CF321C20-FC7B-7B39-C765-A69F07DCA9DE}"/>
              </a:ext>
            </a:extLst>
          </p:cNvPr>
          <p:cNvSpPr txBox="1"/>
          <p:nvPr/>
        </p:nvSpPr>
        <p:spPr>
          <a:xfrm>
            <a:off x="11341604" y="2458981"/>
            <a:ext cx="559770"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40</a:t>
            </a:r>
          </a:p>
        </p:txBody>
      </p:sp>
      <p:sp>
        <p:nvSpPr>
          <p:cNvPr id="37" name="TextBox 36">
            <a:extLst>
              <a:ext uri="{FF2B5EF4-FFF2-40B4-BE49-F238E27FC236}">
                <a16:creationId xmlns:a16="http://schemas.microsoft.com/office/drawing/2014/main" id="{27153100-A610-13CC-12D5-204FCD3EDE70}"/>
              </a:ext>
            </a:extLst>
          </p:cNvPr>
          <p:cNvSpPr txBox="1"/>
          <p:nvPr/>
        </p:nvSpPr>
        <p:spPr>
          <a:xfrm>
            <a:off x="10331009" y="4095163"/>
            <a:ext cx="561372"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30</a:t>
            </a:r>
          </a:p>
        </p:txBody>
      </p:sp>
      <p:sp>
        <p:nvSpPr>
          <p:cNvPr id="38" name="TextBox 37">
            <a:extLst>
              <a:ext uri="{FF2B5EF4-FFF2-40B4-BE49-F238E27FC236}">
                <a16:creationId xmlns:a16="http://schemas.microsoft.com/office/drawing/2014/main" id="{98623631-C104-1A5E-AD11-30B3465AD3AC}"/>
              </a:ext>
            </a:extLst>
          </p:cNvPr>
          <p:cNvSpPr txBox="1"/>
          <p:nvPr/>
        </p:nvSpPr>
        <p:spPr>
          <a:xfrm>
            <a:off x="11168482" y="4974807"/>
            <a:ext cx="559770"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Britannic Bold" panose="020B0903060703020204" pitchFamily="34" charset="0"/>
                <a:ea typeface="+mn-ea"/>
                <a:cs typeface="Biome Light" panose="020B0303030204020804" pitchFamily="34" charset="0"/>
              </a:rPr>
              <a:t>12</a:t>
            </a:r>
          </a:p>
        </p:txBody>
      </p:sp>
      <p:cxnSp>
        <p:nvCxnSpPr>
          <p:cNvPr id="39" name="Straight Arrow Connector 38">
            <a:extLst>
              <a:ext uri="{FF2B5EF4-FFF2-40B4-BE49-F238E27FC236}">
                <a16:creationId xmlns:a16="http://schemas.microsoft.com/office/drawing/2014/main" id="{28181478-2F54-E1BD-323E-50EF6561825D}"/>
              </a:ext>
            </a:extLst>
          </p:cNvPr>
          <p:cNvCxnSpPr>
            <a:cxnSpLocks/>
          </p:cNvCxnSpPr>
          <p:nvPr/>
        </p:nvCxnSpPr>
        <p:spPr>
          <a:xfrm>
            <a:off x="8310282" y="1490227"/>
            <a:ext cx="722344" cy="1020319"/>
          </a:xfrm>
          <a:prstGeom prst="straightConnector1">
            <a:avLst/>
          </a:prstGeom>
          <a:ln w="15875">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C7889C1-00E1-A394-80C9-740DE6FD97C7}"/>
              </a:ext>
            </a:extLst>
          </p:cNvPr>
          <p:cNvCxnSpPr>
            <a:cxnSpLocks/>
          </p:cNvCxnSpPr>
          <p:nvPr/>
        </p:nvCxnSpPr>
        <p:spPr>
          <a:xfrm>
            <a:off x="10672157" y="1440523"/>
            <a:ext cx="760450" cy="1018458"/>
          </a:xfrm>
          <a:prstGeom prst="straightConnector1">
            <a:avLst/>
          </a:prstGeom>
          <a:ln w="15875">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2B4E431-1E67-0053-B4C2-B0BD9541BCF0}"/>
              </a:ext>
            </a:extLst>
          </p:cNvPr>
          <p:cNvCxnSpPr>
            <a:cxnSpLocks/>
          </p:cNvCxnSpPr>
          <p:nvPr/>
        </p:nvCxnSpPr>
        <p:spPr>
          <a:xfrm>
            <a:off x="8310282" y="4627363"/>
            <a:ext cx="623595" cy="731227"/>
          </a:xfrm>
          <a:prstGeom prst="straightConnector1">
            <a:avLst/>
          </a:prstGeom>
          <a:ln w="15875">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D270750-CC5B-F4A2-5FBC-548F0E6F636D}"/>
              </a:ext>
            </a:extLst>
          </p:cNvPr>
          <p:cNvCxnSpPr>
            <a:cxnSpLocks/>
          </p:cNvCxnSpPr>
          <p:nvPr/>
        </p:nvCxnSpPr>
        <p:spPr>
          <a:xfrm>
            <a:off x="10892381" y="4556828"/>
            <a:ext cx="362433" cy="408759"/>
          </a:xfrm>
          <a:prstGeom prst="straightConnector1">
            <a:avLst/>
          </a:prstGeom>
          <a:ln w="15875">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72CA8D-6990-5E86-C65B-402827E75E1B}"/>
              </a:ext>
            </a:extLst>
          </p:cNvPr>
          <p:cNvSpPr txBox="1"/>
          <p:nvPr/>
        </p:nvSpPr>
        <p:spPr>
          <a:xfrm>
            <a:off x="6126138" y="3364177"/>
            <a:ext cx="52770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lumMod val="75000"/>
                    <a:lumOff val="25000"/>
                  </a:prstClr>
                </a:solidFill>
                <a:effectLst/>
                <a:uLnTx/>
                <a:uFillTx/>
                <a:latin typeface="Oswald" panose="00000500000000000000" pitchFamily="2" charset="0"/>
                <a:ea typeface="+mn-ea"/>
                <a:cs typeface="Biome Light" panose="020B0303030204020804" pitchFamily="34" charset="0"/>
              </a:rPr>
              <a:t>time</a:t>
            </a:r>
          </a:p>
        </p:txBody>
      </p:sp>
    </p:spTree>
    <p:extLst>
      <p:ext uri="{BB962C8B-B14F-4D97-AF65-F5344CB8AC3E}">
        <p14:creationId xmlns:p14="http://schemas.microsoft.com/office/powerpoint/2010/main" val="29559962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7C6E-580F-6CCC-D1E7-08E10644958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103F693-3838-CD51-3DE9-16233180822D}"/>
              </a:ext>
            </a:extLst>
          </p:cNvPr>
          <p:cNvPicPr>
            <a:picLocks noChangeAspect="1"/>
          </p:cNvPicPr>
          <p:nvPr/>
        </p:nvPicPr>
        <p:blipFill>
          <a:blip r:embed="rId2"/>
          <a:stretch>
            <a:fillRect/>
          </a:stretch>
        </p:blipFill>
        <p:spPr>
          <a:xfrm>
            <a:off x="1857375" y="1304290"/>
            <a:ext cx="8477250" cy="5143500"/>
          </a:xfrm>
          <a:prstGeom prst="rect">
            <a:avLst/>
          </a:prstGeom>
        </p:spPr>
      </p:pic>
      <p:sp>
        <p:nvSpPr>
          <p:cNvPr id="2" name="Slide Number Placeholder 1">
            <a:extLst>
              <a:ext uri="{FF2B5EF4-FFF2-40B4-BE49-F238E27FC236}">
                <a16:creationId xmlns:a16="http://schemas.microsoft.com/office/drawing/2014/main" id="{15B2833F-7B3E-7059-5AAD-AE3E673C58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963908-5577-44A4-91B0-79992FE4983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C523E17-9305-400C-952C-C35A2F0E870D}"/>
              </a:ext>
            </a:extLst>
          </p:cNvPr>
          <p:cNvSpPr txBox="1"/>
          <p:nvPr/>
        </p:nvSpPr>
        <p:spPr>
          <a:xfrm>
            <a:off x="5354320" y="1975465"/>
            <a:ext cx="479552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Calibri" panose="020F0502020204030204"/>
                <a:ea typeface="+mn-ea"/>
                <a:cs typeface="+mn-cs"/>
              </a:rPr>
              <a:t>The Startup Density of a region: the number of new employer businesses normalized by the business population (total employer businesses)</a:t>
            </a:r>
          </a:p>
        </p:txBody>
      </p:sp>
      <p:sp>
        <p:nvSpPr>
          <p:cNvPr id="3" name="Title 1">
            <a:extLst>
              <a:ext uri="{FF2B5EF4-FFF2-40B4-BE49-F238E27FC236}">
                <a16:creationId xmlns:a16="http://schemas.microsoft.com/office/drawing/2014/main" id="{A5A8798D-614B-8AD5-3B73-50D86D9485C8}"/>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Change in for-profit startup density</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spTree>
    <p:extLst>
      <p:ext uri="{BB962C8B-B14F-4D97-AF65-F5344CB8AC3E}">
        <p14:creationId xmlns:p14="http://schemas.microsoft.com/office/powerpoint/2010/main" val="3483124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7A777-336F-A0CA-9F36-C5E92F956E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9C153E-AEC1-0788-F884-90DA3CA68AA8}"/>
              </a:ext>
            </a:extLst>
          </p:cNvPr>
          <p:cNvPicPr>
            <a:picLocks noChangeAspect="1"/>
          </p:cNvPicPr>
          <p:nvPr/>
        </p:nvPicPr>
        <p:blipFill>
          <a:blip r:embed="rId2"/>
          <a:stretch>
            <a:fillRect/>
          </a:stretch>
        </p:blipFill>
        <p:spPr>
          <a:xfrm>
            <a:off x="1095375" y="1222692"/>
            <a:ext cx="10001250" cy="5286375"/>
          </a:xfrm>
          <a:prstGeom prst="rect">
            <a:avLst/>
          </a:prstGeom>
        </p:spPr>
      </p:pic>
      <p:cxnSp>
        <p:nvCxnSpPr>
          <p:cNvPr id="5" name="Straight Arrow Connector 4">
            <a:extLst>
              <a:ext uri="{FF2B5EF4-FFF2-40B4-BE49-F238E27FC236}">
                <a16:creationId xmlns:a16="http://schemas.microsoft.com/office/drawing/2014/main" id="{12DEC0D5-DC4E-3F23-9EDE-88E1551F0BB6}"/>
              </a:ext>
            </a:extLst>
          </p:cNvPr>
          <p:cNvCxnSpPr>
            <a:cxnSpLocks/>
          </p:cNvCxnSpPr>
          <p:nvPr/>
        </p:nvCxnSpPr>
        <p:spPr>
          <a:xfrm>
            <a:off x="6353033" y="5397341"/>
            <a:ext cx="2114621" cy="515779"/>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335D41-4C04-96D7-9990-13B964D1EDC1}"/>
              </a:ext>
            </a:extLst>
          </p:cNvPr>
          <p:cNvSpPr txBox="1"/>
          <p:nvPr/>
        </p:nvSpPr>
        <p:spPr>
          <a:xfrm>
            <a:off x="9307927" y="5186678"/>
            <a:ext cx="1364476"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Consistent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Downward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Trend</a:t>
            </a:r>
          </a:p>
        </p:txBody>
      </p:sp>
      <p:sp>
        <p:nvSpPr>
          <p:cNvPr id="8" name="Title 1">
            <a:extLst>
              <a:ext uri="{FF2B5EF4-FFF2-40B4-BE49-F238E27FC236}">
                <a16:creationId xmlns:a16="http://schemas.microsoft.com/office/drawing/2014/main" id="{D218E039-0F00-9AB9-9259-10009C8E1CA5}"/>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Change in Nonprofit density: NPO</a:t>
            </a:r>
            <a:r>
              <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rPr>
              <a:t>s</a:t>
            </a: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 per 100k</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cxnSp>
        <p:nvCxnSpPr>
          <p:cNvPr id="9" name="Straight Arrow Connector 8">
            <a:extLst>
              <a:ext uri="{FF2B5EF4-FFF2-40B4-BE49-F238E27FC236}">
                <a16:creationId xmlns:a16="http://schemas.microsoft.com/office/drawing/2014/main" id="{1A672417-0E01-D03F-0967-AB4FB9DB57EF}"/>
              </a:ext>
            </a:extLst>
          </p:cNvPr>
          <p:cNvCxnSpPr>
            <a:cxnSpLocks/>
          </p:cNvCxnSpPr>
          <p:nvPr/>
        </p:nvCxnSpPr>
        <p:spPr>
          <a:xfrm flipV="1">
            <a:off x="8724829" y="3843497"/>
            <a:ext cx="2214881" cy="294640"/>
          </a:xfrm>
          <a:prstGeom prst="straightConnector1">
            <a:avLst/>
          </a:prstGeom>
          <a:ln w="38100">
            <a:solidFill>
              <a:schemeClr val="accent5">
                <a:lumMod val="75000"/>
                <a:alpha val="99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54278EA-003C-5EBF-A13E-9EAA898C9AFA}"/>
              </a:ext>
            </a:extLst>
          </p:cNvPr>
          <p:cNvCxnSpPr>
            <a:cxnSpLocks/>
          </p:cNvCxnSpPr>
          <p:nvPr/>
        </p:nvCxnSpPr>
        <p:spPr>
          <a:xfrm flipV="1">
            <a:off x="6353032" y="3476704"/>
            <a:ext cx="2114621" cy="366793"/>
          </a:xfrm>
          <a:prstGeom prst="straightConnector1">
            <a:avLst/>
          </a:prstGeom>
          <a:ln w="38100">
            <a:solidFill>
              <a:schemeClr val="accent5">
                <a:lumMod val="75000"/>
                <a:alpha val="99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37BEC8B-4DF2-6C14-C31B-5F1A838866A6}"/>
              </a:ext>
            </a:extLst>
          </p:cNvPr>
          <p:cNvCxnSpPr>
            <a:cxnSpLocks/>
          </p:cNvCxnSpPr>
          <p:nvPr/>
        </p:nvCxnSpPr>
        <p:spPr>
          <a:xfrm>
            <a:off x="4067033" y="5186679"/>
            <a:ext cx="2028967" cy="448629"/>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7747E10-8AB4-33A5-DD08-3E803DC6EF83}"/>
              </a:ext>
            </a:extLst>
          </p:cNvPr>
          <p:cNvCxnSpPr>
            <a:cxnSpLocks/>
          </p:cNvCxnSpPr>
          <p:nvPr/>
        </p:nvCxnSpPr>
        <p:spPr>
          <a:xfrm>
            <a:off x="1692627" y="5186678"/>
            <a:ext cx="2028967" cy="448629"/>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B225488-A42A-9C82-3900-7DE2845F800C}"/>
              </a:ext>
            </a:extLst>
          </p:cNvPr>
          <p:cNvSpPr txBox="1"/>
          <p:nvPr/>
        </p:nvSpPr>
        <p:spPr>
          <a:xfrm>
            <a:off x="8992135" y="3313182"/>
            <a:ext cx="168026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Some Growth</a:t>
            </a:r>
          </a:p>
        </p:txBody>
      </p:sp>
    </p:spTree>
    <p:extLst>
      <p:ext uri="{BB962C8B-B14F-4D97-AF65-F5344CB8AC3E}">
        <p14:creationId xmlns:p14="http://schemas.microsoft.com/office/powerpoint/2010/main" val="12023495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01422-F141-E8A5-98F9-FBCF43EF1C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41402C-E2EC-B466-67A4-8B4CDF9BB3C7}"/>
              </a:ext>
            </a:extLst>
          </p:cNvPr>
          <p:cNvPicPr>
            <a:picLocks noChangeAspect="1"/>
          </p:cNvPicPr>
          <p:nvPr/>
        </p:nvPicPr>
        <p:blipFill>
          <a:blip r:embed="rId2"/>
          <a:stretch>
            <a:fillRect/>
          </a:stretch>
        </p:blipFill>
        <p:spPr>
          <a:xfrm>
            <a:off x="295592" y="3985895"/>
            <a:ext cx="8715375" cy="2686050"/>
          </a:xfrm>
          <a:prstGeom prst="rect">
            <a:avLst/>
          </a:prstGeom>
        </p:spPr>
      </p:pic>
      <p:pic>
        <p:nvPicPr>
          <p:cNvPr id="5" name="Picture 4">
            <a:extLst>
              <a:ext uri="{FF2B5EF4-FFF2-40B4-BE49-F238E27FC236}">
                <a16:creationId xmlns:a16="http://schemas.microsoft.com/office/drawing/2014/main" id="{007B8D8D-BBB3-E17E-EEFE-A446815FA639}"/>
              </a:ext>
            </a:extLst>
          </p:cNvPr>
          <p:cNvPicPr>
            <a:picLocks noChangeAspect="1"/>
          </p:cNvPicPr>
          <p:nvPr/>
        </p:nvPicPr>
        <p:blipFill>
          <a:blip r:embed="rId3"/>
          <a:stretch>
            <a:fillRect/>
          </a:stretch>
        </p:blipFill>
        <p:spPr>
          <a:xfrm>
            <a:off x="295591" y="1299845"/>
            <a:ext cx="8715375" cy="2686050"/>
          </a:xfrm>
          <a:prstGeom prst="rect">
            <a:avLst/>
          </a:prstGeom>
        </p:spPr>
      </p:pic>
      <p:sp>
        <p:nvSpPr>
          <p:cNvPr id="6" name="Title 1">
            <a:extLst>
              <a:ext uri="{FF2B5EF4-FFF2-40B4-BE49-F238E27FC236}">
                <a16:creationId xmlns:a16="http://schemas.microsoft.com/office/drawing/2014/main" id="{7586605B-0744-02D8-89AE-C71B7407CB91}"/>
              </a:ext>
            </a:extLst>
          </p:cNvPr>
          <p:cNvSpPr txBox="1">
            <a:spLocks/>
          </p:cNvSpPr>
          <p:nvPr/>
        </p:nvSpPr>
        <p:spPr>
          <a:xfrm>
            <a:off x="375920" y="352939"/>
            <a:ext cx="1128776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srgbClr val="5B9BD5">
                    <a:lumMod val="75000"/>
                  </a:srgbClr>
                </a:solidFill>
                <a:effectLst/>
                <a:uLnTx/>
                <a:uFillTx/>
                <a:latin typeface="Oswald" panose="00000500000000000000" pitchFamily="2" charset="0"/>
                <a:ea typeface="+mj-ea"/>
                <a:cs typeface="+mj-cs"/>
              </a:rPr>
              <a:t>Total density</a:t>
            </a: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   vs   </a:t>
            </a:r>
            <a:r>
              <a:rPr kumimoji="0" lang="en-US" sz="4000" b="0" i="0" u="none" strike="noStrike" kern="1200" cap="all" spc="0" normalizeH="0" baseline="0" noProof="0" dirty="0">
                <a:ln>
                  <a:noFill/>
                </a:ln>
                <a:solidFill>
                  <a:srgbClr val="ED7D31">
                    <a:lumMod val="75000"/>
                  </a:srgbClr>
                </a:solidFill>
                <a:effectLst/>
                <a:uLnTx/>
                <a:uFillTx/>
                <a:latin typeface="Oswald" panose="00000500000000000000" pitchFamily="2" charset="0"/>
                <a:ea typeface="+mj-ea"/>
                <a:cs typeface="+mj-cs"/>
              </a:rPr>
              <a:t>small nonprofit density</a:t>
            </a:r>
            <a:endParaRPr kumimoji="0" lang="en-US" sz="40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j-ea"/>
              <a:cs typeface="+mj-cs"/>
            </a:endParaRPr>
          </a:p>
        </p:txBody>
      </p:sp>
      <p:sp>
        <p:nvSpPr>
          <p:cNvPr id="7" name="TextBox 6">
            <a:extLst>
              <a:ext uri="{FF2B5EF4-FFF2-40B4-BE49-F238E27FC236}">
                <a16:creationId xmlns:a16="http://schemas.microsoft.com/office/drawing/2014/main" id="{8380882E-6F44-1C39-DB57-52F89DD2BFAB}"/>
              </a:ext>
            </a:extLst>
          </p:cNvPr>
          <p:cNvSpPr txBox="1"/>
          <p:nvPr/>
        </p:nvSpPr>
        <p:spPr>
          <a:xfrm>
            <a:off x="9431360" y="4382482"/>
            <a:ext cx="2356706"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Growth of </a:t>
            </a:r>
            <a:b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br>
            <a:r>
              <a:rPr kumimoji="0" lang="en-US" sz="2400" b="0" i="0" u="none" strike="noStrike" kern="1200" cap="all" spc="0" normalizeH="0" baseline="0" noProof="0" dirty="0">
                <a:ln>
                  <a:noFill/>
                </a:ln>
                <a:solidFill>
                  <a:srgbClr val="ED7D31">
                    <a:lumMod val="75000"/>
                  </a:srgbClr>
                </a:solidFill>
                <a:effectLst/>
                <a:uLnTx/>
                <a:uFillTx/>
                <a:latin typeface="Oswald" panose="00000500000000000000" pitchFamily="2" charset="0"/>
                <a:ea typeface="+mn-ea"/>
                <a:cs typeface="+mn-cs"/>
              </a:rPr>
              <a:t>Small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ED7D31">
                    <a:lumMod val="75000"/>
                  </a:srgbClr>
                </a:solidFill>
                <a:effectLst/>
                <a:uLnTx/>
                <a:uFillTx/>
                <a:latin typeface="Oswald" panose="00000500000000000000" pitchFamily="2" charset="0"/>
                <a:ea typeface="+mn-ea"/>
                <a:cs typeface="+mn-cs"/>
              </a:rPr>
              <a:t>Nonprofit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Density</a:t>
            </a:r>
          </a:p>
        </p:txBody>
      </p:sp>
      <p:cxnSp>
        <p:nvCxnSpPr>
          <p:cNvPr id="8" name="Straight Arrow Connector 7">
            <a:extLst>
              <a:ext uri="{FF2B5EF4-FFF2-40B4-BE49-F238E27FC236}">
                <a16:creationId xmlns:a16="http://schemas.microsoft.com/office/drawing/2014/main" id="{46457587-7252-B6CE-8549-E1C35A6F9423}"/>
              </a:ext>
            </a:extLst>
          </p:cNvPr>
          <p:cNvCxnSpPr>
            <a:cxnSpLocks/>
          </p:cNvCxnSpPr>
          <p:nvPr/>
        </p:nvCxnSpPr>
        <p:spPr>
          <a:xfrm flipV="1">
            <a:off x="1438627" y="5099736"/>
            <a:ext cx="1589053" cy="507998"/>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FEE9A4A-B6EA-23C9-689D-590ABF0E47AB}"/>
              </a:ext>
            </a:extLst>
          </p:cNvPr>
          <p:cNvCxnSpPr>
            <a:cxnSpLocks/>
          </p:cNvCxnSpPr>
          <p:nvPr/>
        </p:nvCxnSpPr>
        <p:spPr>
          <a:xfrm>
            <a:off x="1336986" y="2642870"/>
            <a:ext cx="1345254" cy="619150"/>
          </a:xfrm>
          <a:prstGeom prst="straightConnector1">
            <a:avLst/>
          </a:prstGeom>
          <a:ln w="53975">
            <a:solidFill>
              <a:schemeClr val="accent5">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8EC27A-24AD-6A14-F416-D1435CB45764}"/>
              </a:ext>
            </a:extLst>
          </p:cNvPr>
          <p:cNvCxnSpPr>
            <a:cxnSpLocks/>
          </p:cNvCxnSpPr>
          <p:nvPr/>
        </p:nvCxnSpPr>
        <p:spPr>
          <a:xfrm>
            <a:off x="3706348" y="2426945"/>
            <a:ext cx="1272052" cy="782015"/>
          </a:xfrm>
          <a:prstGeom prst="straightConnector1">
            <a:avLst/>
          </a:prstGeom>
          <a:ln w="53975">
            <a:solidFill>
              <a:schemeClr val="accent5">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389846D-ABD9-E597-499F-070344469D92}"/>
              </a:ext>
            </a:extLst>
          </p:cNvPr>
          <p:cNvCxnSpPr>
            <a:cxnSpLocks/>
          </p:cNvCxnSpPr>
          <p:nvPr/>
        </p:nvCxnSpPr>
        <p:spPr>
          <a:xfrm>
            <a:off x="6336837" y="2192871"/>
            <a:ext cx="1069805" cy="899998"/>
          </a:xfrm>
          <a:prstGeom prst="straightConnector1">
            <a:avLst/>
          </a:prstGeom>
          <a:ln w="53975">
            <a:solidFill>
              <a:schemeClr val="accent5">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11C0C28-2536-84C4-DD6D-C1B89E8EEA3C}"/>
              </a:ext>
            </a:extLst>
          </p:cNvPr>
          <p:cNvSpPr txBox="1"/>
          <p:nvPr/>
        </p:nvSpPr>
        <p:spPr>
          <a:xfrm>
            <a:off x="10017243" y="1690688"/>
            <a:ext cx="1184941"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Fall 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5B9BD5">
                    <a:lumMod val="75000"/>
                  </a:srgbClr>
                </a:solidFill>
                <a:effectLst/>
                <a:uLnTx/>
                <a:uFillTx/>
                <a:latin typeface="Oswald" panose="00000500000000000000" pitchFamily="2" charset="0"/>
                <a:ea typeface="+mn-ea"/>
                <a:cs typeface="+mn-cs"/>
              </a:rPr>
              <a:t>Overall</a:t>
            </a:r>
            <a:b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b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Density</a:t>
            </a:r>
          </a:p>
        </p:txBody>
      </p:sp>
      <p:cxnSp>
        <p:nvCxnSpPr>
          <p:cNvPr id="18" name="Straight Arrow Connector 17">
            <a:extLst>
              <a:ext uri="{FF2B5EF4-FFF2-40B4-BE49-F238E27FC236}">
                <a16:creationId xmlns:a16="http://schemas.microsoft.com/office/drawing/2014/main" id="{0189758D-3454-FED1-6DAF-9F59E345B039}"/>
              </a:ext>
            </a:extLst>
          </p:cNvPr>
          <p:cNvCxnSpPr>
            <a:cxnSpLocks/>
          </p:cNvCxnSpPr>
          <p:nvPr/>
        </p:nvCxnSpPr>
        <p:spPr>
          <a:xfrm flipV="1">
            <a:off x="3988787" y="5099736"/>
            <a:ext cx="1619533" cy="391718"/>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7C5B39-F20F-64C2-E73D-9A1E14477D75}"/>
              </a:ext>
            </a:extLst>
          </p:cNvPr>
          <p:cNvCxnSpPr>
            <a:cxnSpLocks/>
          </p:cNvCxnSpPr>
          <p:nvPr/>
        </p:nvCxnSpPr>
        <p:spPr>
          <a:xfrm flipV="1">
            <a:off x="6721827" y="5122399"/>
            <a:ext cx="1609373" cy="211797"/>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529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11DBD-8883-3FB2-17C2-ADD33F341D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6A2D6A-ADD0-DAB5-5ABC-DCEA992BD6DB}"/>
              </a:ext>
            </a:extLst>
          </p:cNvPr>
          <p:cNvPicPr>
            <a:picLocks noChangeAspect="1"/>
          </p:cNvPicPr>
          <p:nvPr/>
        </p:nvPicPr>
        <p:blipFill>
          <a:blip r:embed="rId2"/>
          <a:stretch>
            <a:fillRect/>
          </a:stretch>
        </p:blipFill>
        <p:spPr>
          <a:xfrm>
            <a:off x="709612" y="1314132"/>
            <a:ext cx="9858375" cy="5286375"/>
          </a:xfrm>
          <a:prstGeom prst="rect">
            <a:avLst/>
          </a:prstGeom>
        </p:spPr>
      </p:pic>
      <p:sp>
        <p:nvSpPr>
          <p:cNvPr id="4" name="Title 1">
            <a:extLst>
              <a:ext uri="{FF2B5EF4-FFF2-40B4-BE49-F238E27FC236}">
                <a16:creationId xmlns:a16="http://schemas.microsoft.com/office/drawing/2014/main" id="{0C2FE40F-835C-22B6-E400-6E16F4881D31}"/>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density of small nonprofits 1990-2015</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cxnSp>
        <p:nvCxnSpPr>
          <p:cNvPr id="5" name="Straight Arrow Connector 4">
            <a:extLst>
              <a:ext uri="{FF2B5EF4-FFF2-40B4-BE49-F238E27FC236}">
                <a16:creationId xmlns:a16="http://schemas.microsoft.com/office/drawing/2014/main" id="{DA6A597D-9D1A-5444-67AE-FB7324BA5BBC}"/>
              </a:ext>
            </a:extLst>
          </p:cNvPr>
          <p:cNvCxnSpPr>
            <a:cxnSpLocks/>
          </p:cNvCxnSpPr>
          <p:nvPr/>
        </p:nvCxnSpPr>
        <p:spPr>
          <a:xfrm>
            <a:off x="1397946" y="2185010"/>
            <a:ext cx="1738042" cy="0"/>
          </a:xfrm>
          <a:prstGeom prst="straightConnector1">
            <a:avLst/>
          </a:prstGeom>
          <a:ln w="53975">
            <a:solidFill>
              <a:schemeClr val="accent5">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17F775-2C2B-CF15-348B-707684CB7D77}"/>
              </a:ext>
            </a:extLst>
          </p:cNvPr>
          <p:cNvSpPr txBox="1"/>
          <p:nvPr/>
        </p:nvSpPr>
        <p:spPr>
          <a:xfrm>
            <a:off x="5709920" y="2494176"/>
            <a:ext cx="273022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Lots of Small NPOs</a:t>
            </a:r>
          </a:p>
        </p:txBody>
      </p:sp>
      <p:cxnSp>
        <p:nvCxnSpPr>
          <p:cNvPr id="9" name="Straight Arrow Connector 8">
            <a:extLst>
              <a:ext uri="{FF2B5EF4-FFF2-40B4-BE49-F238E27FC236}">
                <a16:creationId xmlns:a16="http://schemas.microsoft.com/office/drawing/2014/main" id="{80355FDB-7A5E-14B4-98DB-7534E0C0E0A8}"/>
              </a:ext>
            </a:extLst>
          </p:cNvPr>
          <p:cNvCxnSpPr>
            <a:cxnSpLocks/>
          </p:cNvCxnSpPr>
          <p:nvPr/>
        </p:nvCxnSpPr>
        <p:spPr>
          <a:xfrm flipV="1">
            <a:off x="5994400" y="2122154"/>
            <a:ext cx="2113280" cy="260670"/>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3BD8A88-1CB9-F005-95F3-DDA809A063DB}"/>
              </a:ext>
            </a:extLst>
          </p:cNvPr>
          <p:cNvCxnSpPr>
            <a:cxnSpLocks/>
          </p:cNvCxnSpPr>
          <p:nvPr/>
        </p:nvCxnSpPr>
        <p:spPr>
          <a:xfrm flipV="1">
            <a:off x="8361680" y="2032000"/>
            <a:ext cx="1960880" cy="137465"/>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5D72D80-C581-6424-A1D9-4B50911A0DF6}"/>
              </a:ext>
            </a:extLst>
          </p:cNvPr>
          <p:cNvCxnSpPr>
            <a:cxnSpLocks/>
          </p:cNvCxnSpPr>
          <p:nvPr/>
        </p:nvCxnSpPr>
        <p:spPr>
          <a:xfrm flipV="1">
            <a:off x="1310640" y="5394960"/>
            <a:ext cx="2021840" cy="148908"/>
          </a:xfrm>
          <a:prstGeom prst="straightConnector1">
            <a:avLst/>
          </a:prstGeom>
          <a:ln w="53975">
            <a:solidFill>
              <a:schemeClr val="accent2">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62B9680-4516-982D-4868-9C882B00A433}"/>
              </a:ext>
            </a:extLst>
          </p:cNvPr>
          <p:cNvSpPr txBox="1"/>
          <p:nvPr/>
        </p:nvSpPr>
        <p:spPr>
          <a:xfrm>
            <a:off x="6572162" y="5350828"/>
            <a:ext cx="13163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0% Small</a:t>
            </a:r>
          </a:p>
        </p:txBody>
      </p:sp>
      <p:cxnSp>
        <p:nvCxnSpPr>
          <p:cNvPr id="19" name="Straight Arrow Connector 18">
            <a:extLst>
              <a:ext uri="{FF2B5EF4-FFF2-40B4-BE49-F238E27FC236}">
                <a16:creationId xmlns:a16="http://schemas.microsoft.com/office/drawing/2014/main" id="{F773EDAB-98A2-DE42-EA47-359623C69F44}"/>
              </a:ext>
            </a:extLst>
          </p:cNvPr>
          <p:cNvCxnSpPr>
            <a:cxnSpLocks/>
          </p:cNvCxnSpPr>
          <p:nvPr/>
        </p:nvCxnSpPr>
        <p:spPr>
          <a:xfrm>
            <a:off x="1983662" y="4249897"/>
            <a:ext cx="1065020" cy="0"/>
          </a:xfrm>
          <a:prstGeom prst="straightConnector1">
            <a:avLst/>
          </a:prstGeom>
          <a:ln w="38100">
            <a:solidFill>
              <a:schemeClr val="accent5">
                <a:lumMod val="75000"/>
                <a:alpha val="99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66B96BC-77A7-352E-FBA3-65BAA703D64A}"/>
              </a:ext>
            </a:extLst>
          </p:cNvPr>
          <p:cNvCxnSpPr>
            <a:cxnSpLocks/>
          </p:cNvCxnSpPr>
          <p:nvPr/>
        </p:nvCxnSpPr>
        <p:spPr>
          <a:xfrm>
            <a:off x="6647672" y="5916137"/>
            <a:ext cx="1165368" cy="0"/>
          </a:xfrm>
          <a:prstGeom prst="straightConnector1">
            <a:avLst/>
          </a:prstGeom>
          <a:ln w="38100">
            <a:solidFill>
              <a:schemeClr val="accent5">
                <a:lumMod val="75000"/>
                <a:alpha val="99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CEB02C7-8DE2-1A25-3810-6EE91A90A1E8}"/>
              </a:ext>
            </a:extLst>
          </p:cNvPr>
          <p:cNvSpPr txBox="1"/>
          <p:nvPr/>
        </p:nvSpPr>
        <p:spPr>
          <a:xfrm>
            <a:off x="1906489" y="3627628"/>
            <a:ext cx="13163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0% Small</a:t>
            </a:r>
          </a:p>
        </p:txBody>
      </p:sp>
      <p:sp>
        <p:nvSpPr>
          <p:cNvPr id="26" name="TextBox 25">
            <a:extLst>
              <a:ext uri="{FF2B5EF4-FFF2-40B4-BE49-F238E27FC236}">
                <a16:creationId xmlns:a16="http://schemas.microsoft.com/office/drawing/2014/main" id="{8A797524-DA1F-23E0-BC95-B5D860FF1400}"/>
              </a:ext>
            </a:extLst>
          </p:cNvPr>
          <p:cNvSpPr txBox="1"/>
          <p:nvPr/>
        </p:nvSpPr>
        <p:spPr>
          <a:xfrm>
            <a:off x="6465783" y="4608839"/>
            <a:ext cx="1170513"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Universities</a:t>
            </a:r>
          </a:p>
        </p:txBody>
      </p:sp>
      <p:sp>
        <p:nvSpPr>
          <p:cNvPr id="27" name="TextBox 26">
            <a:extLst>
              <a:ext uri="{FF2B5EF4-FFF2-40B4-BE49-F238E27FC236}">
                <a16:creationId xmlns:a16="http://schemas.microsoft.com/office/drawing/2014/main" id="{5C753958-B4C3-6D29-4DA4-BED4C7B3540B}"/>
              </a:ext>
            </a:extLst>
          </p:cNvPr>
          <p:cNvSpPr txBox="1"/>
          <p:nvPr/>
        </p:nvSpPr>
        <p:spPr>
          <a:xfrm>
            <a:off x="1736303" y="2960809"/>
            <a:ext cx="962123"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Hospitals</a:t>
            </a:r>
          </a:p>
        </p:txBody>
      </p:sp>
      <p:sp>
        <p:nvSpPr>
          <p:cNvPr id="31" name="TextBox 30">
            <a:extLst>
              <a:ext uri="{FF2B5EF4-FFF2-40B4-BE49-F238E27FC236}">
                <a16:creationId xmlns:a16="http://schemas.microsoft.com/office/drawing/2014/main" id="{C829A580-E680-003C-3BCA-737EFC5A2B68}"/>
              </a:ext>
            </a:extLst>
          </p:cNvPr>
          <p:cNvSpPr txBox="1"/>
          <p:nvPr/>
        </p:nvSpPr>
        <p:spPr>
          <a:xfrm>
            <a:off x="3222875" y="1999000"/>
            <a:ext cx="601447"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Oswald" panose="00000500000000000000" pitchFamily="2" charset="0"/>
                <a:ea typeface="+mn-ea"/>
                <a:cs typeface="+mn-cs"/>
              </a:rPr>
              <a:t>Flat</a:t>
            </a:r>
          </a:p>
        </p:txBody>
      </p:sp>
    </p:spTree>
    <p:extLst>
      <p:ext uri="{BB962C8B-B14F-4D97-AF65-F5344CB8AC3E}">
        <p14:creationId xmlns:p14="http://schemas.microsoft.com/office/powerpoint/2010/main" val="36792802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EBF1-E662-1ECB-DE5B-99C94C175A1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20FF447-FBAA-9020-732E-33DF4A375B74}"/>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Market concentration: revenue </a:t>
            </a:r>
            <a:r>
              <a:rPr kumimoji="0" lang="en-US" sz="4000" b="0" i="0" u="none" strike="noStrike" kern="1200" cap="all" spc="0" normalizeH="0" baseline="0" noProof="0" dirty="0" err="1">
                <a:ln>
                  <a:noFill/>
                </a:ln>
                <a:solidFill>
                  <a:prstClr val="black"/>
                </a:solidFill>
                <a:effectLst/>
                <a:uLnTx/>
                <a:uFillTx/>
                <a:latin typeface="Oswald" panose="00000500000000000000" pitchFamily="2" charset="0"/>
                <a:ea typeface="+mj-ea"/>
                <a:cs typeface="+mj-cs"/>
              </a:rPr>
              <a:t>gini</a:t>
            </a: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 coefficient</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pic>
        <p:nvPicPr>
          <p:cNvPr id="6" name="Picture 5">
            <a:extLst>
              <a:ext uri="{FF2B5EF4-FFF2-40B4-BE49-F238E27FC236}">
                <a16:creationId xmlns:a16="http://schemas.microsoft.com/office/drawing/2014/main" id="{6B9E0529-12C4-90EC-096A-AC02F49C6ACC}"/>
              </a:ext>
            </a:extLst>
          </p:cNvPr>
          <p:cNvPicPr>
            <a:picLocks noChangeAspect="1"/>
          </p:cNvPicPr>
          <p:nvPr/>
        </p:nvPicPr>
        <p:blipFill>
          <a:blip r:embed="rId2"/>
          <a:stretch>
            <a:fillRect/>
          </a:stretch>
        </p:blipFill>
        <p:spPr>
          <a:xfrm>
            <a:off x="654442" y="1280795"/>
            <a:ext cx="10466947" cy="5313680"/>
          </a:xfrm>
          <a:prstGeom prst="rect">
            <a:avLst/>
          </a:prstGeom>
        </p:spPr>
      </p:pic>
      <p:sp>
        <p:nvSpPr>
          <p:cNvPr id="7" name="TextBox 6">
            <a:extLst>
              <a:ext uri="{FF2B5EF4-FFF2-40B4-BE49-F238E27FC236}">
                <a16:creationId xmlns:a16="http://schemas.microsoft.com/office/drawing/2014/main" id="{54E653AA-C720-94C6-2DA3-15703DD04AD4}"/>
              </a:ext>
            </a:extLst>
          </p:cNvPr>
          <p:cNvSpPr txBox="1"/>
          <p:nvPr/>
        </p:nvSpPr>
        <p:spPr>
          <a:xfrm>
            <a:off x="9339920" y="5154642"/>
            <a:ext cx="2356706"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D7D31">
                    <a:lumMod val="75000"/>
                  </a:srgbClr>
                </a:solidFill>
                <a:effectLst/>
                <a:uLnTx/>
                <a:uFillTx/>
                <a:latin typeface="Oswald" panose="00000500000000000000" pitchFamily="2" charset="0"/>
                <a:ea typeface="+mn-ea"/>
                <a:cs typeface="+mn-cs"/>
              </a:rPr>
              <a:t>Consolidation of Resources by Large Nonprofits</a:t>
            </a:r>
          </a:p>
        </p:txBody>
      </p:sp>
    </p:spTree>
    <p:extLst>
      <p:ext uri="{BB962C8B-B14F-4D97-AF65-F5344CB8AC3E}">
        <p14:creationId xmlns:p14="http://schemas.microsoft.com/office/powerpoint/2010/main" val="28030243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6C948-8FF9-EBC3-A460-F10382CDCC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4FFD480-8506-C19A-C385-B04B5A632046}"/>
              </a:ext>
            </a:extLst>
          </p:cNvPr>
          <p:cNvPicPr>
            <a:picLocks noChangeAspect="1"/>
          </p:cNvPicPr>
          <p:nvPr/>
        </p:nvPicPr>
        <p:blipFill rotWithShape="1">
          <a:blip r:embed="rId2"/>
          <a:srcRect l="1871"/>
          <a:stretch/>
        </p:blipFill>
        <p:spPr>
          <a:xfrm>
            <a:off x="672662" y="1372235"/>
            <a:ext cx="10767498" cy="5048250"/>
          </a:xfrm>
          <a:prstGeom prst="rect">
            <a:avLst/>
          </a:prstGeom>
        </p:spPr>
      </p:pic>
      <p:sp>
        <p:nvSpPr>
          <p:cNvPr id="4" name="Title 1">
            <a:extLst>
              <a:ext uri="{FF2B5EF4-FFF2-40B4-BE49-F238E27FC236}">
                <a16:creationId xmlns:a16="http://schemas.microsoft.com/office/drawing/2014/main" id="{98B1C8C4-0F33-20F2-CFC2-2E3AD28F42CD}"/>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Density of large nonprofits 1990-2015</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spTree>
    <p:extLst>
      <p:ext uri="{BB962C8B-B14F-4D97-AF65-F5344CB8AC3E}">
        <p14:creationId xmlns:p14="http://schemas.microsoft.com/office/powerpoint/2010/main" val="2557756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68E359-EFE2-E1F2-B7C2-E7FA0F5EBA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A93DEB-31DC-2618-D8AC-51B4013B551B}"/>
              </a:ext>
            </a:extLst>
          </p:cNvPr>
          <p:cNvPicPr>
            <a:picLocks noChangeAspect="1"/>
          </p:cNvPicPr>
          <p:nvPr/>
        </p:nvPicPr>
        <p:blipFill>
          <a:blip r:embed="rId2"/>
          <a:stretch>
            <a:fillRect/>
          </a:stretch>
        </p:blipFill>
        <p:spPr>
          <a:xfrm>
            <a:off x="581025" y="1398905"/>
            <a:ext cx="10772775" cy="5048250"/>
          </a:xfrm>
          <a:prstGeom prst="rect">
            <a:avLst/>
          </a:prstGeom>
        </p:spPr>
      </p:pic>
      <p:sp>
        <p:nvSpPr>
          <p:cNvPr id="4" name="Title 1">
            <a:extLst>
              <a:ext uri="{FF2B5EF4-FFF2-40B4-BE49-F238E27FC236}">
                <a16:creationId xmlns:a16="http://schemas.microsoft.com/office/drawing/2014/main" id="{B21693A1-0683-19BD-8280-4B52EE4FD73C}"/>
              </a:ext>
            </a:extLst>
          </p:cNvPr>
          <p:cNvSpPr txBox="1">
            <a:spLocks/>
          </p:cNvSpPr>
          <p:nvPr/>
        </p:nvSpPr>
        <p:spPr>
          <a:xfrm>
            <a:off x="838200" y="3651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dirty="0">
                <a:ln>
                  <a:noFill/>
                </a:ln>
                <a:solidFill>
                  <a:prstClr val="black"/>
                </a:solidFill>
                <a:effectLst/>
                <a:uLnTx/>
                <a:uFillTx/>
                <a:latin typeface="Oswald" panose="00000500000000000000" pitchFamily="2" charset="0"/>
                <a:ea typeface="+mj-ea"/>
                <a:cs typeface="+mj-cs"/>
              </a:rPr>
              <a:t>Revenue concentration by county (HHI-N)</a:t>
            </a:r>
            <a:endParaRPr kumimoji="0" lang="en-US" sz="4000" b="0" i="0" u="none" strike="noStrike" kern="1200" cap="none" spc="0" normalizeH="0" baseline="0" noProof="0" dirty="0">
              <a:ln>
                <a:noFill/>
              </a:ln>
              <a:solidFill>
                <a:prstClr val="black"/>
              </a:solidFill>
              <a:effectLst/>
              <a:uLnTx/>
              <a:uFillTx/>
              <a:latin typeface="Oswald" panose="00000500000000000000" pitchFamily="2" charset="0"/>
              <a:ea typeface="+mj-ea"/>
              <a:cs typeface="+mj-cs"/>
            </a:endParaRPr>
          </a:p>
        </p:txBody>
      </p:sp>
    </p:spTree>
    <p:extLst>
      <p:ext uri="{BB962C8B-B14F-4D97-AF65-F5344CB8AC3E}">
        <p14:creationId xmlns:p14="http://schemas.microsoft.com/office/powerpoint/2010/main" val="2361873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3649</TotalTime>
  <Words>3415</Words>
  <Application>Microsoft Office PowerPoint</Application>
  <PresentationFormat>Widescreen</PresentationFormat>
  <Paragraphs>545</Paragraphs>
  <Slides>60</Slides>
  <Notes>0</Notes>
  <HiddenSlides>6</HiddenSlides>
  <MMClips>0</MMClips>
  <ScaleCrop>false</ScaleCrop>
  <HeadingPairs>
    <vt:vector size="6" baseType="variant">
      <vt:variant>
        <vt:lpstr>Fonts Used</vt:lpstr>
      </vt:variant>
      <vt:variant>
        <vt:i4>19</vt:i4>
      </vt:variant>
      <vt:variant>
        <vt:lpstr>Theme</vt:lpstr>
      </vt:variant>
      <vt:variant>
        <vt:i4>4</vt:i4>
      </vt:variant>
      <vt:variant>
        <vt:lpstr>Slide Titles</vt:lpstr>
      </vt:variant>
      <vt:variant>
        <vt:i4>60</vt:i4>
      </vt:variant>
    </vt:vector>
  </HeadingPairs>
  <TitlesOfParts>
    <vt:vector size="83" baseType="lpstr">
      <vt:lpstr>Abadi Extra Light</vt:lpstr>
      <vt:lpstr>Aptos</vt:lpstr>
      <vt:lpstr>Aptos Mono</vt:lpstr>
      <vt:lpstr>Arial</vt:lpstr>
      <vt:lpstr>Biome Light</vt:lpstr>
      <vt:lpstr>Britannic Bold</vt:lpstr>
      <vt:lpstr>Calibri</vt:lpstr>
      <vt:lpstr>Calibri Light</vt:lpstr>
      <vt:lpstr>Cambria Math</vt:lpstr>
      <vt:lpstr>Cascadia Mono Light</vt:lpstr>
      <vt:lpstr>Century Gothic</vt:lpstr>
      <vt:lpstr>Courier New</vt:lpstr>
      <vt:lpstr>Euphemia</vt:lpstr>
      <vt:lpstr>Oswald</vt:lpstr>
      <vt:lpstr>Proxima Nova</vt:lpstr>
      <vt:lpstr>Roboto Mono</vt:lpstr>
      <vt:lpstr>Source Code Pro</vt:lpstr>
      <vt:lpstr>Speak Pro</vt:lpstr>
      <vt:lpstr>Verdana</vt:lpstr>
      <vt:lpstr>Office Theme</vt:lpstr>
      <vt:lpstr>1_Office Theme</vt:lpstr>
      <vt:lpstr>2_Office Theme</vt:lpstr>
      <vt:lpstr>4_Office Theme</vt:lpstr>
      <vt:lpstr>What can the science  of cities teach us about  the nonprofit sector:   An Exploration of philanthropic  resource environments  and nonprofit density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internally Consistent benchmarking:  Scale-Adjusted Metropolitan indicators (SAMIs)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environments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Market Competition Metrics  Market = MSA + NTEE</vt:lpstr>
      <vt:lpstr>Market Competition Metrics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Jesse Lecy</dc:creator>
  <cp:lastModifiedBy>Jesse Lecy</cp:lastModifiedBy>
  <cp:revision>17</cp:revision>
  <dcterms:created xsi:type="dcterms:W3CDTF">2023-11-10T16:32:29Z</dcterms:created>
  <dcterms:modified xsi:type="dcterms:W3CDTF">2025-11-14T18:07:25Z</dcterms:modified>
</cp:coreProperties>
</file>